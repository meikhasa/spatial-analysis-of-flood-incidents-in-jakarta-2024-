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Klein Heavy" charset="1" panose="02000503060000020004"/>
      <p:regular r:id="rId25"/>
    </p:embeddedFont>
    <p:embeddedFont>
      <p:font typeface="Klein" charset="1" panose="02000503060000020004"/>
      <p:regular r:id="rId26"/>
    </p:embeddedFont>
    <p:embeddedFont>
      <p:font typeface="Sergio Trendy" charset="1" panose="00000000000000000000"/>
      <p:regular r:id="rId27"/>
    </p:embeddedFont>
    <p:embeddedFont>
      <p:font typeface="Klein Bold" charset="1" panose="02000503060000020004"/>
      <p:regular r:id="rId28"/>
    </p:embeddedFont>
    <p:embeddedFont>
      <p:font typeface="Klein Italics" charset="1" panose="020005030600000200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 Id="rId4" Target="../media/image2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11" Target="../media/image31.svg" Type="http://schemas.openxmlformats.org/officeDocument/2006/relationships/image"/><Relationship Id="rId12" Target="../media/image32.png" Type="http://schemas.openxmlformats.org/officeDocument/2006/relationships/image"/><Relationship Id="rId13" Target="../media/image33.svg" Type="http://schemas.openxmlformats.org/officeDocument/2006/relationships/image"/><Relationship Id="rId14" Target="../media/image34.png" Type="http://schemas.openxmlformats.org/officeDocument/2006/relationships/image"/><Relationship Id="rId15" Target="../media/image35.svg" Type="http://schemas.openxmlformats.org/officeDocument/2006/relationships/image"/><Relationship Id="rId16" Target="../media/image36.png" Type="http://schemas.openxmlformats.org/officeDocument/2006/relationships/image"/><Relationship Id="rId17" Target="../media/image37.svg" Type="http://schemas.openxmlformats.org/officeDocument/2006/relationships/image"/><Relationship Id="rId18" Target="../media/image38.png" Type="http://schemas.openxmlformats.org/officeDocument/2006/relationships/image"/><Relationship Id="rId19" Target="../media/image3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26.png" Type="http://schemas.openxmlformats.org/officeDocument/2006/relationships/image"/><Relationship Id="rId7" Target="../media/image27.svg" Type="http://schemas.openxmlformats.org/officeDocument/2006/relationships/image"/><Relationship Id="rId8" Target="../media/image28.png" Type="http://schemas.openxmlformats.org/officeDocument/2006/relationships/image"/><Relationship Id="rId9" Target="../media/image29.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 Id="rId3" Target="https://github.com/meikhasa/Spatial-Analysis-of-Flood-Incidents-in-Jakarta-2024-/tree/main"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97D4E8"/>
        </a:solidFill>
      </p:bgPr>
    </p:bg>
    <p:spTree>
      <p:nvGrpSpPr>
        <p:cNvPr id="1" name=""/>
        <p:cNvGrpSpPr/>
        <p:nvPr/>
      </p:nvGrpSpPr>
      <p:grpSpPr>
        <a:xfrm>
          <a:off x="0" y="0"/>
          <a:ext cx="0" cy="0"/>
          <a:chOff x="0" y="0"/>
          <a:chExt cx="0" cy="0"/>
        </a:xfrm>
      </p:grpSpPr>
      <p:grpSp>
        <p:nvGrpSpPr>
          <p:cNvPr name="Group 2" id="2"/>
          <p:cNvGrpSpPr/>
          <p:nvPr/>
        </p:nvGrpSpPr>
        <p:grpSpPr>
          <a:xfrm rot="0">
            <a:off x="10125274" y="1743243"/>
            <a:ext cx="7811146" cy="8852491"/>
            <a:chOff x="0" y="0"/>
            <a:chExt cx="10414861" cy="11803322"/>
          </a:xfrm>
        </p:grpSpPr>
        <p:grpSp>
          <p:nvGrpSpPr>
            <p:cNvPr name="Group 3" id="3"/>
            <p:cNvGrpSpPr/>
            <p:nvPr/>
          </p:nvGrpSpPr>
          <p:grpSpPr>
            <a:xfrm rot="0">
              <a:off x="0" y="0"/>
              <a:ext cx="10414861" cy="11803322"/>
              <a:chOff x="0" y="0"/>
              <a:chExt cx="660400" cy="748441"/>
            </a:xfrm>
          </p:grpSpPr>
          <p:sp>
            <p:nvSpPr>
              <p:cNvPr name="Freeform 4" id="4"/>
              <p:cNvSpPr/>
              <p:nvPr/>
            </p:nvSpPr>
            <p:spPr>
              <a:xfrm flipH="false" flipV="false" rot="0">
                <a:off x="0" y="0"/>
                <a:ext cx="660400" cy="748441"/>
              </a:xfrm>
              <a:custGeom>
                <a:avLst/>
                <a:gdLst/>
                <a:ahLst/>
                <a:cxnLst/>
                <a:rect r="r" b="b" t="t" l="l"/>
                <a:pathLst>
                  <a:path h="748441"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7072"/>
                    </a:cubicBezTo>
                    <a:lnTo>
                      <a:pt x="660400" y="748441"/>
                    </a:lnTo>
                    <a:lnTo>
                      <a:pt x="0" y="748441"/>
                    </a:lnTo>
                    <a:lnTo>
                      <a:pt x="0" y="327385"/>
                    </a:lnTo>
                    <a:cubicBezTo>
                      <a:pt x="1782" y="185660"/>
                      <a:pt x="93019" y="64045"/>
                      <a:pt x="220252" y="19070"/>
                    </a:cubicBezTo>
                    <a:close/>
                  </a:path>
                </a:pathLst>
              </a:custGeom>
              <a:solidFill>
                <a:srgbClr val="FFFFFF"/>
              </a:solidFill>
              <a:ln cap="sq">
                <a:noFill/>
                <a:prstDash val="solid"/>
                <a:miter/>
              </a:ln>
            </p:spPr>
          </p:sp>
          <p:sp>
            <p:nvSpPr>
              <p:cNvPr name="TextBox 5" id="5"/>
              <p:cNvSpPr txBox="true"/>
              <p:nvPr/>
            </p:nvSpPr>
            <p:spPr>
              <a:xfrm>
                <a:off x="0" y="98425"/>
                <a:ext cx="660400" cy="65001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6" id="6"/>
            <p:cNvSpPr/>
            <p:nvPr/>
          </p:nvSpPr>
          <p:spPr>
            <a:xfrm flipH="false" flipV="false" rot="0">
              <a:off x="766275" y="1687897"/>
              <a:ext cx="8882311" cy="9214800"/>
            </a:xfrm>
            <a:custGeom>
              <a:avLst/>
              <a:gdLst/>
              <a:ahLst/>
              <a:cxnLst/>
              <a:rect r="r" b="b" t="t" l="l"/>
              <a:pathLst>
                <a:path h="9214800" w="8882311">
                  <a:moveTo>
                    <a:pt x="0" y="0"/>
                  </a:moveTo>
                  <a:lnTo>
                    <a:pt x="8882311" y="0"/>
                  </a:lnTo>
                  <a:lnTo>
                    <a:pt x="8882311" y="9214799"/>
                  </a:lnTo>
                  <a:lnTo>
                    <a:pt x="0" y="9214799"/>
                  </a:lnTo>
                  <a:lnTo>
                    <a:pt x="0" y="0"/>
                  </a:lnTo>
                  <a:close/>
                </a:path>
              </a:pathLst>
            </a:custGeom>
            <a:blipFill>
              <a:blip r:embed="rId2">
                <a:extLst>
                  <a:ext uri="{96DAC541-7B7A-43D3-8B79-37D633B846F1}">
                    <asvg:svgBlip xmlns:asvg="http://schemas.microsoft.com/office/drawing/2016/SVG/main" r:embed="rId3"/>
                  </a:ext>
                </a:extLst>
              </a:blip>
              <a:stretch>
                <a:fillRect l="0" t="0" r="-52972" b="0"/>
              </a:stretch>
            </a:blipFill>
            <a:ln cap="sq">
              <a:noFill/>
              <a:prstDash val="solid"/>
              <a:miter/>
            </a:ln>
          </p:spPr>
        </p:sp>
      </p:grpSp>
      <p:grpSp>
        <p:nvGrpSpPr>
          <p:cNvPr name="Group 7" id="7"/>
          <p:cNvGrpSpPr/>
          <p:nvPr/>
        </p:nvGrpSpPr>
        <p:grpSpPr>
          <a:xfrm rot="0">
            <a:off x="-859244" y="8799510"/>
            <a:ext cx="20006488" cy="2891773"/>
            <a:chOff x="0" y="0"/>
            <a:chExt cx="26675317" cy="3855697"/>
          </a:xfrm>
        </p:grpSpPr>
        <p:sp>
          <p:nvSpPr>
            <p:cNvPr name="Freeform 8" id="8"/>
            <p:cNvSpPr/>
            <p:nvPr/>
          </p:nvSpPr>
          <p:spPr>
            <a:xfrm flipH="false" flipV="false" rot="0">
              <a:off x="0" y="0"/>
              <a:ext cx="8914847" cy="823754"/>
            </a:xfrm>
            <a:custGeom>
              <a:avLst/>
              <a:gdLst/>
              <a:ahLst/>
              <a:cxnLst/>
              <a:rect r="r" b="b" t="t" l="l"/>
              <a:pathLst>
                <a:path h="823754" w="8914847">
                  <a:moveTo>
                    <a:pt x="0" y="0"/>
                  </a:moveTo>
                  <a:lnTo>
                    <a:pt x="8914847" y="0"/>
                  </a:lnTo>
                  <a:lnTo>
                    <a:pt x="8914847" y="823754"/>
                  </a:lnTo>
                  <a:lnTo>
                    <a:pt x="0" y="8237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8880235" y="0"/>
              <a:ext cx="8914847" cy="823754"/>
            </a:xfrm>
            <a:custGeom>
              <a:avLst/>
              <a:gdLst/>
              <a:ahLst/>
              <a:cxnLst/>
              <a:rect r="r" b="b" t="t" l="l"/>
              <a:pathLst>
                <a:path h="823754" w="8914847">
                  <a:moveTo>
                    <a:pt x="0" y="0"/>
                  </a:moveTo>
                  <a:lnTo>
                    <a:pt x="8914847" y="0"/>
                  </a:lnTo>
                  <a:lnTo>
                    <a:pt x="8914847" y="823754"/>
                  </a:lnTo>
                  <a:lnTo>
                    <a:pt x="0" y="8237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7760470" y="0"/>
              <a:ext cx="8914847" cy="823754"/>
            </a:xfrm>
            <a:custGeom>
              <a:avLst/>
              <a:gdLst/>
              <a:ahLst/>
              <a:cxnLst/>
              <a:rect r="r" b="b" t="t" l="l"/>
              <a:pathLst>
                <a:path h="823754" w="8914847">
                  <a:moveTo>
                    <a:pt x="0" y="0"/>
                  </a:moveTo>
                  <a:lnTo>
                    <a:pt x="8914847" y="0"/>
                  </a:lnTo>
                  <a:lnTo>
                    <a:pt x="8914847" y="823754"/>
                  </a:lnTo>
                  <a:lnTo>
                    <a:pt x="0" y="8237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510659" y="411877"/>
              <a:ext cx="25654000" cy="3443820"/>
              <a:chOff x="0" y="0"/>
              <a:chExt cx="5067457" cy="680261"/>
            </a:xfrm>
          </p:grpSpPr>
          <p:sp>
            <p:nvSpPr>
              <p:cNvPr name="Freeform 12" id="12"/>
              <p:cNvSpPr/>
              <p:nvPr/>
            </p:nvSpPr>
            <p:spPr>
              <a:xfrm flipH="false" flipV="false" rot="0">
                <a:off x="0" y="0"/>
                <a:ext cx="5067457" cy="680261"/>
              </a:xfrm>
              <a:custGeom>
                <a:avLst/>
                <a:gdLst/>
                <a:ahLst/>
                <a:cxnLst/>
                <a:rect r="r" b="b" t="t" l="l"/>
                <a:pathLst>
                  <a:path h="680261" w="5067457">
                    <a:moveTo>
                      <a:pt x="0" y="0"/>
                    </a:moveTo>
                    <a:lnTo>
                      <a:pt x="5067457" y="0"/>
                    </a:lnTo>
                    <a:lnTo>
                      <a:pt x="5067457" y="680261"/>
                    </a:lnTo>
                    <a:lnTo>
                      <a:pt x="0" y="680261"/>
                    </a:lnTo>
                    <a:close/>
                  </a:path>
                </a:pathLst>
              </a:custGeom>
              <a:solidFill>
                <a:srgbClr val="38ABD1"/>
              </a:solidFill>
              <a:ln cap="sq">
                <a:noFill/>
                <a:prstDash val="solid"/>
                <a:miter/>
              </a:ln>
            </p:spPr>
          </p:sp>
          <p:sp>
            <p:nvSpPr>
              <p:cNvPr name="TextBox 13" id="13"/>
              <p:cNvSpPr txBox="true"/>
              <p:nvPr/>
            </p:nvSpPr>
            <p:spPr>
              <a:xfrm>
                <a:off x="0" y="-19050"/>
                <a:ext cx="5067457" cy="699311"/>
              </a:xfrm>
              <a:prstGeom prst="rect">
                <a:avLst/>
              </a:prstGeom>
            </p:spPr>
            <p:txBody>
              <a:bodyPr anchor="ctr" rtlCol="false" tIns="51043" lIns="51043" bIns="51043" rIns="51043"/>
              <a:lstStyle/>
              <a:p>
                <a:pPr algn="ctr" marL="0" indent="0" lvl="0">
                  <a:lnSpc>
                    <a:spcPts val="2080"/>
                  </a:lnSpc>
                  <a:spcBef>
                    <a:spcPct val="0"/>
                  </a:spcBef>
                </a:pPr>
              </a:p>
            </p:txBody>
          </p:sp>
        </p:grpSp>
      </p:grpSp>
      <p:grpSp>
        <p:nvGrpSpPr>
          <p:cNvPr name="Group 14" id="14"/>
          <p:cNvGrpSpPr/>
          <p:nvPr/>
        </p:nvGrpSpPr>
        <p:grpSpPr>
          <a:xfrm rot="0">
            <a:off x="7144888" y="487715"/>
            <a:ext cx="3983468" cy="1068143"/>
            <a:chOff x="0" y="0"/>
            <a:chExt cx="5311290" cy="1424191"/>
          </a:xfrm>
        </p:grpSpPr>
        <p:grpSp>
          <p:nvGrpSpPr>
            <p:cNvPr name="Group 15" id="15"/>
            <p:cNvGrpSpPr/>
            <p:nvPr/>
          </p:nvGrpSpPr>
          <p:grpSpPr>
            <a:xfrm rot="0">
              <a:off x="163612" y="163612"/>
              <a:ext cx="5147678" cy="1260579"/>
              <a:chOff x="0" y="0"/>
              <a:chExt cx="1262858" cy="309252"/>
            </a:xfrm>
          </p:grpSpPr>
          <p:sp>
            <p:nvSpPr>
              <p:cNvPr name="Freeform 16" id="16"/>
              <p:cNvSpPr/>
              <p:nvPr/>
            </p:nvSpPr>
            <p:spPr>
              <a:xfrm flipH="false" flipV="false" rot="0">
                <a:off x="0" y="0"/>
                <a:ext cx="1262858" cy="309252"/>
              </a:xfrm>
              <a:custGeom>
                <a:avLst/>
                <a:gdLst/>
                <a:ahLst/>
                <a:cxnLst/>
                <a:rect r="r" b="b" t="t" l="l"/>
                <a:pathLst>
                  <a:path h="309252" w="1262858">
                    <a:moveTo>
                      <a:pt x="82345" y="0"/>
                    </a:moveTo>
                    <a:lnTo>
                      <a:pt x="1180512" y="0"/>
                    </a:lnTo>
                    <a:cubicBezTo>
                      <a:pt x="1225990" y="0"/>
                      <a:pt x="1262858" y="36867"/>
                      <a:pt x="1262858" y="82345"/>
                    </a:cubicBezTo>
                    <a:lnTo>
                      <a:pt x="1262858" y="226907"/>
                    </a:lnTo>
                    <a:cubicBezTo>
                      <a:pt x="1262858" y="248746"/>
                      <a:pt x="1254182" y="269691"/>
                      <a:pt x="1238739" y="285134"/>
                    </a:cubicBezTo>
                    <a:cubicBezTo>
                      <a:pt x="1223296" y="300577"/>
                      <a:pt x="1202352" y="309252"/>
                      <a:pt x="1180512" y="309252"/>
                    </a:cubicBezTo>
                    <a:lnTo>
                      <a:pt x="82345" y="309252"/>
                    </a:lnTo>
                    <a:cubicBezTo>
                      <a:pt x="36867" y="309252"/>
                      <a:pt x="0" y="272385"/>
                      <a:pt x="0" y="226907"/>
                    </a:cubicBezTo>
                    <a:lnTo>
                      <a:pt x="0" y="82345"/>
                    </a:lnTo>
                    <a:cubicBezTo>
                      <a:pt x="0" y="36867"/>
                      <a:pt x="36867" y="0"/>
                      <a:pt x="82345" y="0"/>
                    </a:cubicBezTo>
                    <a:close/>
                  </a:path>
                </a:pathLst>
              </a:custGeom>
              <a:solidFill>
                <a:srgbClr val="38ABD1"/>
              </a:solidFill>
              <a:ln cap="rnd">
                <a:noFill/>
                <a:prstDash val="solid"/>
                <a:round/>
              </a:ln>
            </p:spPr>
          </p:sp>
          <p:sp>
            <p:nvSpPr>
              <p:cNvPr name="TextBox 17" id="17"/>
              <p:cNvSpPr txBox="true"/>
              <p:nvPr/>
            </p:nvSpPr>
            <p:spPr>
              <a:xfrm>
                <a:off x="0" y="-38100"/>
                <a:ext cx="1262858" cy="347352"/>
              </a:xfrm>
              <a:prstGeom prst="rect">
                <a:avLst/>
              </a:prstGeom>
            </p:spPr>
            <p:txBody>
              <a:bodyPr anchor="ctr" rtlCol="false" tIns="254000" lIns="254000" bIns="254000" rIns="254000"/>
              <a:lstStyle/>
              <a:p>
                <a:pPr algn="ctr" marL="0" indent="0" lvl="0">
                  <a:lnSpc>
                    <a:spcPts val="3379"/>
                  </a:lnSpc>
                  <a:spcBef>
                    <a:spcPct val="0"/>
                  </a:spcBef>
                </a:pPr>
              </a:p>
            </p:txBody>
          </p:sp>
        </p:grpSp>
        <p:grpSp>
          <p:nvGrpSpPr>
            <p:cNvPr name="Group 18" id="18"/>
            <p:cNvGrpSpPr/>
            <p:nvPr/>
          </p:nvGrpSpPr>
          <p:grpSpPr>
            <a:xfrm rot="0">
              <a:off x="0" y="0"/>
              <a:ext cx="5112810" cy="1222727"/>
              <a:chOff x="0" y="0"/>
              <a:chExt cx="1254303" cy="299966"/>
            </a:xfrm>
          </p:grpSpPr>
          <p:sp>
            <p:nvSpPr>
              <p:cNvPr name="Freeform 19" id="19"/>
              <p:cNvSpPr/>
              <p:nvPr/>
            </p:nvSpPr>
            <p:spPr>
              <a:xfrm flipH="false" flipV="false" rot="0">
                <a:off x="0" y="0"/>
                <a:ext cx="1254303" cy="299966"/>
              </a:xfrm>
              <a:custGeom>
                <a:avLst/>
                <a:gdLst/>
                <a:ahLst/>
                <a:cxnLst/>
                <a:rect r="r" b="b" t="t" l="l"/>
                <a:pathLst>
                  <a:path h="299966" w="1254303">
                    <a:moveTo>
                      <a:pt x="82907" y="0"/>
                    </a:moveTo>
                    <a:lnTo>
                      <a:pt x="1171397" y="0"/>
                    </a:lnTo>
                    <a:cubicBezTo>
                      <a:pt x="1217185" y="0"/>
                      <a:pt x="1254303" y="37119"/>
                      <a:pt x="1254303" y="82907"/>
                    </a:cubicBezTo>
                    <a:lnTo>
                      <a:pt x="1254303" y="217060"/>
                    </a:lnTo>
                    <a:cubicBezTo>
                      <a:pt x="1254303" y="262848"/>
                      <a:pt x="1217185" y="299966"/>
                      <a:pt x="1171397" y="299966"/>
                    </a:cubicBezTo>
                    <a:lnTo>
                      <a:pt x="82907" y="299966"/>
                    </a:lnTo>
                    <a:cubicBezTo>
                      <a:pt x="37119" y="299966"/>
                      <a:pt x="0" y="262848"/>
                      <a:pt x="0" y="217060"/>
                    </a:cubicBezTo>
                    <a:lnTo>
                      <a:pt x="0" y="82907"/>
                    </a:lnTo>
                    <a:cubicBezTo>
                      <a:pt x="0" y="37119"/>
                      <a:pt x="37119" y="0"/>
                      <a:pt x="82907" y="0"/>
                    </a:cubicBezTo>
                    <a:close/>
                  </a:path>
                </a:pathLst>
              </a:custGeom>
              <a:solidFill>
                <a:srgbClr val="EFB59C"/>
              </a:solidFill>
              <a:ln cap="rnd">
                <a:noFill/>
                <a:prstDash val="solid"/>
                <a:round/>
              </a:ln>
            </p:spPr>
          </p:sp>
          <p:sp>
            <p:nvSpPr>
              <p:cNvPr name="TextBox 20" id="20"/>
              <p:cNvSpPr txBox="true"/>
              <p:nvPr/>
            </p:nvSpPr>
            <p:spPr>
              <a:xfrm>
                <a:off x="0" y="-28575"/>
                <a:ext cx="1254303" cy="328541"/>
              </a:xfrm>
              <a:prstGeom prst="rect">
                <a:avLst/>
              </a:prstGeom>
            </p:spPr>
            <p:txBody>
              <a:bodyPr anchor="ctr" rtlCol="false" tIns="254000" lIns="254000" bIns="254000" rIns="254000"/>
              <a:lstStyle/>
              <a:p>
                <a:pPr algn="ctr" marL="0" indent="0" lvl="0">
                  <a:lnSpc>
                    <a:spcPts val="2660"/>
                  </a:lnSpc>
                  <a:spcBef>
                    <a:spcPct val="0"/>
                  </a:spcBef>
                </a:pPr>
              </a:p>
            </p:txBody>
          </p:sp>
        </p:grpSp>
        <p:sp>
          <p:nvSpPr>
            <p:cNvPr name="TextBox 21" id="21"/>
            <p:cNvSpPr txBox="true"/>
            <p:nvPr/>
          </p:nvSpPr>
          <p:spPr>
            <a:xfrm rot="0">
              <a:off x="534535" y="310707"/>
              <a:ext cx="4043740" cy="610838"/>
            </a:xfrm>
            <a:prstGeom prst="rect">
              <a:avLst/>
            </a:prstGeom>
          </p:spPr>
          <p:txBody>
            <a:bodyPr anchor="t" rtlCol="false" tIns="0" lIns="0" bIns="0" rIns="0">
              <a:spAutoFit/>
            </a:bodyPr>
            <a:lstStyle/>
            <a:p>
              <a:pPr algn="ctr">
                <a:lnSpc>
                  <a:spcPts val="1771"/>
                </a:lnSpc>
              </a:pPr>
              <a:r>
                <a:rPr lang="en-US" sz="1610" b="true">
                  <a:solidFill>
                    <a:srgbClr val="000001"/>
                  </a:solidFill>
                  <a:latin typeface="Klein Heavy"/>
                  <a:ea typeface="Klein Heavy"/>
                  <a:cs typeface="Klein Heavy"/>
                  <a:sym typeface="Klein Heavy"/>
                </a:rPr>
                <a:t>Mata Kuliah:</a:t>
              </a:r>
            </a:p>
            <a:p>
              <a:pPr algn="ctr" marL="0" indent="0" lvl="0">
                <a:lnSpc>
                  <a:spcPts val="1771"/>
                </a:lnSpc>
                <a:spcBef>
                  <a:spcPct val="0"/>
                </a:spcBef>
              </a:pPr>
              <a:r>
                <a:rPr lang="en-US" b="true" sz="1610">
                  <a:solidFill>
                    <a:srgbClr val="000001"/>
                  </a:solidFill>
                  <a:latin typeface="Klein Heavy"/>
                  <a:ea typeface="Klein Heavy"/>
                  <a:cs typeface="Klein Heavy"/>
                  <a:sym typeface="Klein Heavy"/>
                </a:rPr>
                <a:t>Analisi Data Spasial</a:t>
              </a:r>
            </a:p>
          </p:txBody>
        </p:sp>
      </p:grpSp>
      <p:sp>
        <p:nvSpPr>
          <p:cNvPr name="Freeform 22" id="22"/>
          <p:cNvSpPr/>
          <p:nvPr/>
        </p:nvSpPr>
        <p:spPr>
          <a:xfrm flipH="false" flipV="false" rot="0">
            <a:off x="566535" y="487715"/>
            <a:ext cx="851386" cy="1030895"/>
          </a:xfrm>
          <a:custGeom>
            <a:avLst/>
            <a:gdLst/>
            <a:ahLst/>
            <a:cxnLst/>
            <a:rect r="r" b="b" t="t" l="l"/>
            <a:pathLst>
              <a:path h="1030895" w="851386">
                <a:moveTo>
                  <a:pt x="0" y="0"/>
                </a:moveTo>
                <a:lnTo>
                  <a:pt x="851386" y="0"/>
                </a:lnTo>
                <a:lnTo>
                  <a:pt x="851386" y="1030894"/>
                </a:lnTo>
                <a:lnTo>
                  <a:pt x="0" y="1030894"/>
                </a:lnTo>
                <a:lnTo>
                  <a:pt x="0" y="0"/>
                </a:lnTo>
                <a:close/>
              </a:path>
            </a:pathLst>
          </a:custGeom>
          <a:blipFill>
            <a:blip r:embed="rId6"/>
            <a:stretch>
              <a:fillRect l="0" t="0" r="0" b="0"/>
            </a:stretch>
          </a:blipFill>
        </p:spPr>
      </p:sp>
      <p:sp>
        <p:nvSpPr>
          <p:cNvPr name="Freeform 23" id="23"/>
          <p:cNvSpPr/>
          <p:nvPr/>
        </p:nvSpPr>
        <p:spPr>
          <a:xfrm flipH="false" flipV="false" rot="0">
            <a:off x="1758934" y="487715"/>
            <a:ext cx="1142651" cy="1142651"/>
          </a:xfrm>
          <a:custGeom>
            <a:avLst/>
            <a:gdLst/>
            <a:ahLst/>
            <a:cxnLst/>
            <a:rect r="r" b="b" t="t" l="l"/>
            <a:pathLst>
              <a:path h="1142651" w="1142651">
                <a:moveTo>
                  <a:pt x="0" y="0"/>
                </a:moveTo>
                <a:lnTo>
                  <a:pt x="1142651" y="0"/>
                </a:lnTo>
                <a:lnTo>
                  <a:pt x="1142651" y="1142651"/>
                </a:lnTo>
                <a:lnTo>
                  <a:pt x="0" y="1142651"/>
                </a:lnTo>
                <a:lnTo>
                  <a:pt x="0" y="0"/>
                </a:lnTo>
                <a:close/>
              </a:path>
            </a:pathLst>
          </a:custGeom>
          <a:blipFill>
            <a:blip r:embed="rId7"/>
            <a:stretch>
              <a:fillRect l="-8590" t="-7074" r="-10611" b="-12127"/>
            </a:stretch>
          </a:blipFill>
        </p:spPr>
      </p:sp>
      <p:sp>
        <p:nvSpPr>
          <p:cNvPr name="TextBox 24" id="24"/>
          <p:cNvSpPr txBox="true"/>
          <p:nvPr/>
        </p:nvSpPr>
        <p:spPr>
          <a:xfrm rot="0">
            <a:off x="1028700" y="4354665"/>
            <a:ext cx="8341101" cy="1203415"/>
          </a:xfrm>
          <a:prstGeom prst="rect">
            <a:avLst/>
          </a:prstGeom>
        </p:spPr>
        <p:txBody>
          <a:bodyPr anchor="t" rtlCol="false" tIns="0" lIns="0" bIns="0" rIns="0">
            <a:spAutoFit/>
          </a:bodyPr>
          <a:lstStyle/>
          <a:p>
            <a:pPr algn="l">
              <a:lnSpc>
                <a:spcPts val="4799"/>
              </a:lnSpc>
            </a:pPr>
            <a:r>
              <a:rPr lang="en-US" sz="3692">
                <a:solidFill>
                  <a:srgbClr val="000001"/>
                </a:solidFill>
                <a:latin typeface="Klein"/>
                <a:ea typeface="Klein"/>
                <a:cs typeface="Klein"/>
                <a:sym typeface="Klein"/>
              </a:rPr>
              <a:t>A</a:t>
            </a:r>
            <a:r>
              <a:rPr lang="en-US" sz="3692">
                <a:solidFill>
                  <a:srgbClr val="000001"/>
                </a:solidFill>
                <a:latin typeface="Klein"/>
                <a:ea typeface="Klein"/>
                <a:cs typeface="Klein"/>
                <a:sym typeface="Klein"/>
              </a:rPr>
              <a:t> Case Study on Distribution and Patterns of Urban Floods</a:t>
            </a:r>
          </a:p>
        </p:txBody>
      </p:sp>
      <p:sp>
        <p:nvSpPr>
          <p:cNvPr name="TextBox 25" id="25"/>
          <p:cNvSpPr txBox="true"/>
          <p:nvPr/>
        </p:nvSpPr>
        <p:spPr>
          <a:xfrm rot="0">
            <a:off x="1028700" y="2516191"/>
            <a:ext cx="9948529" cy="1691335"/>
          </a:xfrm>
          <a:prstGeom prst="rect">
            <a:avLst/>
          </a:prstGeom>
        </p:spPr>
        <p:txBody>
          <a:bodyPr anchor="t" rtlCol="false" tIns="0" lIns="0" bIns="0" rIns="0">
            <a:spAutoFit/>
          </a:bodyPr>
          <a:lstStyle/>
          <a:p>
            <a:pPr algn="l" marL="0" indent="0" lvl="0">
              <a:lnSpc>
                <a:spcPts val="6726"/>
              </a:lnSpc>
            </a:pPr>
            <a:r>
              <a:rPr lang="en-US" b="true" sz="5174">
                <a:solidFill>
                  <a:srgbClr val="000001"/>
                </a:solidFill>
                <a:latin typeface="Klein Heavy"/>
                <a:ea typeface="Klein Heavy"/>
                <a:cs typeface="Klein Heavy"/>
                <a:sym typeface="Klein Heavy"/>
              </a:rPr>
              <a:t>S</a:t>
            </a:r>
            <a:r>
              <a:rPr lang="en-US" b="true" sz="5174" strike="noStrike" u="none">
                <a:solidFill>
                  <a:srgbClr val="000001"/>
                </a:solidFill>
                <a:latin typeface="Klein Heavy"/>
                <a:ea typeface="Klein Heavy"/>
                <a:cs typeface="Klein Heavy"/>
                <a:sym typeface="Klein Heavy"/>
              </a:rPr>
              <a:t>patial Analysis of Flood Incidents in Jakarta 2024:</a:t>
            </a:r>
          </a:p>
        </p:txBody>
      </p:sp>
      <p:sp>
        <p:nvSpPr>
          <p:cNvPr name="TextBox 26" id="26"/>
          <p:cNvSpPr txBox="true"/>
          <p:nvPr/>
        </p:nvSpPr>
        <p:spPr>
          <a:xfrm rot="0">
            <a:off x="566535" y="6375850"/>
            <a:ext cx="7396236" cy="1482065"/>
          </a:xfrm>
          <a:prstGeom prst="rect">
            <a:avLst/>
          </a:prstGeom>
        </p:spPr>
        <p:txBody>
          <a:bodyPr anchor="t" rtlCol="false" tIns="0" lIns="0" bIns="0" rIns="0">
            <a:spAutoFit/>
          </a:bodyPr>
          <a:lstStyle/>
          <a:p>
            <a:pPr algn="ctr">
              <a:lnSpc>
                <a:spcPts val="3979"/>
              </a:lnSpc>
            </a:pPr>
            <a:r>
              <a:rPr lang="en-US" sz="2354">
                <a:solidFill>
                  <a:srgbClr val="000001"/>
                </a:solidFill>
                <a:latin typeface="Klein"/>
                <a:ea typeface="Klein"/>
                <a:cs typeface="Klein"/>
                <a:sym typeface="Klein"/>
              </a:rPr>
              <a:t>Mahisa Ayu Sekarwangi</a:t>
            </a:r>
          </a:p>
          <a:p>
            <a:pPr algn="ctr">
              <a:lnSpc>
                <a:spcPts val="3979"/>
              </a:lnSpc>
            </a:pPr>
            <a:r>
              <a:rPr lang="en-US" sz="2354">
                <a:solidFill>
                  <a:srgbClr val="000001"/>
                </a:solidFill>
                <a:latin typeface="Klein"/>
                <a:ea typeface="Klein"/>
                <a:cs typeface="Klein"/>
                <a:sym typeface="Klein"/>
              </a:rPr>
              <a:t>1206230053</a:t>
            </a:r>
          </a:p>
          <a:p>
            <a:pPr algn="ctr">
              <a:lnSpc>
                <a:spcPts val="3979"/>
              </a:lnSpc>
            </a:pPr>
            <a:r>
              <a:rPr lang="en-US" sz="2354">
                <a:solidFill>
                  <a:srgbClr val="000001"/>
                </a:solidFill>
                <a:latin typeface="Klein"/>
                <a:ea typeface="Klein"/>
                <a:cs typeface="Klein"/>
                <a:sym typeface="Klein"/>
              </a:rPr>
              <a:t>DS-03-02</a:t>
            </a:r>
          </a:p>
        </p:txBody>
      </p:sp>
      <p:sp>
        <p:nvSpPr>
          <p:cNvPr name="TextBox 27" id="27"/>
          <p:cNvSpPr txBox="true"/>
          <p:nvPr/>
        </p:nvSpPr>
        <p:spPr>
          <a:xfrm rot="0">
            <a:off x="8443688" y="9489007"/>
            <a:ext cx="1852226" cy="393473"/>
          </a:xfrm>
          <a:prstGeom prst="rect">
            <a:avLst/>
          </a:prstGeom>
        </p:spPr>
        <p:txBody>
          <a:bodyPr anchor="t" rtlCol="false" tIns="0" lIns="0" bIns="0" rIns="0">
            <a:spAutoFit/>
          </a:bodyPr>
          <a:lstStyle/>
          <a:p>
            <a:pPr algn="l">
              <a:lnSpc>
                <a:spcPts val="3138"/>
              </a:lnSpc>
            </a:pPr>
            <a:r>
              <a:rPr lang="en-US" sz="2414">
                <a:solidFill>
                  <a:srgbClr val="000001"/>
                </a:solidFill>
                <a:latin typeface="Klein"/>
                <a:ea typeface="Klein"/>
                <a:cs typeface="Klein"/>
                <a:sym typeface="Klein"/>
              </a:rPr>
              <a:t>2025/2026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97D4E8"/>
        </a:solidFill>
      </p:bgPr>
    </p:bg>
    <p:spTree>
      <p:nvGrpSpPr>
        <p:cNvPr id="1" name=""/>
        <p:cNvGrpSpPr/>
        <p:nvPr/>
      </p:nvGrpSpPr>
      <p:grpSpPr>
        <a:xfrm>
          <a:off x="0" y="0"/>
          <a:ext cx="0" cy="0"/>
          <a:chOff x="0" y="0"/>
          <a:chExt cx="0" cy="0"/>
        </a:xfrm>
      </p:grpSpPr>
      <p:sp>
        <p:nvSpPr>
          <p:cNvPr name="Freeform 2" id="2"/>
          <p:cNvSpPr/>
          <p:nvPr/>
        </p:nvSpPr>
        <p:spPr>
          <a:xfrm flipH="false" flipV="false" rot="0">
            <a:off x="608120" y="3065987"/>
            <a:ext cx="4872670" cy="3246416"/>
          </a:xfrm>
          <a:custGeom>
            <a:avLst/>
            <a:gdLst/>
            <a:ahLst/>
            <a:cxnLst/>
            <a:rect r="r" b="b" t="t" l="l"/>
            <a:pathLst>
              <a:path h="3246416" w="4872670">
                <a:moveTo>
                  <a:pt x="0" y="0"/>
                </a:moveTo>
                <a:lnTo>
                  <a:pt x="4872670" y="0"/>
                </a:lnTo>
                <a:lnTo>
                  <a:pt x="4872670" y="3246416"/>
                </a:lnTo>
                <a:lnTo>
                  <a:pt x="0" y="3246416"/>
                </a:lnTo>
                <a:lnTo>
                  <a:pt x="0" y="0"/>
                </a:lnTo>
                <a:close/>
              </a:path>
            </a:pathLst>
          </a:custGeom>
          <a:blipFill>
            <a:blip r:embed="rId2"/>
            <a:stretch>
              <a:fillRect l="0" t="0" r="0" b="0"/>
            </a:stretch>
          </a:blipFill>
        </p:spPr>
      </p:sp>
      <p:sp>
        <p:nvSpPr>
          <p:cNvPr name="Freeform 3" id="3"/>
          <p:cNvSpPr/>
          <p:nvPr/>
        </p:nvSpPr>
        <p:spPr>
          <a:xfrm flipH="false" flipV="false" rot="0">
            <a:off x="1475565" y="6788653"/>
            <a:ext cx="4872670" cy="2912702"/>
          </a:xfrm>
          <a:custGeom>
            <a:avLst/>
            <a:gdLst/>
            <a:ahLst/>
            <a:cxnLst/>
            <a:rect r="r" b="b" t="t" l="l"/>
            <a:pathLst>
              <a:path h="2912702" w="4872670">
                <a:moveTo>
                  <a:pt x="0" y="0"/>
                </a:moveTo>
                <a:lnTo>
                  <a:pt x="4872670" y="0"/>
                </a:lnTo>
                <a:lnTo>
                  <a:pt x="4872670" y="2912702"/>
                </a:lnTo>
                <a:lnTo>
                  <a:pt x="0" y="2912702"/>
                </a:lnTo>
                <a:lnTo>
                  <a:pt x="0" y="0"/>
                </a:lnTo>
                <a:close/>
              </a:path>
            </a:pathLst>
          </a:custGeom>
          <a:blipFill>
            <a:blip r:embed="rId3"/>
            <a:stretch>
              <a:fillRect l="0" t="-5728" r="0" b="-5728"/>
            </a:stretch>
          </a:blipFill>
        </p:spPr>
      </p:sp>
      <p:grpSp>
        <p:nvGrpSpPr>
          <p:cNvPr name="Group 4" id="4"/>
          <p:cNvGrpSpPr/>
          <p:nvPr/>
        </p:nvGrpSpPr>
        <p:grpSpPr>
          <a:xfrm rot="0">
            <a:off x="6983112" y="0"/>
            <a:ext cx="11892478" cy="10287000"/>
            <a:chOff x="0" y="0"/>
            <a:chExt cx="15856637" cy="13716000"/>
          </a:xfrm>
        </p:grpSpPr>
        <p:grpSp>
          <p:nvGrpSpPr>
            <p:cNvPr name="Group 5" id="5"/>
            <p:cNvGrpSpPr/>
            <p:nvPr/>
          </p:nvGrpSpPr>
          <p:grpSpPr>
            <a:xfrm rot="0">
              <a:off x="276972" y="461042"/>
              <a:ext cx="15579665" cy="13254958"/>
              <a:chOff x="0" y="0"/>
              <a:chExt cx="2257778" cy="1920885"/>
            </a:xfrm>
          </p:grpSpPr>
          <p:sp>
            <p:nvSpPr>
              <p:cNvPr name="Freeform 6" id="6"/>
              <p:cNvSpPr/>
              <p:nvPr/>
            </p:nvSpPr>
            <p:spPr>
              <a:xfrm flipH="false" flipV="false" rot="0">
                <a:off x="0" y="0"/>
                <a:ext cx="2257778" cy="1920885"/>
              </a:xfrm>
              <a:custGeom>
                <a:avLst/>
                <a:gdLst/>
                <a:ahLst/>
                <a:cxnLst/>
                <a:rect r="r" b="b" t="t" l="l"/>
                <a:pathLst>
                  <a:path h="1920885" w="2257778">
                    <a:moveTo>
                      <a:pt x="46059" y="0"/>
                    </a:moveTo>
                    <a:lnTo>
                      <a:pt x="2211719" y="0"/>
                    </a:lnTo>
                    <a:cubicBezTo>
                      <a:pt x="2223935" y="0"/>
                      <a:pt x="2235650" y="4853"/>
                      <a:pt x="2244287" y="13490"/>
                    </a:cubicBezTo>
                    <a:cubicBezTo>
                      <a:pt x="2252925" y="22128"/>
                      <a:pt x="2257778" y="33843"/>
                      <a:pt x="2257778" y="46059"/>
                    </a:cubicBezTo>
                    <a:lnTo>
                      <a:pt x="2257778" y="1874827"/>
                    </a:lnTo>
                    <a:cubicBezTo>
                      <a:pt x="2257778" y="1900264"/>
                      <a:pt x="2237156" y="1920885"/>
                      <a:pt x="2211719" y="1920885"/>
                    </a:cubicBezTo>
                    <a:lnTo>
                      <a:pt x="46059" y="1920885"/>
                    </a:lnTo>
                    <a:cubicBezTo>
                      <a:pt x="20621" y="1920885"/>
                      <a:pt x="0" y="1900264"/>
                      <a:pt x="0" y="1874827"/>
                    </a:cubicBezTo>
                    <a:lnTo>
                      <a:pt x="0" y="46059"/>
                    </a:lnTo>
                    <a:cubicBezTo>
                      <a:pt x="0" y="20621"/>
                      <a:pt x="20621" y="0"/>
                      <a:pt x="46059" y="0"/>
                    </a:cubicBezTo>
                    <a:close/>
                  </a:path>
                </a:pathLst>
              </a:custGeom>
              <a:solidFill>
                <a:srgbClr val="FFE5BC"/>
              </a:solidFill>
              <a:ln cap="rnd">
                <a:noFill/>
                <a:prstDash val="solid"/>
                <a:round/>
              </a:ln>
            </p:spPr>
          </p:sp>
          <p:sp>
            <p:nvSpPr>
              <p:cNvPr name="TextBox 7" id="7"/>
              <p:cNvSpPr txBox="true"/>
              <p:nvPr/>
            </p:nvSpPr>
            <p:spPr>
              <a:xfrm>
                <a:off x="0" y="-38100"/>
                <a:ext cx="2257778" cy="1958985"/>
              </a:xfrm>
              <a:prstGeom prst="rect">
                <a:avLst/>
              </a:prstGeom>
            </p:spPr>
            <p:txBody>
              <a:bodyPr anchor="ctr" rtlCol="false" tIns="254000" lIns="254000" bIns="254000" rIns="254000"/>
              <a:lstStyle/>
              <a:p>
                <a:pPr algn="ctr" marL="0" indent="0" lvl="0">
                  <a:lnSpc>
                    <a:spcPts val="3379"/>
                  </a:lnSpc>
                  <a:spcBef>
                    <a:spcPct val="0"/>
                  </a:spcBef>
                </a:pPr>
              </a:p>
            </p:txBody>
          </p:sp>
        </p:grpSp>
        <p:grpSp>
          <p:nvGrpSpPr>
            <p:cNvPr name="Group 8" id="8"/>
            <p:cNvGrpSpPr/>
            <p:nvPr/>
          </p:nvGrpSpPr>
          <p:grpSpPr>
            <a:xfrm rot="0">
              <a:off x="0" y="0"/>
              <a:ext cx="15579665" cy="13254958"/>
              <a:chOff x="0" y="0"/>
              <a:chExt cx="2257778" cy="1920885"/>
            </a:xfrm>
          </p:grpSpPr>
          <p:sp>
            <p:nvSpPr>
              <p:cNvPr name="Freeform 9" id="9"/>
              <p:cNvSpPr/>
              <p:nvPr/>
            </p:nvSpPr>
            <p:spPr>
              <a:xfrm flipH="false" flipV="false" rot="0">
                <a:off x="0" y="0"/>
                <a:ext cx="2257778" cy="1920885"/>
              </a:xfrm>
              <a:custGeom>
                <a:avLst/>
                <a:gdLst/>
                <a:ahLst/>
                <a:cxnLst/>
                <a:rect r="r" b="b" t="t" l="l"/>
                <a:pathLst>
                  <a:path h="1920885" w="2257778">
                    <a:moveTo>
                      <a:pt x="46059" y="0"/>
                    </a:moveTo>
                    <a:lnTo>
                      <a:pt x="2211719" y="0"/>
                    </a:lnTo>
                    <a:cubicBezTo>
                      <a:pt x="2223935" y="0"/>
                      <a:pt x="2235650" y="4853"/>
                      <a:pt x="2244287" y="13490"/>
                    </a:cubicBezTo>
                    <a:cubicBezTo>
                      <a:pt x="2252925" y="22128"/>
                      <a:pt x="2257778" y="33843"/>
                      <a:pt x="2257778" y="46059"/>
                    </a:cubicBezTo>
                    <a:lnTo>
                      <a:pt x="2257778" y="1874827"/>
                    </a:lnTo>
                    <a:cubicBezTo>
                      <a:pt x="2257778" y="1900264"/>
                      <a:pt x="2237156" y="1920885"/>
                      <a:pt x="2211719" y="1920885"/>
                    </a:cubicBezTo>
                    <a:lnTo>
                      <a:pt x="46059" y="1920885"/>
                    </a:lnTo>
                    <a:cubicBezTo>
                      <a:pt x="20621" y="1920885"/>
                      <a:pt x="0" y="1900264"/>
                      <a:pt x="0" y="1874827"/>
                    </a:cubicBezTo>
                    <a:lnTo>
                      <a:pt x="0" y="46059"/>
                    </a:lnTo>
                    <a:cubicBezTo>
                      <a:pt x="0" y="20621"/>
                      <a:pt x="20621" y="0"/>
                      <a:pt x="46059" y="0"/>
                    </a:cubicBezTo>
                    <a:close/>
                  </a:path>
                </a:pathLst>
              </a:custGeom>
              <a:solidFill>
                <a:srgbClr val="FFE5BC"/>
              </a:solidFill>
              <a:ln cap="rnd">
                <a:noFill/>
                <a:prstDash val="solid"/>
                <a:round/>
              </a:ln>
            </p:spPr>
          </p:sp>
          <p:sp>
            <p:nvSpPr>
              <p:cNvPr name="TextBox 10" id="10"/>
              <p:cNvSpPr txBox="true"/>
              <p:nvPr/>
            </p:nvSpPr>
            <p:spPr>
              <a:xfrm>
                <a:off x="0" y="-28575"/>
                <a:ext cx="2257778" cy="1949460"/>
              </a:xfrm>
              <a:prstGeom prst="rect">
                <a:avLst/>
              </a:prstGeom>
            </p:spPr>
            <p:txBody>
              <a:bodyPr anchor="ctr" rtlCol="false" tIns="254000" lIns="254000" bIns="254000" rIns="254000"/>
              <a:lstStyle/>
              <a:p>
                <a:pPr algn="ctr" marL="0" indent="0" lvl="0">
                  <a:lnSpc>
                    <a:spcPts val="2659"/>
                  </a:lnSpc>
                  <a:spcBef>
                    <a:spcPct val="0"/>
                  </a:spcBef>
                </a:pPr>
              </a:p>
            </p:txBody>
          </p:sp>
        </p:grpSp>
      </p:grpSp>
      <p:sp>
        <p:nvSpPr>
          <p:cNvPr name="TextBox 11" id="11"/>
          <p:cNvSpPr txBox="true"/>
          <p:nvPr/>
        </p:nvSpPr>
        <p:spPr>
          <a:xfrm rot="0">
            <a:off x="7334727" y="487241"/>
            <a:ext cx="10384324" cy="9226792"/>
          </a:xfrm>
          <a:prstGeom prst="rect">
            <a:avLst/>
          </a:prstGeom>
        </p:spPr>
        <p:txBody>
          <a:bodyPr anchor="t" rtlCol="false" tIns="0" lIns="0" bIns="0" rIns="0">
            <a:spAutoFit/>
          </a:bodyPr>
          <a:lstStyle/>
          <a:p>
            <a:pPr algn="l">
              <a:lnSpc>
                <a:spcPts val="3486"/>
              </a:lnSpc>
            </a:pPr>
          </a:p>
          <a:p>
            <a:pPr algn="l" marL="485665" indent="-242832" lvl="1">
              <a:lnSpc>
                <a:spcPts val="3486"/>
              </a:lnSpc>
              <a:buFont typeface="Arial"/>
              <a:buChar char="•"/>
            </a:pPr>
            <a:r>
              <a:rPr lang="en-US" sz="2249" spc="155">
                <a:solidFill>
                  <a:srgbClr val="000001"/>
                </a:solidFill>
                <a:latin typeface="Klein"/>
                <a:ea typeface="Klein"/>
                <a:cs typeface="Klein"/>
                <a:sym typeface="Klein"/>
              </a:rPr>
              <a:t>Fenomena yang dianalisis: Banjir di wilayah DKI Jakarta (2024)</a:t>
            </a:r>
          </a:p>
          <a:p>
            <a:pPr algn="l" marL="485665" indent="-242832" lvl="1">
              <a:lnSpc>
                <a:spcPts val="3486"/>
              </a:lnSpc>
              <a:buFont typeface="Arial"/>
              <a:buChar char="•"/>
            </a:pPr>
            <a:r>
              <a:rPr lang="en-US" sz="2249" spc="155">
                <a:solidFill>
                  <a:srgbClr val="000001"/>
                </a:solidFill>
                <a:latin typeface="Klein"/>
                <a:ea typeface="Klein"/>
                <a:cs typeface="Klein"/>
                <a:sym typeface="Klein"/>
              </a:rPr>
              <a:t>Banjir</a:t>
            </a:r>
            <a:r>
              <a:rPr lang="en-US" sz="2249" spc="155">
                <a:solidFill>
                  <a:srgbClr val="000001"/>
                </a:solidFill>
                <a:latin typeface="Klein"/>
                <a:ea typeface="Klein"/>
                <a:cs typeface="Klein"/>
                <a:sym typeface="Klein"/>
              </a:rPr>
              <a:t> merupakan salah satu bencana urban utama yang memengaruhi mobilitas, ekonomi, dan keselamatan penduduk.</a:t>
            </a:r>
          </a:p>
          <a:p>
            <a:pPr algn="l" marL="485665" indent="-242832" lvl="1">
              <a:lnSpc>
                <a:spcPts val="3486"/>
              </a:lnSpc>
              <a:buFont typeface="Arial"/>
              <a:buChar char="•"/>
            </a:pPr>
            <a:r>
              <a:rPr lang="en-US" sz="2249" spc="155">
                <a:solidFill>
                  <a:srgbClr val="000001"/>
                </a:solidFill>
                <a:latin typeface="Klein"/>
                <a:ea typeface="Klein"/>
                <a:cs typeface="Klein"/>
                <a:sym typeface="Klein"/>
              </a:rPr>
              <a:t>Area studi: 5 kota administratif DKI Jakarta </a:t>
            </a:r>
          </a:p>
          <a:p>
            <a:pPr algn="l" marL="485665" indent="-242832" lvl="1">
              <a:lnSpc>
                <a:spcPts val="3486"/>
              </a:lnSpc>
              <a:buFont typeface="Arial"/>
              <a:buChar char="•"/>
            </a:pPr>
            <a:r>
              <a:rPr lang="en-US" sz="2249" spc="155">
                <a:solidFill>
                  <a:srgbClr val="000001"/>
                </a:solidFill>
                <a:latin typeface="Klein"/>
                <a:ea typeface="Klein"/>
                <a:cs typeface="Klein"/>
                <a:sym typeface="Klein"/>
              </a:rPr>
              <a:t>Dataset digunakan:</a:t>
            </a:r>
          </a:p>
          <a:p>
            <a:pPr algn="l" marL="971329" indent="-323776" lvl="2">
              <a:lnSpc>
                <a:spcPts val="3486"/>
              </a:lnSpc>
              <a:buFont typeface="Arial"/>
              <a:buChar char="⚬"/>
            </a:pPr>
            <a:r>
              <a:rPr lang="en-US" sz="2249" spc="155">
                <a:solidFill>
                  <a:srgbClr val="000001"/>
                </a:solidFill>
                <a:latin typeface="Klein"/>
                <a:ea typeface="Klein"/>
                <a:cs typeface="Klein"/>
                <a:sym typeface="Klein"/>
              </a:rPr>
              <a:t>Titik banjir: Lokasi rawan banjir per kelurahan (SatuData Jakarta, 2024)</a:t>
            </a:r>
          </a:p>
          <a:p>
            <a:pPr algn="l" marL="971329" indent="-323776" lvl="2">
              <a:lnSpc>
                <a:spcPts val="3486"/>
              </a:lnSpc>
              <a:buFont typeface="Arial"/>
              <a:buChar char="⚬"/>
            </a:pPr>
            <a:r>
              <a:rPr lang="en-US" sz="2249" spc="155">
                <a:solidFill>
                  <a:srgbClr val="000001"/>
                </a:solidFill>
                <a:latin typeface="Klein"/>
                <a:ea typeface="Klein"/>
                <a:cs typeface="Klein"/>
                <a:sym typeface="Klein"/>
              </a:rPr>
              <a:t>Poligon wilayah: Batas administratif kota/kabupaten (GeoJSON)</a:t>
            </a:r>
          </a:p>
          <a:p>
            <a:pPr algn="l" marL="971329" indent="-323776" lvl="2">
              <a:lnSpc>
                <a:spcPts val="3486"/>
              </a:lnSpc>
              <a:buFont typeface="Arial"/>
              <a:buChar char="⚬"/>
            </a:pPr>
            <a:r>
              <a:rPr lang="en-US" sz="2249" spc="155">
                <a:solidFill>
                  <a:srgbClr val="000001"/>
                </a:solidFill>
                <a:latin typeface="Klein"/>
                <a:ea typeface="Klein"/>
                <a:cs typeface="Klein"/>
                <a:sym typeface="Klein"/>
              </a:rPr>
              <a:t>Data penduduk: Jumlah penduduk, kepadatan, laju pertumbuhan, rasio jenis kelamin (BPS DKI Jakarta, 2024)</a:t>
            </a:r>
          </a:p>
          <a:p>
            <a:pPr algn="l" marL="485665" indent="-242832" lvl="1">
              <a:lnSpc>
                <a:spcPts val="3486"/>
              </a:lnSpc>
              <a:buFont typeface="Arial"/>
              <a:buChar char="•"/>
            </a:pPr>
            <a:r>
              <a:rPr lang="en-US" sz="2249" spc="155">
                <a:solidFill>
                  <a:srgbClr val="000001"/>
                </a:solidFill>
                <a:latin typeface="Klein"/>
                <a:ea typeface="Klein"/>
                <a:cs typeface="Klein"/>
                <a:sym typeface="Klein"/>
              </a:rPr>
              <a:t>Alasan penting secara spasial:</a:t>
            </a:r>
          </a:p>
          <a:p>
            <a:pPr algn="l" marL="971329" indent="-323776" lvl="2">
              <a:lnSpc>
                <a:spcPts val="3486"/>
              </a:lnSpc>
              <a:buFont typeface="Arial"/>
              <a:buChar char="⚬"/>
            </a:pPr>
            <a:r>
              <a:rPr lang="en-US" sz="2249" spc="155">
                <a:solidFill>
                  <a:srgbClr val="000001"/>
                </a:solidFill>
                <a:latin typeface="Klein"/>
                <a:ea typeface="Klein"/>
                <a:cs typeface="Klein"/>
                <a:sym typeface="Klein"/>
              </a:rPr>
              <a:t>Memahami pola distribusi banjir.</a:t>
            </a:r>
          </a:p>
          <a:p>
            <a:pPr algn="l" marL="971329" indent="-323776" lvl="2">
              <a:lnSpc>
                <a:spcPts val="3486"/>
              </a:lnSpc>
              <a:buFont typeface="Arial"/>
              <a:buChar char="⚬"/>
            </a:pPr>
            <a:r>
              <a:rPr lang="en-US" sz="2249" spc="155">
                <a:solidFill>
                  <a:srgbClr val="000001"/>
                </a:solidFill>
                <a:latin typeface="Klein"/>
                <a:ea typeface="Klein"/>
                <a:cs typeface="Klein"/>
                <a:sym typeface="Klein"/>
              </a:rPr>
              <a:t>Mengidentifikasi hubungan antara jumlah kejadian banjir dan karakteristik penduduk.</a:t>
            </a:r>
          </a:p>
          <a:p>
            <a:pPr algn="l" marL="971329" indent="-323776" lvl="2">
              <a:lnSpc>
                <a:spcPts val="3486"/>
              </a:lnSpc>
              <a:buFont typeface="Arial"/>
              <a:buChar char="⚬"/>
            </a:pPr>
            <a:r>
              <a:rPr lang="en-US" sz="2249" spc="155">
                <a:solidFill>
                  <a:srgbClr val="000001"/>
                </a:solidFill>
                <a:latin typeface="Klein"/>
                <a:ea typeface="Klein"/>
                <a:cs typeface="Klein"/>
                <a:sym typeface="Klein"/>
              </a:rPr>
              <a:t>Memberikan informasi dasar untuk perencanaan mitigasi bencana.</a:t>
            </a:r>
          </a:p>
          <a:p>
            <a:pPr algn="l">
              <a:lnSpc>
                <a:spcPts val="3486"/>
              </a:lnSpc>
            </a:pPr>
          </a:p>
        </p:txBody>
      </p:sp>
      <p:sp>
        <p:nvSpPr>
          <p:cNvPr name="TextBox 12" id="12"/>
          <p:cNvSpPr txBox="true"/>
          <p:nvPr/>
        </p:nvSpPr>
        <p:spPr>
          <a:xfrm rot="0">
            <a:off x="-170640" y="781050"/>
            <a:ext cx="6778364" cy="1244600"/>
          </a:xfrm>
          <a:prstGeom prst="rect">
            <a:avLst/>
          </a:prstGeom>
        </p:spPr>
        <p:txBody>
          <a:bodyPr anchor="t" rtlCol="false" tIns="0" lIns="0" bIns="0" rIns="0">
            <a:spAutoFit/>
          </a:bodyPr>
          <a:lstStyle/>
          <a:p>
            <a:pPr algn="ctr">
              <a:lnSpc>
                <a:spcPts val="5199"/>
              </a:lnSpc>
              <a:spcBef>
                <a:spcPct val="0"/>
              </a:spcBef>
            </a:pPr>
            <a:r>
              <a:rPr lang="en-US" sz="3999">
                <a:solidFill>
                  <a:srgbClr val="000001"/>
                </a:solidFill>
                <a:latin typeface="Sergio Trendy"/>
                <a:ea typeface="Sergio Trendy"/>
                <a:cs typeface="Sergio Trendy"/>
                <a:sym typeface="Sergio Trendy"/>
              </a:rPr>
              <a:t>Latar Belakang Permasalahan</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CF83"/>
        </a:solidFill>
      </p:bgPr>
    </p:bg>
    <p:spTree>
      <p:nvGrpSpPr>
        <p:cNvPr id="1" name=""/>
        <p:cNvGrpSpPr/>
        <p:nvPr/>
      </p:nvGrpSpPr>
      <p:grpSpPr>
        <a:xfrm>
          <a:off x="0" y="0"/>
          <a:ext cx="0" cy="0"/>
          <a:chOff x="0" y="0"/>
          <a:chExt cx="0" cy="0"/>
        </a:xfrm>
      </p:grpSpPr>
      <p:grpSp>
        <p:nvGrpSpPr>
          <p:cNvPr name="Group 2" id="2"/>
          <p:cNvGrpSpPr/>
          <p:nvPr/>
        </p:nvGrpSpPr>
        <p:grpSpPr>
          <a:xfrm rot="0">
            <a:off x="-476250" y="-190500"/>
            <a:ext cx="19240500" cy="2381250"/>
            <a:chOff x="0" y="0"/>
            <a:chExt cx="25654000" cy="3175000"/>
          </a:xfrm>
        </p:grpSpPr>
        <p:grpSp>
          <p:nvGrpSpPr>
            <p:cNvPr name="Group 3" id="3"/>
            <p:cNvGrpSpPr/>
            <p:nvPr/>
          </p:nvGrpSpPr>
          <p:grpSpPr>
            <a:xfrm rot="0">
              <a:off x="0" y="0"/>
              <a:ext cx="25654000" cy="2984500"/>
              <a:chOff x="0" y="0"/>
              <a:chExt cx="5067457" cy="589531"/>
            </a:xfrm>
          </p:grpSpPr>
          <p:sp>
            <p:nvSpPr>
              <p:cNvPr name="Freeform 4" id="4"/>
              <p:cNvSpPr/>
              <p:nvPr/>
            </p:nvSpPr>
            <p:spPr>
              <a:xfrm flipH="false" flipV="false" rot="0">
                <a:off x="0" y="0"/>
                <a:ext cx="5067457" cy="589531"/>
              </a:xfrm>
              <a:custGeom>
                <a:avLst/>
                <a:gdLst/>
                <a:ahLst/>
                <a:cxnLst/>
                <a:rect r="r" b="b" t="t" l="l"/>
                <a:pathLst>
                  <a:path h="589531" w="5067457">
                    <a:moveTo>
                      <a:pt x="0" y="0"/>
                    </a:moveTo>
                    <a:lnTo>
                      <a:pt x="5067457" y="0"/>
                    </a:lnTo>
                    <a:lnTo>
                      <a:pt x="5067457" y="589531"/>
                    </a:lnTo>
                    <a:lnTo>
                      <a:pt x="0" y="589531"/>
                    </a:lnTo>
                    <a:close/>
                  </a:path>
                </a:pathLst>
              </a:custGeom>
              <a:solidFill>
                <a:srgbClr val="97D4E8"/>
              </a:solidFill>
              <a:ln cap="sq">
                <a:noFill/>
                <a:prstDash val="solid"/>
                <a:miter/>
              </a:ln>
            </p:spPr>
          </p:sp>
          <p:sp>
            <p:nvSpPr>
              <p:cNvPr name="TextBox 5" id="5"/>
              <p:cNvSpPr txBox="true"/>
              <p:nvPr/>
            </p:nvSpPr>
            <p:spPr>
              <a:xfrm>
                <a:off x="0" y="-19050"/>
                <a:ext cx="5067457" cy="608581"/>
              </a:xfrm>
              <a:prstGeom prst="rect">
                <a:avLst/>
              </a:prstGeom>
            </p:spPr>
            <p:txBody>
              <a:bodyPr anchor="ctr" rtlCol="false" tIns="50800" lIns="50800" bIns="50800" rIns="50800"/>
              <a:lstStyle/>
              <a:p>
                <a:pPr algn="ctr" marL="0" indent="0" lvl="0">
                  <a:lnSpc>
                    <a:spcPts val="2080"/>
                  </a:lnSpc>
                  <a:spcBef>
                    <a:spcPct val="0"/>
                  </a:spcBef>
                </a:pPr>
              </a:p>
            </p:txBody>
          </p:sp>
        </p:grpSp>
        <p:grpSp>
          <p:nvGrpSpPr>
            <p:cNvPr name="Group 6" id="6"/>
            <p:cNvGrpSpPr/>
            <p:nvPr/>
          </p:nvGrpSpPr>
          <p:grpSpPr>
            <a:xfrm rot="0">
              <a:off x="0" y="2921000"/>
              <a:ext cx="25654000" cy="254000"/>
              <a:chOff x="0" y="0"/>
              <a:chExt cx="5067457" cy="50173"/>
            </a:xfrm>
          </p:grpSpPr>
          <p:sp>
            <p:nvSpPr>
              <p:cNvPr name="Freeform 7" id="7"/>
              <p:cNvSpPr/>
              <p:nvPr/>
            </p:nvSpPr>
            <p:spPr>
              <a:xfrm flipH="false" flipV="false" rot="0">
                <a:off x="0" y="0"/>
                <a:ext cx="5067457" cy="50173"/>
              </a:xfrm>
              <a:custGeom>
                <a:avLst/>
                <a:gdLst/>
                <a:ahLst/>
                <a:cxnLst/>
                <a:rect r="r" b="b" t="t" l="l"/>
                <a:pathLst>
                  <a:path h="50173" w="5067457">
                    <a:moveTo>
                      <a:pt x="0" y="0"/>
                    </a:moveTo>
                    <a:lnTo>
                      <a:pt x="5067457" y="0"/>
                    </a:lnTo>
                    <a:lnTo>
                      <a:pt x="5067457" y="50173"/>
                    </a:lnTo>
                    <a:lnTo>
                      <a:pt x="0" y="50173"/>
                    </a:lnTo>
                    <a:close/>
                  </a:path>
                </a:pathLst>
              </a:custGeom>
              <a:solidFill>
                <a:srgbClr val="FFC05C"/>
              </a:solidFill>
              <a:ln cap="sq">
                <a:noFill/>
                <a:prstDash val="solid"/>
                <a:miter/>
              </a:ln>
            </p:spPr>
          </p:sp>
          <p:sp>
            <p:nvSpPr>
              <p:cNvPr name="TextBox 8" id="8"/>
              <p:cNvSpPr txBox="true"/>
              <p:nvPr/>
            </p:nvSpPr>
            <p:spPr>
              <a:xfrm>
                <a:off x="0" y="-19050"/>
                <a:ext cx="5067457" cy="69223"/>
              </a:xfrm>
              <a:prstGeom prst="rect">
                <a:avLst/>
              </a:prstGeom>
            </p:spPr>
            <p:txBody>
              <a:bodyPr anchor="ctr" rtlCol="false" tIns="50800" lIns="50800" bIns="50800" rIns="50800"/>
              <a:lstStyle/>
              <a:p>
                <a:pPr algn="ctr" marL="0" indent="0" lvl="0">
                  <a:lnSpc>
                    <a:spcPts val="2080"/>
                  </a:lnSpc>
                  <a:spcBef>
                    <a:spcPct val="0"/>
                  </a:spcBef>
                </a:pPr>
              </a:p>
            </p:txBody>
          </p:sp>
        </p:grpSp>
      </p:grpSp>
      <p:grpSp>
        <p:nvGrpSpPr>
          <p:cNvPr name="Group 9" id="9"/>
          <p:cNvGrpSpPr/>
          <p:nvPr/>
        </p:nvGrpSpPr>
        <p:grpSpPr>
          <a:xfrm rot="0">
            <a:off x="3222670" y="616003"/>
            <a:ext cx="11842660" cy="917522"/>
            <a:chOff x="0" y="0"/>
            <a:chExt cx="15790214" cy="1223363"/>
          </a:xfrm>
        </p:grpSpPr>
        <p:grpSp>
          <p:nvGrpSpPr>
            <p:cNvPr name="Group 10" id="10"/>
            <p:cNvGrpSpPr/>
            <p:nvPr/>
          </p:nvGrpSpPr>
          <p:grpSpPr>
            <a:xfrm rot="0">
              <a:off x="211240" y="207363"/>
              <a:ext cx="15578974" cy="1016000"/>
              <a:chOff x="0" y="0"/>
              <a:chExt cx="2198092" cy="143351"/>
            </a:xfrm>
          </p:grpSpPr>
          <p:sp>
            <p:nvSpPr>
              <p:cNvPr name="Freeform 11" id="11"/>
              <p:cNvSpPr/>
              <p:nvPr/>
            </p:nvSpPr>
            <p:spPr>
              <a:xfrm flipH="false" flipV="false" rot="0">
                <a:off x="0" y="0"/>
                <a:ext cx="2198092" cy="143351"/>
              </a:xfrm>
              <a:custGeom>
                <a:avLst/>
                <a:gdLst/>
                <a:ahLst/>
                <a:cxnLst/>
                <a:rect r="r" b="b" t="t" l="l"/>
                <a:pathLst>
                  <a:path h="143351" w="2198092">
                    <a:moveTo>
                      <a:pt x="33792" y="0"/>
                    </a:moveTo>
                    <a:lnTo>
                      <a:pt x="2164299" y="0"/>
                    </a:lnTo>
                    <a:cubicBezTo>
                      <a:pt x="2173262" y="0"/>
                      <a:pt x="2181857" y="3560"/>
                      <a:pt x="2188194" y="9898"/>
                    </a:cubicBezTo>
                    <a:cubicBezTo>
                      <a:pt x="2194531" y="16235"/>
                      <a:pt x="2198092" y="24830"/>
                      <a:pt x="2198092" y="33792"/>
                    </a:cubicBezTo>
                    <a:lnTo>
                      <a:pt x="2198092" y="109559"/>
                    </a:lnTo>
                    <a:cubicBezTo>
                      <a:pt x="2198092" y="118521"/>
                      <a:pt x="2194531" y="127116"/>
                      <a:pt x="2188194" y="133453"/>
                    </a:cubicBezTo>
                    <a:cubicBezTo>
                      <a:pt x="2181857" y="139791"/>
                      <a:pt x="2173262" y="143351"/>
                      <a:pt x="2164299" y="143351"/>
                    </a:cubicBezTo>
                    <a:lnTo>
                      <a:pt x="33792" y="143351"/>
                    </a:lnTo>
                    <a:cubicBezTo>
                      <a:pt x="24830" y="143351"/>
                      <a:pt x="16235" y="139791"/>
                      <a:pt x="9898" y="133453"/>
                    </a:cubicBezTo>
                    <a:cubicBezTo>
                      <a:pt x="3560" y="127116"/>
                      <a:pt x="0" y="118521"/>
                      <a:pt x="0" y="109559"/>
                    </a:cubicBezTo>
                    <a:lnTo>
                      <a:pt x="0" y="33792"/>
                    </a:lnTo>
                    <a:cubicBezTo>
                      <a:pt x="0" y="24830"/>
                      <a:pt x="3560" y="16235"/>
                      <a:pt x="9898" y="9898"/>
                    </a:cubicBezTo>
                    <a:cubicBezTo>
                      <a:pt x="16235" y="3560"/>
                      <a:pt x="24830" y="0"/>
                      <a:pt x="33792" y="0"/>
                    </a:cubicBezTo>
                    <a:close/>
                  </a:path>
                </a:pathLst>
              </a:custGeom>
              <a:solidFill>
                <a:srgbClr val="38ABD1"/>
              </a:solidFill>
              <a:ln cap="rnd">
                <a:noFill/>
                <a:prstDash val="solid"/>
                <a:round/>
              </a:ln>
            </p:spPr>
          </p:sp>
          <p:sp>
            <p:nvSpPr>
              <p:cNvPr name="TextBox 12" id="12"/>
              <p:cNvSpPr txBox="true"/>
              <p:nvPr/>
            </p:nvSpPr>
            <p:spPr>
              <a:xfrm>
                <a:off x="0" y="-19050"/>
                <a:ext cx="2198092" cy="162401"/>
              </a:xfrm>
              <a:prstGeom prst="rect">
                <a:avLst/>
              </a:prstGeom>
            </p:spPr>
            <p:txBody>
              <a:bodyPr anchor="ctr" rtlCol="false" tIns="50800" lIns="50800" bIns="50800" rIns="50800"/>
              <a:lstStyle/>
              <a:p>
                <a:pPr algn="ctr" marL="0" indent="0" lvl="0">
                  <a:lnSpc>
                    <a:spcPts val="2080"/>
                  </a:lnSpc>
                  <a:spcBef>
                    <a:spcPct val="0"/>
                  </a:spcBef>
                </a:pPr>
              </a:p>
            </p:txBody>
          </p:sp>
        </p:grpSp>
        <p:grpSp>
          <p:nvGrpSpPr>
            <p:cNvPr name="Group 13" id="13"/>
            <p:cNvGrpSpPr/>
            <p:nvPr/>
          </p:nvGrpSpPr>
          <p:grpSpPr>
            <a:xfrm rot="0">
              <a:off x="0" y="0"/>
              <a:ext cx="15578974" cy="1057546"/>
              <a:chOff x="0" y="0"/>
              <a:chExt cx="2198092" cy="149213"/>
            </a:xfrm>
          </p:grpSpPr>
          <p:sp>
            <p:nvSpPr>
              <p:cNvPr name="Freeform 14" id="14"/>
              <p:cNvSpPr/>
              <p:nvPr/>
            </p:nvSpPr>
            <p:spPr>
              <a:xfrm flipH="false" flipV="false" rot="0">
                <a:off x="0" y="0"/>
                <a:ext cx="2198092" cy="149213"/>
              </a:xfrm>
              <a:custGeom>
                <a:avLst/>
                <a:gdLst/>
                <a:ahLst/>
                <a:cxnLst/>
                <a:rect r="r" b="b" t="t" l="l"/>
                <a:pathLst>
                  <a:path h="149213" w="2198092">
                    <a:moveTo>
                      <a:pt x="33792" y="0"/>
                    </a:moveTo>
                    <a:lnTo>
                      <a:pt x="2164299" y="0"/>
                    </a:lnTo>
                    <a:cubicBezTo>
                      <a:pt x="2173262" y="0"/>
                      <a:pt x="2181857" y="3560"/>
                      <a:pt x="2188194" y="9898"/>
                    </a:cubicBezTo>
                    <a:cubicBezTo>
                      <a:pt x="2194531" y="16235"/>
                      <a:pt x="2198092" y="24830"/>
                      <a:pt x="2198092" y="33792"/>
                    </a:cubicBezTo>
                    <a:lnTo>
                      <a:pt x="2198092" y="115420"/>
                    </a:lnTo>
                    <a:cubicBezTo>
                      <a:pt x="2198092" y="124383"/>
                      <a:pt x="2194531" y="132978"/>
                      <a:pt x="2188194" y="139315"/>
                    </a:cubicBezTo>
                    <a:cubicBezTo>
                      <a:pt x="2181857" y="145653"/>
                      <a:pt x="2173262" y="149213"/>
                      <a:pt x="2164299" y="149213"/>
                    </a:cubicBezTo>
                    <a:lnTo>
                      <a:pt x="33792" y="149213"/>
                    </a:lnTo>
                    <a:cubicBezTo>
                      <a:pt x="24830" y="149213"/>
                      <a:pt x="16235" y="145653"/>
                      <a:pt x="9898" y="139315"/>
                    </a:cubicBezTo>
                    <a:cubicBezTo>
                      <a:pt x="3560" y="132978"/>
                      <a:pt x="0" y="124383"/>
                      <a:pt x="0" y="115420"/>
                    </a:cubicBezTo>
                    <a:lnTo>
                      <a:pt x="0" y="33792"/>
                    </a:lnTo>
                    <a:cubicBezTo>
                      <a:pt x="0" y="24830"/>
                      <a:pt x="3560" y="16235"/>
                      <a:pt x="9898" y="9898"/>
                    </a:cubicBezTo>
                    <a:cubicBezTo>
                      <a:pt x="16235" y="3560"/>
                      <a:pt x="24830" y="0"/>
                      <a:pt x="33792" y="0"/>
                    </a:cubicBezTo>
                    <a:close/>
                  </a:path>
                </a:pathLst>
              </a:custGeom>
              <a:solidFill>
                <a:srgbClr val="FFFFFF"/>
              </a:solidFill>
            </p:spPr>
          </p:sp>
          <p:sp>
            <p:nvSpPr>
              <p:cNvPr name="TextBox 15" id="15"/>
              <p:cNvSpPr txBox="true"/>
              <p:nvPr/>
            </p:nvSpPr>
            <p:spPr>
              <a:xfrm>
                <a:off x="0" y="-38100"/>
                <a:ext cx="2198092" cy="187313"/>
              </a:xfrm>
              <a:prstGeom prst="rect">
                <a:avLst/>
              </a:prstGeom>
            </p:spPr>
            <p:txBody>
              <a:bodyPr anchor="ctr" rtlCol="false" tIns="50800" lIns="50800" bIns="50800" rIns="50800"/>
              <a:lstStyle/>
              <a:p>
                <a:pPr algn="ctr">
                  <a:lnSpc>
                    <a:spcPts val="4549"/>
                  </a:lnSpc>
                </a:pPr>
                <a:r>
                  <a:rPr lang="en-US" b="true" sz="3499">
                    <a:solidFill>
                      <a:srgbClr val="000001"/>
                    </a:solidFill>
                    <a:latin typeface="Klein Bold"/>
                    <a:ea typeface="Klein Bold"/>
                    <a:cs typeface="Klein Bold"/>
                    <a:sym typeface="Klein Bold"/>
                  </a:rPr>
                  <a:t>Rumus</a:t>
                </a:r>
                <a:r>
                  <a:rPr lang="en-US" b="true" sz="3499">
                    <a:solidFill>
                      <a:srgbClr val="000001"/>
                    </a:solidFill>
                    <a:latin typeface="Klein Bold"/>
                    <a:ea typeface="Klein Bold"/>
                    <a:cs typeface="Klein Bold"/>
                    <a:sym typeface="Klein Bold"/>
                  </a:rPr>
                  <a:t>an Masalah</a:t>
                </a:r>
              </a:p>
            </p:txBody>
          </p:sp>
        </p:grpSp>
      </p:grpSp>
      <p:grpSp>
        <p:nvGrpSpPr>
          <p:cNvPr name="Group 16" id="16"/>
          <p:cNvGrpSpPr/>
          <p:nvPr/>
        </p:nvGrpSpPr>
        <p:grpSpPr>
          <a:xfrm rot="0">
            <a:off x="6991576" y="2794203"/>
            <a:ext cx="10651620" cy="6961885"/>
            <a:chOff x="0" y="0"/>
            <a:chExt cx="14202160" cy="9282513"/>
          </a:xfrm>
        </p:grpSpPr>
        <p:grpSp>
          <p:nvGrpSpPr>
            <p:cNvPr name="Group 17" id="17"/>
            <p:cNvGrpSpPr/>
            <p:nvPr/>
          </p:nvGrpSpPr>
          <p:grpSpPr>
            <a:xfrm rot="0">
              <a:off x="5216568" y="203200"/>
              <a:ext cx="8985592" cy="3302000"/>
              <a:chOff x="0" y="0"/>
              <a:chExt cx="1267808" cy="465891"/>
            </a:xfrm>
          </p:grpSpPr>
          <p:sp>
            <p:nvSpPr>
              <p:cNvPr name="Freeform 18" id="18"/>
              <p:cNvSpPr/>
              <p:nvPr/>
            </p:nvSpPr>
            <p:spPr>
              <a:xfrm flipH="false" flipV="false" rot="0">
                <a:off x="0" y="0"/>
                <a:ext cx="1267808" cy="465891"/>
              </a:xfrm>
              <a:custGeom>
                <a:avLst/>
                <a:gdLst/>
                <a:ahLst/>
                <a:cxnLst/>
                <a:rect r="r" b="b" t="t" l="l"/>
                <a:pathLst>
                  <a:path h="465891" w="1267808">
                    <a:moveTo>
                      <a:pt x="57440" y="0"/>
                    </a:moveTo>
                    <a:lnTo>
                      <a:pt x="1210369" y="0"/>
                    </a:lnTo>
                    <a:cubicBezTo>
                      <a:pt x="1242092" y="0"/>
                      <a:pt x="1267808" y="25717"/>
                      <a:pt x="1267808" y="57440"/>
                    </a:cubicBezTo>
                    <a:lnTo>
                      <a:pt x="1267808" y="408451"/>
                    </a:lnTo>
                    <a:cubicBezTo>
                      <a:pt x="1267808" y="440174"/>
                      <a:pt x="1242092" y="465891"/>
                      <a:pt x="1210369" y="465891"/>
                    </a:cubicBezTo>
                    <a:lnTo>
                      <a:pt x="57440" y="465891"/>
                    </a:lnTo>
                    <a:cubicBezTo>
                      <a:pt x="25717" y="465891"/>
                      <a:pt x="0" y="440174"/>
                      <a:pt x="0" y="408451"/>
                    </a:cubicBezTo>
                    <a:lnTo>
                      <a:pt x="0" y="57440"/>
                    </a:lnTo>
                    <a:cubicBezTo>
                      <a:pt x="0" y="25717"/>
                      <a:pt x="25717" y="0"/>
                      <a:pt x="57440" y="0"/>
                    </a:cubicBezTo>
                    <a:close/>
                  </a:path>
                </a:pathLst>
              </a:custGeom>
              <a:solidFill>
                <a:srgbClr val="FFC05C"/>
              </a:solidFill>
              <a:ln cap="rnd">
                <a:noFill/>
                <a:prstDash val="solid"/>
                <a:round/>
              </a:ln>
            </p:spPr>
          </p:sp>
          <p:sp>
            <p:nvSpPr>
              <p:cNvPr name="TextBox 19" id="19"/>
              <p:cNvSpPr txBox="true"/>
              <p:nvPr/>
            </p:nvSpPr>
            <p:spPr>
              <a:xfrm>
                <a:off x="0" y="-38100"/>
                <a:ext cx="1267808" cy="503991"/>
              </a:xfrm>
              <a:prstGeom prst="rect">
                <a:avLst/>
              </a:prstGeom>
            </p:spPr>
            <p:txBody>
              <a:bodyPr anchor="ctr" rtlCol="false" tIns="254000" lIns="254000" bIns="254000" rIns="254000"/>
              <a:lstStyle/>
              <a:p>
                <a:pPr algn="ctr" marL="0" indent="0" lvl="0">
                  <a:lnSpc>
                    <a:spcPts val="3380"/>
                  </a:lnSpc>
                  <a:spcBef>
                    <a:spcPct val="0"/>
                  </a:spcBef>
                </a:pPr>
              </a:p>
            </p:txBody>
          </p:sp>
        </p:grpSp>
        <p:grpSp>
          <p:nvGrpSpPr>
            <p:cNvPr name="Group 20" id="20"/>
            <p:cNvGrpSpPr/>
            <p:nvPr/>
          </p:nvGrpSpPr>
          <p:grpSpPr>
            <a:xfrm rot="0">
              <a:off x="0" y="0"/>
              <a:ext cx="13990735" cy="9282513"/>
              <a:chOff x="0" y="0"/>
              <a:chExt cx="1974001" cy="1309702"/>
            </a:xfrm>
          </p:grpSpPr>
          <p:sp>
            <p:nvSpPr>
              <p:cNvPr name="Freeform 21" id="21"/>
              <p:cNvSpPr/>
              <p:nvPr/>
            </p:nvSpPr>
            <p:spPr>
              <a:xfrm flipH="false" flipV="false" rot="0">
                <a:off x="0" y="0"/>
                <a:ext cx="1974001" cy="1309702"/>
              </a:xfrm>
              <a:custGeom>
                <a:avLst/>
                <a:gdLst/>
                <a:ahLst/>
                <a:cxnLst/>
                <a:rect r="r" b="b" t="t" l="l"/>
                <a:pathLst>
                  <a:path h="1309702" w="1974001">
                    <a:moveTo>
                      <a:pt x="36891" y="0"/>
                    </a:moveTo>
                    <a:lnTo>
                      <a:pt x="1937111" y="0"/>
                    </a:lnTo>
                    <a:cubicBezTo>
                      <a:pt x="1946895" y="0"/>
                      <a:pt x="1956278" y="3887"/>
                      <a:pt x="1963196" y="10805"/>
                    </a:cubicBezTo>
                    <a:cubicBezTo>
                      <a:pt x="1970115" y="17723"/>
                      <a:pt x="1974001" y="27107"/>
                      <a:pt x="1974001" y="36891"/>
                    </a:cubicBezTo>
                    <a:lnTo>
                      <a:pt x="1974001" y="1272811"/>
                    </a:lnTo>
                    <a:cubicBezTo>
                      <a:pt x="1974001" y="1282595"/>
                      <a:pt x="1970115" y="1291979"/>
                      <a:pt x="1963196" y="1298897"/>
                    </a:cubicBezTo>
                    <a:cubicBezTo>
                      <a:pt x="1956278" y="1305815"/>
                      <a:pt x="1946895" y="1309702"/>
                      <a:pt x="1937111" y="1309702"/>
                    </a:cubicBezTo>
                    <a:lnTo>
                      <a:pt x="36891" y="1309702"/>
                    </a:lnTo>
                    <a:cubicBezTo>
                      <a:pt x="27107" y="1309702"/>
                      <a:pt x="17723" y="1305815"/>
                      <a:pt x="10805" y="1298897"/>
                    </a:cubicBezTo>
                    <a:cubicBezTo>
                      <a:pt x="3887" y="1291979"/>
                      <a:pt x="0" y="1282595"/>
                      <a:pt x="0" y="1272811"/>
                    </a:cubicBezTo>
                    <a:lnTo>
                      <a:pt x="0" y="36891"/>
                    </a:lnTo>
                    <a:cubicBezTo>
                      <a:pt x="0" y="27107"/>
                      <a:pt x="3887" y="17723"/>
                      <a:pt x="10805" y="10805"/>
                    </a:cubicBezTo>
                    <a:cubicBezTo>
                      <a:pt x="17723" y="3887"/>
                      <a:pt x="27107" y="0"/>
                      <a:pt x="36891" y="0"/>
                    </a:cubicBezTo>
                    <a:close/>
                  </a:path>
                </a:pathLst>
              </a:custGeom>
              <a:solidFill>
                <a:srgbClr val="FFFFFF"/>
              </a:solidFill>
            </p:spPr>
          </p:sp>
          <p:sp>
            <p:nvSpPr>
              <p:cNvPr name="TextBox 22" id="22"/>
              <p:cNvSpPr txBox="true"/>
              <p:nvPr/>
            </p:nvSpPr>
            <p:spPr>
              <a:xfrm>
                <a:off x="0" y="-133350"/>
                <a:ext cx="1974001" cy="1443052"/>
              </a:xfrm>
              <a:prstGeom prst="rect">
                <a:avLst/>
              </a:prstGeom>
            </p:spPr>
            <p:txBody>
              <a:bodyPr anchor="ctr" rtlCol="false" tIns="254000" lIns="254000" bIns="254000" rIns="254000"/>
              <a:lstStyle/>
              <a:p>
                <a:pPr algn="just" marL="496569" indent="-248284" lvl="1">
                  <a:lnSpc>
                    <a:spcPts val="4001"/>
                  </a:lnSpc>
                  <a:buAutoNum type="arabicPeriod" startAt="1"/>
                </a:pPr>
                <a:r>
                  <a:rPr lang="en-US" sz="2299" spc="158">
                    <a:solidFill>
                      <a:srgbClr val="000001"/>
                    </a:solidFill>
                    <a:latin typeface="Klein"/>
                    <a:ea typeface="Klein"/>
                    <a:cs typeface="Klein"/>
                    <a:sym typeface="Klein"/>
                  </a:rPr>
                  <a:t>Bagaimana karakteristik spasial banjir di DKI Jakarta pada tahun 2024?</a:t>
                </a:r>
              </a:p>
              <a:p>
                <a:pPr algn="just" marL="496569" indent="-248284" lvl="1">
                  <a:lnSpc>
                    <a:spcPts val="4001"/>
                  </a:lnSpc>
                  <a:buAutoNum type="arabicPeriod" startAt="1"/>
                </a:pPr>
                <a:r>
                  <a:rPr lang="en-US" sz="2299" spc="158">
                    <a:solidFill>
                      <a:srgbClr val="000001"/>
                    </a:solidFill>
                    <a:latin typeface="Klein"/>
                    <a:ea typeface="Klein"/>
                    <a:cs typeface="Klein"/>
                    <a:sym typeface="Klein"/>
                  </a:rPr>
                  <a:t>Apakah distribusi titik banjir membentuk pola cluster, random, atau teratur?</a:t>
                </a:r>
              </a:p>
              <a:p>
                <a:pPr algn="just" marL="496569" indent="-248284" lvl="1">
                  <a:lnSpc>
                    <a:spcPts val="4001"/>
                  </a:lnSpc>
                  <a:buAutoNum type="arabicPeriod" startAt="1"/>
                </a:pPr>
                <a:r>
                  <a:rPr lang="en-US" sz="2299" spc="158">
                    <a:solidFill>
                      <a:srgbClr val="000001"/>
                    </a:solidFill>
                    <a:latin typeface="Klein"/>
                    <a:ea typeface="Klein"/>
                    <a:cs typeface="Klein"/>
                    <a:sym typeface="Klein"/>
                  </a:rPr>
                  <a:t>Apakah terdapat autokorelasi spasial antara jumlah banjir dan kepadatan penduduk/kota?</a:t>
                </a:r>
              </a:p>
              <a:p>
                <a:pPr algn="just" marL="496569" indent="-248284" lvl="1">
                  <a:lnSpc>
                    <a:spcPts val="4001"/>
                  </a:lnSpc>
                  <a:buAutoNum type="arabicPeriod" startAt="1"/>
                </a:pPr>
                <a:r>
                  <a:rPr lang="en-US" sz="2299" spc="158">
                    <a:solidFill>
                      <a:srgbClr val="000001"/>
                    </a:solidFill>
                    <a:latin typeface="Klein"/>
                    <a:ea typeface="Klein"/>
                    <a:cs typeface="Klein"/>
                    <a:sym typeface="Klein"/>
                  </a:rPr>
                  <a:t>Faktor apa yang memengaruhi variasi spasial jumlah kejadian banjir di tiap kota/kabupaten?</a:t>
                </a:r>
              </a:p>
              <a:p>
                <a:pPr algn="just" marL="496569" indent="-248284" lvl="1">
                  <a:lnSpc>
                    <a:spcPts val="4001"/>
                  </a:lnSpc>
                  <a:buAutoNum type="arabicPeriod" startAt="1"/>
                </a:pPr>
                <a:r>
                  <a:rPr lang="en-US" sz="2299" spc="158">
                    <a:solidFill>
                      <a:srgbClr val="000001"/>
                    </a:solidFill>
                    <a:latin typeface="Klein"/>
                    <a:ea typeface="Klein"/>
                    <a:cs typeface="Klein"/>
                    <a:sym typeface="Klein"/>
                  </a:rPr>
                  <a:t>Dapatkah model regresi spasial memprediksi area rawan banjir berdasarkan karakteristik penduduk?</a:t>
                </a:r>
              </a:p>
            </p:txBody>
          </p:sp>
        </p:grpSp>
      </p:grpSp>
      <p:grpSp>
        <p:nvGrpSpPr>
          <p:cNvPr name="Group 23" id="23"/>
          <p:cNvGrpSpPr/>
          <p:nvPr/>
        </p:nvGrpSpPr>
        <p:grpSpPr>
          <a:xfrm rot="0">
            <a:off x="2905378" y="8444215"/>
            <a:ext cx="1019040" cy="1019040"/>
            <a:chOff x="0" y="0"/>
            <a:chExt cx="1358720" cy="1358720"/>
          </a:xfrm>
        </p:grpSpPr>
        <p:grpSp>
          <p:nvGrpSpPr>
            <p:cNvPr name="Group 24" id="24"/>
            <p:cNvGrpSpPr/>
            <p:nvPr/>
          </p:nvGrpSpPr>
          <p:grpSpPr>
            <a:xfrm rot="0">
              <a:off x="139356" y="139356"/>
              <a:ext cx="1219364" cy="1219364"/>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FC05C"/>
              </a:solidFill>
              <a:ln cap="rnd">
                <a:noFill/>
                <a:prstDash val="solid"/>
                <a:round/>
              </a:ln>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marL="0" indent="0" lvl="0">
                  <a:lnSpc>
                    <a:spcPts val="3380"/>
                  </a:lnSpc>
                  <a:spcBef>
                    <a:spcPct val="0"/>
                  </a:spcBef>
                </a:pPr>
              </a:p>
            </p:txBody>
          </p:sp>
        </p:grpSp>
        <p:sp>
          <p:nvSpPr>
            <p:cNvPr name="Freeform 27" id="27"/>
            <p:cNvSpPr/>
            <p:nvPr/>
          </p:nvSpPr>
          <p:spPr>
            <a:xfrm flipH="false" flipV="false" rot="0">
              <a:off x="0" y="0"/>
              <a:ext cx="1219364" cy="1219364"/>
            </a:xfrm>
            <a:custGeom>
              <a:avLst/>
              <a:gdLst/>
              <a:ahLst/>
              <a:cxnLst/>
              <a:rect r="r" b="b" t="t" l="l"/>
              <a:pathLst>
                <a:path h="1219364" w="1219364">
                  <a:moveTo>
                    <a:pt x="0" y="0"/>
                  </a:moveTo>
                  <a:lnTo>
                    <a:pt x="1219364" y="0"/>
                  </a:lnTo>
                  <a:lnTo>
                    <a:pt x="1219364" y="1219364"/>
                  </a:lnTo>
                  <a:lnTo>
                    <a:pt x="0" y="12193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28" id="28"/>
          <p:cNvGrpSpPr/>
          <p:nvPr/>
        </p:nvGrpSpPr>
        <p:grpSpPr>
          <a:xfrm rot="0">
            <a:off x="699696" y="2794203"/>
            <a:ext cx="5430406" cy="5430406"/>
            <a:chOff x="0" y="0"/>
            <a:chExt cx="7240541" cy="7240541"/>
          </a:xfrm>
        </p:grpSpPr>
        <p:grpSp>
          <p:nvGrpSpPr>
            <p:cNvPr name="Group 29" id="29"/>
            <p:cNvGrpSpPr/>
            <p:nvPr/>
          </p:nvGrpSpPr>
          <p:grpSpPr>
            <a:xfrm rot="0">
              <a:off x="161800" y="161800"/>
              <a:ext cx="7078741" cy="7078741"/>
              <a:chOff x="0" y="0"/>
              <a:chExt cx="1005252" cy="1005252"/>
            </a:xfrm>
          </p:grpSpPr>
          <p:sp>
            <p:nvSpPr>
              <p:cNvPr name="Freeform 30" id="30"/>
              <p:cNvSpPr/>
              <p:nvPr/>
            </p:nvSpPr>
            <p:spPr>
              <a:xfrm flipH="false" flipV="false" rot="0">
                <a:off x="0" y="0"/>
                <a:ext cx="1005252" cy="1005252"/>
              </a:xfrm>
              <a:custGeom>
                <a:avLst/>
                <a:gdLst/>
                <a:ahLst/>
                <a:cxnLst/>
                <a:rect r="r" b="b" t="t" l="l"/>
                <a:pathLst>
                  <a:path h="1005252" w="1005252">
                    <a:moveTo>
                      <a:pt x="58057" y="0"/>
                    </a:moveTo>
                    <a:lnTo>
                      <a:pt x="947195" y="0"/>
                    </a:lnTo>
                    <a:cubicBezTo>
                      <a:pt x="979259" y="0"/>
                      <a:pt x="1005252" y="25993"/>
                      <a:pt x="1005252" y="58057"/>
                    </a:cubicBezTo>
                    <a:lnTo>
                      <a:pt x="1005252" y="947195"/>
                    </a:lnTo>
                    <a:cubicBezTo>
                      <a:pt x="1005252" y="962593"/>
                      <a:pt x="999135" y="977360"/>
                      <a:pt x="988247" y="988247"/>
                    </a:cubicBezTo>
                    <a:cubicBezTo>
                      <a:pt x="977360" y="999135"/>
                      <a:pt x="962593" y="1005252"/>
                      <a:pt x="947195" y="1005252"/>
                    </a:cubicBezTo>
                    <a:lnTo>
                      <a:pt x="58057" y="1005252"/>
                    </a:lnTo>
                    <a:cubicBezTo>
                      <a:pt x="42659" y="1005252"/>
                      <a:pt x="27892" y="999135"/>
                      <a:pt x="17005" y="988247"/>
                    </a:cubicBezTo>
                    <a:cubicBezTo>
                      <a:pt x="6117" y="977360"/>
                      <a:pt x="0" y="962593"/>
                      <a:pt x="0" y="947195"/>
                    </a:cubicBezTo>
                    <a:lnTo>
                      <a:pt x="0" y="58057"/>
                    </a:lnTo>
                    <a:cubicBezTo>
                      <a:pt x="0" y="42659"/>
                      <a:pt x="6117" y="27892"/>
                      <a:pt x="17005" y="17005"/>
                    </a:cubicBezTo>
                    <a:cubicBezTo>
                      <a:pt x="27892" y="6117"/>
                      <a:pt x="42659" y="0"/>
                      <a:pt x="58057" y="0"/>
                    </a:cubicBezTo>
                    <a:close/>
                  </a:path>
                </a:pathLst>
              </a:custGeom>
              <a:solidFill>
                <a:srgbClr val="FFC05C"/>
              </a:solidFill>
              <a:ln cap="rnd">
                <a:noFill/>
                <a:prstDash val="solid"/>
                <a:round/>
              </a:ln>
            </p:spPr>
          </p:sp>
          <p:sp>
            <p:nvSpPr>
              <p:cNvPr name="TextBox 31" id="31"/>
              <p:cNvSpPr txBox="true"/>
              <p:nvPr/>
            </p:nvSpPr>
            <p:spPr>
              <a:xfrm>
                <a:off x="0" y="-38100"/>
                <a:ext cx="1005252" cy="1043352"/>
              </a:xfrm>
              <a:prstGeom prst="rect">
                <a:avLst/>
              </a:prstGeom>
            </p:spPr>
            <p:txBody>
              <a:bodyPr anchor="ctr" rtlCol="false" tIns="316933" lIns="316933" bIns="316933" rIns="316933"/>
              <a:lstStyle/>
              <a:p>
                <a:pPr algn="ctr" marL="0" indent="0" lvl="0">
                  <a:lnSpc>
                    <a:spcPts val="3380"/>
                  </a:lnSpc>
                  <a:spcBef>
                    <a:spcPct val="0"/>
                  </a:spcBef>
                </a:pPr>
              </a:p>
            </p:txBody>
          </p:sp>
        </p:grpSp>
        <p:grpSp>
          <p:nvGrpSpPr>
            <p:cNvPr name="Group 32" id="32"/>
            <p:cNvGrpSpPr/>
            <p:nvPr/>
          </p:nvGrpSpPr>
          <p:grpSpPr>
            <a:xfrm rot="0">
              <a:off x="0" y="0"/>
              <a:ext cx="7078741" cy="7078741"/>
              <a:chOff x="0" y="0"/>
              <a:chExt cx="1005252" cy="1005252"/>
            </a:xfrm>
          </p:grpSpPr>
          <p:sp>
            <p:nvSpPr>
              <p:cNvPr name="Freeform 33" id="33"/>
              <p:cNvSpPr/>
              <p:nvPr/>
            </p:nvSpPr>
            <p:spPr>
              <a:xfrm flipH="false" flipV="false" rot="0">
                <a:off x="0" y="0"/>
                <a:ext cx="1005252" cy="1005252"/>
              </a:xfrm>
              <a:custGeom>
                <a:avLst/>
                <a:gdLst/>
                <a:ahLst/>
                <a:cxnLst/>
                <a:rect r="r" b="b" t="t" l="l"/>
                <a:pathLst>
                  <a:path h="1005252" w="1005252">
                    <a:moveTo>
                      <a:pt x="58057" y="0"/>
                    </a:moveTo>
                    <a:lnTo>
                      <a:pt x="947195" y="0"/>
                    </a:lnTo>
                    <a:cubicBezTo>
                      <a:pt x="979259" y="0"/>
                      <a:pt x="1005252" y="25993"/>
                      <a:pt x="1005252" y="58057"/>
                    </a:cubicBezTo>
                    <a:lnTo>
                      <a:pt x="1005252" y="947195"/>
                    </a:lnTo>
                    <a:cubicBezTo>
                      <a:pt x="1005252" y="962593"/>
                      <a:pt x="999135" y="977360"/>
                      <a:pt x="988247" y="988247"/>
                    </a:cubicBezTo>
                    <a:cubicBezTo>
                      <a:pt x="977360" y="999135"/>
                      <a:pt x="962593" y="1005252"/>
                      <a:pt x="947195" y="1005252"/>
                    </a:cubicBezTo>
                    <a:lnTo>
                      <a:pt x="58057" y="1005252"/>
                    </a:lnTo>
                    <a:cubicBezTo>
                      <a:pt x="42659" y="1005252"/>
                      <a:pt x="27892" y="999135"/>
                      <a:pt x="17005" y="988247"/>
                    </a:cubicBezTo>
                    <a:cubicBezTo>
                      <a:pt x="6117" y="977360"/>
                      <a:pt x="0" y="962593"/>
                      <a:pt x="0" y="947195"/>
                    </a:cubicBezTo>
                    <a:lnTo>
                      <a:pt x="0" y="58057"/>
                    </a:lnTo>
                    <a:cubicBezTo>
                      <a:pt x="0" y="42659"/>
                      <a:pt x="6117" y="27892"/>
                      <a:pt x="17005" y="17005"/>
                    </a:cubicBezTo>
                    <a:cubicBezTo>
                      <a:pt x="27892" y="6117"/>
                      <a:pt x="42659" y="0"/>
                      <a:pt x="58057" y="0"/>
                    </a:cubicBezTo>
                    <a:close/>
                  </a:path>
                </a:pathLst>
              </a:custGeom>
              <a:solidFill>
                <a:srgbClr val="FFFFFF"/>
              </a:solidFill>
            </p:spPr>
          </p:sp>
          <p:sp>
            <p:nvSpPr>
              <p:cNvPr name="TextBox 34" id="34"/>
              <p:cNvSpPr txBox="true"/>
              <p:nvPr/>
            </p:nvSpPr>
            <p:spPr>
              <a:xfrm>
                <a:off x="0" y="-38100"/>
                <a:ext cx="1005252" cy="1043352"/>
              </a:xfrm>
              <a:prstGeom prst="rect">
                <a:avLst/>
              </a:prstGeom>
            </p:spPr>
            <p:txBody>
              <a:bodyPr anchor="ctr" rtlCol="false" tIns="316933" lIns="316933" bIns="316933" rIns="316933"/>
              <a:lstStyle/>
              <a:p>
                <a:pPr algn="ctr">
                  <a:lnSpc>
                    <a:spcPts val="3380"/>
                  </a:lnSpc>
                </a:pPr>
              </a:p>
            </p:txBody>
          </p:sp>
        </p:grpSp>
        <p:sp>
          <p:nvSpPr>
            <p:cNvPr name="Freeform 35" id="35"/>
            <p:cNvSpPr/>
            <p:nvPr/>
          </p:nvSpPr>
          <p:spPr>
            <a:xfrm flipH="false" flipV="false" rot="0">
              <a:off x="12641" y="361235"/>
              <a:ext cx="7066101" cy="6717506"/>
            </a:xfrm>
            <a:custGeom>
              <a:avLst/>
              <a:gdLst/>
              <a:ahLst/>
              <a:cxnLst/>
              <a:rect r="r" b="b" t="t" l="l"/>
              <a:pathLst>
                <a:path h="6717506" w="7066101">
                  <a:moveTo>
                    <a:pt x="0" y="0"/>
                  </a:moveTo>
                  <a:lnTo>
                    <a:pt x="7066100" y="0"/>
                  </a:lnTo>
                  <a:lnTo>
                    <a:pt x="7066100" y="6717506"/>
                  </a:lnTo>
                  <a:lnTo>
                    <a:pt x="0" y="67175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rnd">
              <a:noFill/>
              <a:prstDash val="solid"/>
              <a:round/>
            </a:ln>
          </p:spPr>
        </p:sp>
      </p:gr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CF83"/>
        </a:solidFill>
      </p:bgPr>
    </p:bg>
    <p:spTree>
      <p:nvGrpSpPr>
        <p:cNvPr id="1" name=""/>
        <p:cNvGrpSpPr/>
        <p:nvPr/>
      </p:nvGrpSpPr>
      <p:grpSpPr>
        <a:xfrm>
          <a:off x="0" y="0"/>
          <a:ext cx="0" cy="0"/>
          <a:chOff x="0" y="0"/>
          <a:chExt cx="0" cy="0"/>
        </a:xfrm>
      </p:grpSpPr>
      <p:grpSp>
        <p:nvGrpSpPr>
          <p:cNvPr name="Group 2" id="2"/>
          <p:cNvGrpSpPr/>
          <p:nvPr/>
        </p:nvGrpSpPr>
        <p:grpSpPr>
          <a:xfrm rot="0">
            <a:off x="-476250" y="-190500"/>
            <a:ext cx="19240500" cy="2381250"/>
            <a:chOff x="0" y="0"/>
            <a:chExt cx="25654000" cy="3175000"/>
          </a:xfrm>
        </p:grpSpPr>
        <p:grpSp>
          <p:nvGrpSpPr>
            <p:cNvPr name="Group 3" id="3"/>
            <p:cNvGrpSpPr/>
            <p:nvPr/>
          </p:nvGrpSpPr>
          <p:grpSpPr>
            <a:xfrm rot="0">
              <a:off x="0" y="0"/>
              <a:ext cx="25654000" cy="2984500"/>
              <a:chOff x="0" y="0"/>
              <a:chExt cx="5067457" cy="589531"/>
            </a:xfrm>
          </p:grpSpPr>
          <p:sp>
            <p:nvSpPr>
              <p:cNvPr name="Freeform 4" id="4"/>
              <p:cNvSpPr/>
              <p:nvPr/>
            </p:nvSpPr>
            <p:spPr>
              <a:xfrm flipH="false" flipV="false" rot="0">
                <a:off x="0" y="0"/>
                <a:ext cx="5067457" cy="589531"/>
              </a:xfrm>
              <a:custGeom>
                <a:avLst/>
                <a:gdLst/>
                <a:ahLst/>
                <a:cxnLst/>
                <a:rect r="r" b="b" t="t" l="l"/>
                <a:pathLst>
                  <a:path h="589531" w="5067457">
                    <a:moveTo>
                      <a:pt x="0" y="0"/>
                    </a:moveTo>
                    <a:lnTo>
                      <a:pt x="5067457" y="0"/>
                    </a:lnTo>
                    <a:lnTo>
                      <a:pt x="5067457" y="589531"/>
                    </a:lnTo>
                    <a:lnTo>
                      <a:pt x="0" y="589531"/>
                    </a:lnTo>
                    <a:close/>
                  </a:path>
                </a:pathLst>
              </a:custGeom>
              <a:solidFill>
                <a:srgbClr val="97D4E8"/>
              </a:solidFill>
              <a:ln cap="sq">
                <a:noFill/>
                <a:prstDash val="solid"/>
                <a:miter/>
              </a:ln>
            </p:spPr>
          </p:sp>
          <p:sp>
            <p:nvSpPr>
              <p:cNvPr name="TextBox 5" id="5"/>
              <p:cNvSpPr txBox="true"/>
              <p:nvPr/>
            </p:nvSpPr>
            <p:spPr>
              <a:xfrm>
                <a:off x="0" y="-19050"/>
                <a:ext cx="5067457" cy="608581"/>
              </a:xfrm>
              <a:prstGeom prst="rect">
                <a:avLst/>
              </a:prstGeom>
            </p:spPr>
            <p:txBody>
              <a:bodyPr anchor="ctr" rtlCol="false" tIns="50800" lIns="50800" bIns="50800" rIns="50800"/>
              <a:lstStyle/>
              <a:p>
                <a:pPr algn="ctr" marL="0" indent="0" lvl="0">
                  <a:lnSpc>
                    <a:spcPts val="2080"/>
                  </a:lnSpc>
                  <a:spcBef>
                    <a:spcPct val="0"/>
                  </a:spcBef>
                </a:pPr>
              </a:p>
            </p:txBody>
          </p:sp>
        </p:grpSp>
        <p:grpSp>
          <p:nvGrpSpPr>
            <p:cNvPr name="Group 6" id="6"/>
            <p:cNvGrpSpPr/>
            <p:nvPr/>
          </p:nvGrpSpPr>
          <p:grpSpPr>
            <a:xfrm rot="0">
              <a:off x="0" y="2921000"/>
              <a:ext cx="25654000" cy="254000"/>
              <a:chOff x="0" y="0"/>
              <a:chExt cx="5067457" cy="50173"/>
            </a:xfrm>
          </p:grpSpPr>
          <p:sp>
            <p:nvSpPr>
              <p:cNvPr name="Freeform 7" id="7"/>
              <p:cNvSpPr/>
              <p:nvPr/>
            </p:nvSpPr>
            <p:spPr>
              <a:xfrm flipH="false" flipV="false" rot="0">
                <a:off x="0" y="0"/>
                <a:ext cx="5067457" cy="50173"/>
              </a:xfrm>
              <a:custGeom>
                <a:avLst/>
                <a:gdLst/>
                <a:ahLst/>
                <a:cxnLst/>
                <a:rect r="r" b="b" t="t" l="l"/>
                <a:pathLst>
                  <a:path h="50173" w="5067457">
                    <a:moveTo>
                      <a:pt x="0" y="0"/>
                    </a:moveTo>
                    <a:lnTo>
                      <a:pt x="5067457" y="0"/>
                    </a:lnTo>
                    <a:lnTo>
                      <a:pt x="5067457" y="50173"/>
                    </a:lnTo>
                    <a:lnTo>
                      <a:pt x="0" y="50173"/>
                    </a:lnTo>
                    <a:close/>
                  </a:path>
                </a:pathLst>
              </a:custGeom>
              <a:solidFill>
                <a:srgbClr val="FFC05C"/>
              </a:solidFill>
              <a:ln cap="sq">
                <a:noFill/>
                <a:prstDash val="solid"/>
                <a:miter/>
              </a:ln>
            </p:spPr>
          </p:sp>
          <p:sp>
            <p:nvSpPr>
              <p:cNvPr name="TextBox 8" id="8"/>
              <p:cNvSpPr txBox="true"/>
              <p:nvPr/>
            </p:nvSpPr>
            <p:spPr>
              <a:xfrm>
                <a:off x="0" y="-19050"/>
                <a:ext cx="5067457" cy="69223"/>
              </a:xfrm>
              <a:prstGeom prst="rect">
                <a:avLst/>
              </a:prstGeom>
            </p:spPr>
            <p:txBody>
              <a:bodyPr anchor="ctr" rtlCol="false" tIns="50800" lIns="50800" bIns="50800" rIns="50800"/>
              <a:lstStyle/>
              <a:p>
                <a:pPr algn="ctr" marL="0" indent="0" lvl="0">
                  <a:lnSpc>
                    <a:spcPts val="2080"/>
                  </a:lnSpc>
                  <a:spcBef>
                    <a:spcPct val="0"/>
                  </a:spcBef>
                </a:pPr>
              </a:p>
            </p:txBody>
          </p:sp>
        </p:grpSp>
      </p:grpSp>
      <p:grpSp>
        <p:nvGrpSpPr>
          <p:cNvPr name="Group 9" id="9"/>
          <p:cNvGrpSpPr/>
          <p:nvPr/>
        </p:nvGrpSpPr>
        <p:grpSpPr>
          <a:xfrm rot="0">
            <a:off x="2478405" y="2190750"/>
            <a:ext cx="14128275" cy="1103026"/>
            <a:chOff x="0" y="0"/>
            <a:chExt cx="18837700" cy="1470701"/>
          </a:xfrm>
        </p:grpSpPr>
        <p:grpSp>
          <p:nvGrpSpPr>
            <p:cNvPr name="Group 10" id="10"/>
            <p:cNvGrpSpPr/>
            <p:nvPr/>
          </p:nvGrpSpPr>
          <p:grpSpPr>
            <a:xfrm rot="0">
              <a:off x="207008" y="133700"/>
              <a:ext cx="18630693" cy="1337001"/>
              <a:chOff x="0" y="0"/>
              <a:chExt cx="3995103" cy="286702"/>
            </a:xfrm>
          </p:grpSpPr>
          <p:sp>
            <p:nvSpPr>
              <p:cNvPr name="Freeform 11" id="11"/>
              <p:cNvSpPr/>
              <p:nvPr/>
            </p:nvSpPr>
            <p:spPr>
              <a:xfrm flipH="false" flipV="false" rot="0">
                <a:off x="0" y="0"/>
                <a:ext cx="3995103" cy="286702"/>
              </a:xfrm>
              <a:custGeom>
                <a:avLst/>
                <a:gdLst/>
                <a:ahLst/>
                <a:cxnLst/>
                <a:rect r="r" b="b" t="t" l="l"/>
                <a:pathLst>
                  <a:path h="286702" w="3995103">
                    <a:moveTo>
                      <a:pt x="18228" y="0"/>
                    </a:moveTo>
                    <a:lnTo>
                      <a:pt x="3976875" y="0"/>
                    </a:lnTo>
                    <a:cubicBezTo>
                      <a:pt x="3981709" y="0"/>
                      <a:pt x="3986345" y="1920"/>
                      <a:pt x="3989764" y="5339"/>
                    </a:cubicBezTo>
                    <a:cubicBezTo>
                      <a:pt x="3993182" y="8757"/>
                      <a:pt x="3995103" y="13394"/>
                      <a:pt x="3995103" y="18228"/>
                    </a:cubicBezTo>
                    <a:lnTo>
                      <a:pt x="3995103" y="268474"/>
                    </a:lnTo>
                    <a:cubicBezTo>
                      <a:pt x="3995103" y="273308"/>
                      <a:pt x="3993182" y="277945"/>
                      <a:pt x="3989764" y="281363"/>
                    </a:cubicBezTo>
                    <a:cubicBezTo>
                      <a:pt x="3986345" y="284782"/>
                      <a:pt x="3981709" y="286702"/>
                      <a:pt x="3976875" y="286702"/>
                    </a:cubicBezTo>
                    <a:lnTo>
                      <a:pt x="18228" y="286702"/>
                    </a:lnTo>
                    <a:cubicBezTo>
                      <a:pt x="13394" y="286702"/>
                      <a:pt x="8757" y="284782"/>
                      <a:pt x="5339" y="281363"/>
                    </a:cubicBezTo>
                    <a:cubicBezTo>
                      <a:pt x="1920" y="277945"/>
                      <a:pt x="0" y="273308"/>
                      <a:pt x="0" y="268474"/>
                    </a:cubicBezTo>
                    <a:lnTo>
                      <a:pt x="0" y="18228"/>
                    </a:lnTo>
                    <a:cubicBezTo>
                      <a:pt x="0" y="13394"/>
                      <a:pt x="1920" y="8757"/>
                      <a:pt x="5339" y="5339"/>
                    </a:cubicBezTo>
                    <a:cubicBezTo>
                      <a:pt x="8757" y="1920"/>
                      <a:pt x="13394" y="0"/>
                      <a:pt x="18228" y="0"/>
                    </a:cubicBezTo>
                    <a:close/>
                  </a:path>
                </a:pathLst>
              </a:custGeom>
              <a:solidFill>
                <a:srgbClr val="FFC05C"/>
              </a:solidFill>
              <a:ln cap="rnd">
                <a:noFill/>
                <a:prstDash val="solid"/>
                <a:round/>
              </a:ln>
            </p:spPr>
          </p:sp>
          <p:sp>
            <p:nvSpPr>
              <p:cNvPr name="TextBox 12" id="12"/>
              <p:cNvSpPr txBox="true"/>
              <p:nvPr/>
            </p:nvSpPr>
            <p:spPr>
              <a:xfrm>
                <a:off x="0" y="-38100"/>
                <a:ext cx="3995103" cy="324802"/>
              </a:xfrm>
              <a:prstGeom prst="rect">
                <a:avLst/>
              </a:prstGeom>
            </p:spPr>
            <p:txBody>
              <a:bodyPr anchor="ctr" rtlCol="false" tIns="254000" lIns="254000" bIns="254000" rIns="254000"/>
              <a:lstStyle/>
              <a:p>
                <a:pPr algn="ctr" marL="0" indent="0" lvl="0">
                  <a:lnSpc>
                    <a:spcPts val="3380"/>
                  </a:lnSpc>
                  <a:spcBef>
                    <a:spcPct val="0"/>
                  </a:spcBef>
                </a:pPr>
              </a:p>
            </p:txBody>
          </p:sp>
        </p:grpSp>
        <p:grpSp>
          <p:nvGrpSpPr>
            <p:cNvPr name="Group 13" id="13"/>
            <p:cNvGrpSpPr/>
            <p:nvPr/>
          </p:nvGrpSpPr>
          <p:grpSpPr>
            <a:xfrm rot="0">
              <a:off x="0" y="0"/>
              <a:ext cx="18630693" cy="1337001"/>
              <a:chOff x="0" y="0"/>
              <a:chExt cx="3995103" cy="286702"/>
            </a:xfrm>
          </p:grpSpPr>
          <p:sp>
            <p:nvSpPr>
              <p:cNvPr name="Freeform 14" id="14"/>
              <p:cNvSpPr/>
              <p:nvPr/>
            </p:nvSpPr>
            <p:spPr>
              <a:xfrm flipH="false" flipV="false" rot="0">
                <a:off x="0" y="0"/>
                <a:ext cx="3995103" cy="286702"/>
              </a:xfrm>
              <a:custGeom>
                <a:avLst/>
                <a:gdLst/>
                <a:ahLst/>
                <a:cxnLst/>
                <a:rect r="r" b="b" t="t" l="l"/>
                <a:pathLst>
                  <a:path h="286702" w="3995103">
                    <a:moveTo>
                      <a:pt x="18592" y="0"/>
                    </a:moveTo>
                    <a:lnTo>
                      <a:pt x="3976510" y="0"/>
                    </a:lnTo>
                    <a:cubicBezTo>
                      <a:pt x="3981441" y="0"/>
                      <a:pt x="3986170" y="1959"/>
                      <a:pt x="3989657" y="5446"/>
                    </a:cubicBezTo>
                    <a:cubicBezTo>
                      <a:pt x="3993144" y="8932"/>
                      <a:pt x="3995103" y="13661"/>
                      <a:pt x="3995103" y="18592"/>
                    </a:cubicBezTo>
                    <a:lnTo>
                      <a:pt x="3995103" y="268110"/>
                    </a:lnTo>
                    <a:cubicBezTo>
                      <a:pt x="3995103" y="273041"/>
                      <a:pt x="3993144" y="277770"/>
                      <a:pt x="3989657" y="281256"/>
                    </a:cubicBezTo>
                    <a:cubicBezTo>
                      <a:pt x="3986170" y="284743"/>
                      <a:pt x="3981441" y="286702"/>
                      <a:pt x="3976510" y="286702"/>
                    </a:cubicBezTo>
                    <a:lnTo>
                      <a:pt x="18592" y="286702"/>
                    </a:lnTo>
                    <a:cubicBezTo>
                      <a:pt x="13661" y="286702"/>
                      <a:pt x="8932" y="284743"/>
                      <a:pt x="5446" y="281256"/>
                    </a:cubicBezTo>
                    <a:cubicBezTo>
                      <a:pt x="1959" y="277770"/>
                      <a:pt x="0" y="273041"/>
                      <a:pt x="0" y="268110"/>
                    </a:cubicBezTo>
                    <a:lnTo>
                      <a:pt x="0" y="18592"/>
                    </a:lnTo>
                    <a:cubicBezTo>
                      <a:pt x="0" y="13661"/>
                      <a:pt x="1959" y="8932"/>
                      <a:pt x="5446" y="5446"/>
                    </a:cubicBezTo>
                    <a:cubicBezTo>
                      <a:pt x="8932" y="1959"/>
                      <a:pt x="13661" y="0"/>
                      <a:pt x="18592" y="0"/>
                    </a:cubicBezTo>
                    <a:close/>
                  </a:path>
                </a:pathLst>
              </a:custGeom>
              <a:solidFill>
                <a:srgbClr val="FFFFFF"/>
              </a:solidFill>
              <a:ln cap="rnd">
                <a:noFill/>
                <a:prstDash val="solid"/>
                <a:round/>
              </a:ln>
            </p:spPr>
          </p:sp>
          <p:sp>
            <p:nvSpPr>
              <p:cNvPr name="TextBox 15" id="15"/>
              <p:cNvSpPr txBox="true"/>
              <p:nvPr/>
            </p:nvSpPr>
            <p:spPr>
              <a:xfrm>
                <a:off x="0" y="-28575"/>
                <a:ext cx="3995103" cy="315277"/>
              </a:xfrm>
              <a:prstGeom prst="rect">
                <a:avLst/>
              </a:prstGeom>
            </p:spPr>
            <p:txBody>
              <a:bodyPr anchor="ctr" rtlCol="false" tIns="254000" lIns="254000" bIns="254000" rIns="254000"/>
              <a:lstStyle/>
              <a:p>
                <a:pPr algn="l">
                  <a:lnSpc>
                    <a:spcPts val="2860"/>
                  </a:lnSpc>
                </a:pPr>
                <a:r>
                  <a:rPr lang="en-US" sz="2200">
                    <a:solidFill>
                      <a:srgbClr val="000001"/>
                    </a:solidFill>
                    <a:latin typeface="Klein"/>
                    <a:ea typeface="Klein"/>
                    <a:cs typeface="Klein"/>
                    <a:sym typeface="Klein"/>
                  </a:rPr>
                  <a:t>Mendeskripsikan pola distribusi banjir di Jakarta.</a:t>
                </a:r>
              </a:p>
            </p:txBody>
          </p:sp>
        </p:grpSp>
      </p:grpSp>
      <p:grpSp>
        <p:nvGrpSpPr>
          <p:cNvPr name="Group 16" id="16"/>
          <p:cNvGrpSpPr/>
          <p:nvPr/>
        </p:nvGrpSpPr>
        <p:grpSpPr>
          <a:xfrm rot="0">
            <a:off x="1585110" y="2341990"/>
            <a:ext cx="670501" cy="670501"/>
            <a:chOff x="0" y="0"/>
            <a:chExt cx="894001" cy="894001"/>
          </a:xfrm>
        </p:grpSpPr>
        <p:grpSp>
          <p:nvGrpSpPr>
            <p:cNvPr name="Group 17" id="17"/>
            <p:cNvGrpSpPr/>
            <p:nvPr/>
          </p:nvGrpSpPr>
          <p:grpSpPr>
            <a:xfrm rot="0">
              <a:off x="91692" y="91692"/>
              <a:ext cx="802309" cy="802309"/>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FC05C"/>
              </a:solidFill>
              <a:ln cap="rnd">
                <a:noFill/>
                <a:prstDash val="solid"/>
                <a:round/>
              </a:ln>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marL="0" indent="0" lvl="0">
                  <a:lnSpc>
                    <a:spcPts val="3380"/>
                  </a:lnSpc>
                  <a:spcBef>
                    <a:spcPct val="0"/>
                  </a:spcBef>
                </a:pPr>
              </a:p>
            </p:txBody>
          </p:sp>
        </p:grpSp>
        <p:sp>
          <p:nvSpPr>
            <p:cNvPr name="Freeform 20" id="20"/>
            <p:cNvSpPr/>
            <p:nvPr/>
          </p:nvSpPr>
          <p:spPr>
            <a:xfrm flipH="false" flipV="false" rot="0">
              <a:off x="0" y="0"/>
              <a:ext cx="802309" cy="802309"/>
            </a:xfrm>
            <a:custGeom>
              <a:avLst/>
              <a:gdLst/>
              <a:ahLst/>
              <a:cxnLst/>
              <a:rect r="r" b="b" t="t" l="l"/>
              <a:pathLst>
                <a:path h="802309" w="802309">
                  <a:moveTo>
                    <a:pt x="0" y="0"/>
                  </a:moveTo>
                  <a:lnTo>
                    <a:pt x="802309" y="0"/>
                  </a:lnTo>
                  <a:lnTo>
                    <a:pt x="802309" y="802309"/>
                  </a:lnTo>
                  <a:lnTo>
                    <a:pt x="0" y="8023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21" id="21"/>
          <p:cNvGrpSpPr/>
          <p:nvPr/>
        </p:nvGrpSpPr>
        <p:grpSpPr>
          <a:xfrm rot="0">
            <a:off x="3222670" y="569939"/>
            <a:ext cx="11842660" cy="917522"/>
            <a:chOff x="0" y="0"/>
            <a:chExt cx="15790214" cy="1223363"/>
          </a:xfrm>
        </p:grpSpPr>
        <p:grpSp>
          <p:nvGrpSpPr>
            <p:cNvPr name="Group 22" id="22"/>
            <p:cNvGrpSpPr/>
            <p:nvPr/>
          </p:nvGrpSpPr>
          <p:grpSpPr>
            <a:xfrm rot="0">
              <a:off x="211240" y="207363"/>
              <a:ext cx="15578974" cy="1016000"/>
              <a:chOff x="0" y="0"/>
              <a:chExt cx="2198092" cy="143351"/>
            </a:xfrm>
          </p:grpSpPr>
          <p:sp>
            <p:nvSpPr>
              <p:cNvPr name="Freeform 23" id="23"/>
              <p:cNvSpPr/>
              <p:nvPr/>
            </p:nvSpPr>
            <p:spPr>
              <a:xfrm flipH="false" flipV="false" rot="0">
                <a:off x="0" y="0"/>
                <a:ext cx="2198092" cy="143351"/>
              </a:xfrm>
              <a:custGeom>
                <a:avLst/>
                <a:gdLst/>
                <a:ahLst/>
                <a:cxnLst/>
                <a:rect r="r" b="b" t="t" l="l"/>
                <a:pathLst>
                  <a:path h="143351" w="2198092">
                    <a:moveTo>
                      <a:pt x="33792" y="0"/>
                    </a:moveTo>
                    <a:lnTo>
                      <a:pt x="2164299" y="0"/>
                    </a:lnTo>
                    <a:cubicBezTo>
                      <a:pt x="2173262" y="0"/>
                      <a:pt x="2181857" y="3560"/>
                      <a:pt x="2188194" y="9898"/>
                    </a:cubicBezTo>
                    <a:cubicBezTo>
                      <a:pt x="2194531" y="16235"/>
                      <a:pt x="2198092" y="24830"/>
                      <a:pt x="2198092" y="33792"/>
                    </a:cubicBezTo>
                    <a:lnTo>
                      <a:pt x="2198092" y="109559"/>
                    </a:lnTo>
                    <a:cubicBezTo>
                      <a:pt x="2198092" y="118521"/>
                      <a:pt x="2194531" y="127116"/>
                      <a:pt x="2188194" y="133453"/>
                    </a:cubicBezTo>
                    <a:cubicBezTo>
                      <a:pt x="2181857" y="139791"/>
                      <a:pt x="2173262" y="143351"/>
                      <a:pt x="2164299" y="143351"/>
                    </a:cubicBezTo>
                    <a:lnTo>
                      <a:pt x="33792" y="143351"/>
                    </a:lnTo>
                    <a:cubicBezTo>
                      <a:pt x="24830" y="143351"/>
                      <a:pt x="16235" y="139791"/>
                      <a:pt x="9898" y="133453"/>
                    </a:cubicBezTo>
                    <a:cubicBezTo>
                      <a:pt x="3560" y="127116"/>
                      <a:pt x="0" y="118521"/>
                      <a:pt x="0" y="109559"/>
                    </a:cubicBezTo>
                    <a:lnTo>
                      <a:pt x="0" y="33792"/>
                    </a:lnTo>
                    <a:cubicBezTo>
                      <a:pt x="0" y="24830"/>
                      <a:pt x="3560" y="16235"/>
                      <a:pt x="9898" y="9898"/>
                    </a:cubicBezTo>
                    <a:cubicBezTo>
                      <a:pt x="16235" y="3560"/>
                      <a:pt x="24830" y="0"/>
                      <a:pt x="33792" y="0"/>
                    </a:cubicBezTo>
                    <a:close/>
                  </a:path>
                </a:pathLst>
              </a:custGeom>
              <a:solidFill>
                <a:srgbClr val="38ABD1"/>
              </a:solidFill>
              <a:ln cap="rnd">
                <a:noFill/>
                <a:prstDash val="solid"/>
                <a:round/>
              </a:ln>
            </p:spPr>
          </p:sp>
          <p:sp>
            <p:nvSpPr>
              <p:cNvPr name="TextBox 24" id="24"/>
              <p:cNvSpPr txBox="true"/>
              <p:nvPr/>
            </p:nvSpPr>
            <p:spPr>
              <a:xfrm>
                <a:off x="0" y="-19050"/>
                <a:ext cx="2198092" cy="162401"/>
              </a:xfrm>
              <a:prstGeom prst="rect">
                <a:avLst/>
              </a:prstGeom>
            </p:spPr>
            <p:txBody>
              <a:bodyPr anchor="ctr" rtlCol="false" tIns="50800" lIns="50800" bIns="50800" rIns="50800"/>
              <a:lstStyle/>
              <a:p>
                <a:pPr algn="ctr" marL="0" indent="0" lvl="0">
                  <a:lnSpc>
                    <a:spcPts val="2080"/>
                  </a:lnSpc>
                  <a:spcBef>
                    <a:spcPct val="0"/>
                  </a:spcBef>
                </a:pPr>
              </a:p>
            </p:txBody>
          </p:sp>
        </p:grpSp>
        <p:grpSp>
          <p:nvGrpSpPr>
            <p:cNvPr name="Group 25" id="25"/>
            <p:cNvGrpSpPr/>
            <p:nvPr/>
          </p:nvGrpSpPr>
          <p:grpSpPr>
            <a:xfrm rot="0">
              <a:off x="0" y="0"/>
              <a:ext cx="15578974" cy="1057548"/>
              <a:chOff x="0" y="0"/>
              <a:chExt cx="2198092" cy="149213"/>
            </a:xfrm>
          </p:grpSpPr>
          <p:sp>
            <p:nvSpPr>
              <p:cNvPr name="Freeform 26" id="26"/>
              <p:cNvSpPr/>
              <p:nvPr/>
            </p:nvSpPr>
            <p:spPr>
              <a:xfrm flipH="false" flipV="false" rot="0">
                <a:off x="0" y="0"/>
                <a:ext cx="2198092" cy="149213"/>
              </a:xfrm>
              <a:custGeom>
                <a:avLst/>
                <a:gdLst/>
                <a:ahLst/>
                <a:cxnLst/>
                <a:rect r="r" b="b" t="t" l="l"/>
                <a:pathLst>
                  <a:path h="149213" w="2198092">
                    <a:moveTo>
                      <a:pt x="33792" y="0"/>
                    </a:moveTo>
                    <a:lnTo>
                      <a:pt x="2164299" y="0"/>
                    </a:lnTo>
                    <a:cubicBezTo>
                      <a:pt x="2173262" y="0"/>
                      <a:pt x="2181857" y="3560"/>
                      <a:pt x="2188194" y="9898"/>
                    </a:cubicBezTo>
                    <a:cubicBezTo>
                      <a:pt x="2194531" y="16235"/>
                      <a:pt x="2198092" y="24830"/>
                      <a:pt x="2198092" y="33792"/>
                    </a:cubicBezTo>
                    <a:lnTo>
                      <a:pt x="2198092" y="115421"/>
                    </a:lnTo>
                    <a:cubicBezTo>
                      <a:pt x="2198092" y="124383"/>
                      <a:pt x="2194531" y="132978"/>
                      <a:pt x="2188194" y="139316"/>
                    </a:cubicBezTo>
                    <a:cubicBezTo>
                      <a:pt x="2181857" y="145653"/>
                      <a:pt x="2173262" y="149213"/>
                      <a:pt x="2164299" y="149213"/>
                    </a:cubicBezTo>
                    <a:lnTo>
                      <a:pt x="33792" y="149213"/>
                    </a:lnTo>
                    <a:cubicBezTo>
                      <a:pt x="24830" y="149213"/>
                      <a:pt x="16235" y="145653"/>
                      <a:pt x="9898" y="139316"/>
                    </a:cubicBezTo>
                    <a:cubicBezTo>
                      <a:pt x="3560" y="132978"/>
                      <a:pt x="0" y="124383"/>
                      <a:pt x="0" y="115421"/>
                    </a:cubicBezTo>
                    <a:lnTo>
                      <a:pt x="0" y="33792"/>
                    </a:lnTo>
                    <a:cubicBezTo>
                      <a:pt x="0" y="24830"/>
                      <a:pt x="3560" y="16235"/>
                      <a:pt x="9898" y="9898"/>
                    </a:cubicBezTo>
                    <a:cubicBezTo>
                      <a:pt x="16235" y="3560"/>
                      <a:pt x="24830" y="0"/>
                      <a:pt x="33792" y="0"/>
                    </a:cubicBezTo>
                    <a:close/>
                  </a:path>
                </a:pathLst>
              </a:custGeom>
              <a:solidFill>
                <a:srgbClr val="FFFFFF"/>
              </a:solidFill>
            </p:spPr>
          </p:sp>
          <p:sp>
            <p:nvSpPr>
              <p:cNvPr name="TextBox 27" id="27"/>
              <p:cNvSpPr txBox="true"/>
              <p:nvPr/>
            </p:nvSpPr>
            <p:spPr>
              <a:xfrm>
                <a:off x="0" y="-47625"/>
                <a:ext cx="2198092" cy="196838"/>
              </a:xfrm>
              <a:prstGeom prst="rect">
                <a:avLst/>
              </a:prstGeom>
            </p:spPr>
            <p:txBody>
              <a:bodyPr anchor="ctr" rtlCol="false" tIns="50800" lIns="50800" bIns="50800" rIns="50800"/>
              <a:lstStyle/>
              <a:p>
                <a:pPr algn="ctr">
                  <a:lnSpc>
                    <a:spcPts val="4550"/>
                  </a:lnSpc>
                </a:pPr>
                <a:r>
                  <a:rPr lang="en-US" b="true" sz="3500">
                    <a:solidFill>
                      <a:srgbClr val="000001"/>
                    </a:solidFill>
                    <a:latin typeface="Klein Bold"/>
                    <a:ea typeface="Klein Bold"/>
                    <a:cs typeface="Klein Bold"/>
                    <a:sym typeface="Klein Bold"/>
                  </a:rPr>
                  <a:t>Tuju</a:t>
                </a:r>
                <a:r>
                  <a:rPr lang="en-US" b="true" sz="3500">
                    <a:solidFill>
                      <a:srgbClr val="000001"/>
                    </a:solidFill>
                    <a:latin typeface="Klein Bold"/>
                    <a:ea typeface="Klein Bold"/>
                    <a:cs typeface="Klein Bold"/>
                    <a:sym typeface="Klein Bold"/>
                  </a:rPr>
                  <a:t>an Analisis</a:t>
                </a:r>
              </a:p>
            </p:txBody>
          </p:sp>
        </p:grpSp>
      </p:grpSp>
      <p:grpSp>
        <p:nvGrpSpPr>
          <p:cNvPr name="Group 28" id="28"/>
          <p:cNvGrpSpPr/>
          <p:nvPr/>
        </p:nvGrpSpPr>
        <p:grpSpPr>
          <a:xfrm rot="0">
            <a:off x="2478405" y="3450629"/>
            <a:ext cx="14128275" cy="1103026"/>
            <a:chOff x="0" y="0"/>
            <a:chExt cx="18837700" cy="1470701"/>
          </a:xfrm>
        </p:grpSpPr>
        <p:grpSp>
          <p:nvGrpSpPr>
            <p:cNvPr name="Group 29" id="29"/>
            <p:cNvGrpSpPr/>
            <p:nvPr/>
          </p:nvGrpSpPr>
          <p:grpSpPr>
            <a:xfrm rot="0">
              <a:off x="170255" y="133700"/>
              <a:ext cx="15322905" cy="1337001"/>
              <a:chOff x="0" y="0"/>
              <a:chExt cx="3285792" cy="286702"/>
            </a:xfrm>
          </p:grpSpPr>
          <p:sp>
            <p:nvSpPr>
              <p:cNvPr name="Freeform 30" id="30"/>
              <p:cNvSpPr/>
              <p:nvPr/>
            </p:nvSpPr>
            <p:spPr>
              <a:xfrm flipH="false" flipV="false" rot="0">
                <a:off x="0" y="0"/>
                <a:ext cx="3285792" cy="286702"/>
              </a:xfrm>
              <a:custGeom>
                <a:avLst/>
                <a:gdLst/>
                <a:ahLst/>
                <a:cxnLst/>
                <a:rect r="r" b="b" t="t" l="l"/>
                <a:pathLst>
                  <a:path h="286702" w="3285792">
                    <a:moveTo>
                      <a:pt x="22163" y="0"/>
                    </a:moveTo>
                    <a:lnTo>
                      <a:pt x="3263629" y="0"/>
                    </a:lnTo>
                    <a:cubicBezTo>
                      <a:pt x="3275869" y="0"/>
                      <a:pt x="3285792" y="9923"/>
                      <a:pt x="3285792" y="22163"/>
                    </a:cubicBezTo>
                    <a:lnTo>
                      <a:pt x="3285792" y="264539"/>
                    </a:lnTo>
                    <a:cubicBezTo>
                      <a:pt x="3285792" y="276779"/>
                      <a:pt x="3275869" y="286702"/>
                      <a:pt x="3263629" y="286702"/>
                    </a:cubicBezTo>
                    <a:lnTo>
                      <a:pt x="22163" y="286702"/>
                    </a:lnTo>
                    <a:cubicBezTo>
                      <a:pt x="9923" y="286702"/>
                      <a:pt x="0" y="276779"/>
                      <a:pt x="0" y="264539"/>
                    </a:cubicBezTo>
                    <a:lnTo>
                      <a:pt x="0" y="22163"/>
                    </a:lnTo>
                    <a:cubicBezTo>
                      <a:pt x="0" y="9923"/>
                      <a:pt x="9923" y="0"/>
                      <a:pt x="22163" y="0"/>
                    </a:cubicBezTo>
                    <a:close/>
                  </a:path>
                </a:pathLst>
              </a:custGeom>
              <a:solidFill>
                <a:srgbClr val="FFC05C"/>
              </a:solidFill>
              <a:ln cap="rnd">
                <a:noFill/>
                <a:prstDash val="solid"/>
                <a:round/>
              </a:ln>
            </p:spPr>
          </p:sp>
          <p:sp>
            <p:nvSpPr>
              <p:cNvPr name="TextBox 31" id="31"/>
              <p:cNvSpPr txBox="true"/>
              <p:nvPr/>
            </p:nvSpPr>
            <p:spPr>
              <a:xfrm>
                <a:off x="0" y="-38100"/>
                <a:ext cx="3285792" cy="324802"/>
              </a:xfrm>
              <a:prstGeom prst="rect">
                <a:avLst/>
              </a:prstGeom>
            </p:spPr>
            <p:txBody>
              <a:bodyPr anchor="ctr" rtlCol="false" tIns="254000" lIns="254000" bIns="254000" rIns="254000"/>
              <a:lstStyle/>
              <a:p>
                <a:pPr algn="l" marL="0" indent="0" lvl="0">
                  <a:lnSpc>
                    <a:spcPts val="3380"/>
                  </a:lnSpc>
                  <a:spcBef>
                    <a:spcPct val="0"/>
                  </a:spcBef>
                </a:pPr>
              </a:p>
            </p:txBody>
          </p:sp>
        </p:grpSp>
        <p:grpSp>
          <p:nvGrpSpPr>
            <p:cNvPr name="Group 32" id="32"/>
            <p:cNvGrpSpPr/>
            <p:nvPr/>
          </p:nvGrpSpPr>
          <p:grpSpPr>
            <a:xfrm rot="0">
              <a:off x="0" y="0"/>
              <a:ext cx="18837700" cy="1427161"/>
              <a:chOff x="0" y="0"/>
              <a:chExt cx="4039493" cy="306036"/>
            </a:xfrm>
          </p:grpSpPr>
          <p:sp>
            <p:nvSpPr>
              <p:cNvPr name="Freeform 33" id="33"/>
              <p:cNvSpPr/>
              <p:nvPr/>
            </p:nvSpPr>
            <p:spPr>
              <a:xfrm flipH="false" flipV="false" rot="0">
                <a:off x="0" y="0"/>
                <a:ext cx="4039493" cy="306036"/>
              </a:xfrm>
              <a:custGeom>
                <a:avLst/>
                <a:gdLst/>
                <a:ahLst/>
                <a:cxnLst/>
                <a:rect r="r" b="b" t="t" l="l"/>
                <a:pathLst>
                  <a:path h="306036" w="4039493">
                    <a:moveTo>
                      <a:pt x="18388" y="0"/>
                    </a:moveTo>
                    <a:lnTo>
                      <a:pt x="4021105" y="0"/>
                    </a:lnTo>
                    <a:cubicBezTo>
                      <a:pt x="4025981" y="0"/>
                      <a:pt x="4030658" y="1937"/>
                      <a:pt x="4034107" y="5386"/>
                    </a:cubicBezTo>
                    <a:cubicBezTo>
                      <a:pt x="4037555" y="8834"/>
                      <a:pt x="4039493" y="13511"/>
                      <a:pt x="4039493" y="18388"/>
                    </a:cubicBezTo>
                    <a:lnTo>
                      <a:pt x="4039493" y="287647"/>
                    </a:lnTo>
                    <a:cubicBezTo>
                      <a:pt x="4039493" y="292524"/>
                      <a:pt x="4037555" y="297201"/>
                      <a:pt x="4034107" y="300650"/>
                    </a:cubicBezTo>
                    <a:cubicBezTo>
                      <a:pt x="4030658" y="304098"/>
                      <a:pt x="4025981" y="306036"/>
                      <a:pt x="4021105" y="306036"/>
                    </a:cubicBezTo>
                    <a:lnTo>
                      <a:pt x="18388" y="306036"/>
                    </a:lnTo>
                    <a:cubicBezTo>
                      <a:pt x="13511" y="306036"/>
                      <a:pt x="8834" y="304098"/>
                      <a:pt x="5386" y="300650"/>
                    </a:cubicBezTo>
                    <a:cubicBezTo>
                      <a:pt x="1937" y="297201"/>
                      <a:pt x="0" y="292524"/>
                      <a:pt x="0" y="287647"/>
                    </a:cubicBezTo>
                    <a:lnTo>
                      <a:pt x="0" y="18388"/>
                    </a:lnTo>
                    <a:cubicBezTo>
                      <a:pt x="0" y="13511"/>
                      <a:pt x="1937" y="8834"/>
                      <a:pt x="5386" y="5386"/>
                    </a:cubicBezTo>
                    <a:cubicBezTo>
                      <a:pt x="8834" y="1937"/>
                      <a:pt x="13511" y="0"/>
                      <a:pt x="18388" y="0"/>
                    </a:cubicBezTo>
                    <a:close/>
                  </a:path>
                </a:pathLst>
              </a:custGeom>
              <a:solidFill>
                <a:srgbClr val="FFFFFF"/>
              </a:solidFill>
              <a:ln cap="rnd">
                <a:noFill/>
                <a:prstDash val="solid"/>
                <a:round/>
              </a:ln>
            </p:spPr>
          </p:sp>
          <p:sp>
            <p:nvSpPr>
              <p:cNvPr name="TextBox 34" id="34"/>
              <p:cNvSpPr txBox="true"/>
              <p:nvPr/>
            </p:nvSpPr>
            <p:spPr>
              <a:xfrm>
                <a:off x="0" y="-28575"/>
                <a:ext cx="4039493" cy="334611"/>
              </a:xfrm>
              <a:prstGeom prst="rect">
                <a:avLst/>
              </a:prstGeom>
            </p:spPr>
            <p:txBody>
              <a:bodyPr anchor="ctr" rtlCol="false" tIns="254000" lIns="254000" bIns="254000" rIns="254000"/>
              <a:lstStyle/>
              <a:p>
                <a:pPr algn="l">
                  <a:lnSpc>
                    <a:spcPts val="2860"/>
                  </a:lnSpc>
                </a:pPr>
                <a:r>
                  <a:rPr lang="en-US" sz="2200">
                    <a:solidFill>
                      <a:srgbClr val="000001"/>
                    </a:solidFill>
                    <a:latin typeface="Klein"/>
                    <a:ea typeface="Klein"/>
                    <a:cs typeface="Klein"/>
                    <a:sym typeface="Klein"/>
                  </a:rPr>
                  <a:t>Menghitung dan memvisualisasikan Centrographic Statistics: Mean Center, Standard Distance, Standard Deviational Ellipse.</a:t>
                </a:r>
              </a:p>
            </p:txBody>
          </p:sp>
        </p:grpSp>
      </p:grpSp>
      <p:grpSp>
        <p:nvGrpSpPr>
          <p:cNvPr name="Group 35" id="35"/>
          <p:cNvGrpSpPr/>
          <p:nvPr/>
        </p:nvGrpSpPr>
        <p:grpSpPr>
          <a:xfrm rot="0">
            <a:off x="1585110" y="3601870"/>
            <a:ext cx="670501" cy="670501"/>
            <a:chOff x="0" y="0"/>
            <a:chExt cx="894001" cy="894001"/>
          </a:xfrm>
        </p:grpSpPr>
        <p:grpSp>
          <p:nvGrpSpPr>
            <p:cNvPr name="Group 36" id="36"/>
            <p:cNvGrpSpPr/>
            <p:nvPr/>
          </p:nvGrpSpPr>
          <p:grpSpPr>
            <a:xfrm rot="0">
              <a:off x="91692" y="91692"/>
              <a:ext cx="802309" cy="802309"/>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FC05C"/>
              </a:solidFill>
              <a:ln cap="rnd">
                <a:noFill/>
                <a:prstDash val="solid"/>
                <a:round/>
              </a:ln>
            </p:spPr>
          </p:sp>
          <p:sp>
            <p:nvSpPr>
              <p:cNvPr name="TextBox 38" id="38"/>
              <p:cNvSpPr txBox="true"/>
              <p:nvPr/>
            </p:nvSpPr>
            <p:spPr>
              <a:xfrm>
                <a:off x="76200" y="38100"/>
                <a:ext cx="660400" cy="698500"/>
              </a:xfrm>
              <a:prstGeom prst="rect">
                <a:avLst/>
              </a:prstGeom>
            </p:spPr>
            <p:txBody>
              <a:bodyPr anchor="ctr" rtlCol="false" tIns="50800" lIns="50800" bIns="50800" rIns="50800"/>
              <a:lstStyle/>
              <a:p>
                <a:pPr algn="ctr" marL="0" indent="0" lvl="0">
                  <a:lnSpc>
                    <a:spcPts val="3380"/>
                  </a:lnSpc>
                  <a:spcBef>
                    <a:spcPct val="0"/>
                  </a:spcBef>
                </a:pPr>
              </a:p>
            </p:txBody>
          </p:sp>
        </p:grpSp>
        <p:sp>
          <p:nvSpPr>
            <p:cNvPr name="Freeform 39" id="39"/>
            <p:cNvSpPr/>
            <p:nvPr/>
          </p:nvSpPr>
          <p:spPr>
            <a:xfrm flipH="false" flipV="false" rot="0">
              <a:off x="0" y="0"/>
              <a:ext cx="802309" cy="802309"/>
            </a:xfrm>
            <a:custGeom>
              <a:avLst/>
              <a:gdLst/>
              <a:ahLst/>
              <a:cxnLst/>
              <a:rect r="r" b="b" t="t" l="l"/>
              <a:pathLst>
                <a:path h="802309" w="802309">
                  <a:moveTo>
                    <a:pt x="0" y="0"/>
                  </a:moveTo>
                  <a:lnTo>
                    <a:pt x="802309" y="0"/>
                  </a:lnTo>
                  <a:lnTo>
                    <a:pt x="802309" y="802309"/>
                  </a:lnTo>
                  <a:lnTo>
                    <a:pt x="0" y="8023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40" id="40"/>
          <p:cNvGrpSpPr/>
          <p:nvPr/>
        </p:nvGrpSpPr>
        <p:grpSpPr>
          <a:xfrm rot="0">
            <a:off x="2478405" y="4864130"/>
            <a:ext cx="14128275" cy="1103026"/>
            <a:chOff x="0" y="0"/>
            <a:chExt cx="18837700" cy="1470701"/>
          </a:xfrm>
        </p:grpSpPr>
        <p:grpSp>
          <p:nvGrpSpPr>
            <p:cNvPr name="Group 41" id="41"/>
            <p:cNvGrpSpPr/>
            <p:nvPr/>
          </p:nvGrpSpPr>
          <p:grpSpPr>
            <a:xfrm rot="0">
              <a:off x="150914" y="133700"/>
              <a:ext cx="13582233" cy="1337001"/>
              <a:chOff x="0" y="0"/>
              <a:chExt cx="2912528" cy="286702"/>
            </a:xfrm>
          </p:grpSpPr>
          <p:sp>
            <p:nvSpPr>
              <p:cNvPr name="Freeform 42" id="42"/>
              <p:cNvSpPr/>
              <p:nvPr/>
            </p:nvSpPr>
            <p:spPr>
              <a:xfrm flipH="false" flipV="false" rot="0">
                <a:off x="0" y="0"/>
                <a:ext cx="2912528" cy="286702"/>
              </a:xfrm>
              <a:custGeom>
                <a:avLst/>
                <a:gdLst/>
                <a:ahLst/>
                <a:cxnLst/>
                <a:rect r="r" b="b" t="t" l="l"/>
                <a:pathLst>
                  <a:path h="286702" w="2912528">
                    <a:moveTo>
                      <a:pt x="25003" y="0"/>
                    </a:moveTo>
                    <a:lnTo>
                      <a:pt x="2887525" y="0"/>
                    </a:lnTo>
                    <a:cubicBezTo>
                      <a:pt x="2894156" y="0"/>
                      <a:pt x="2900516" y="2634"/>
                      <a:pt x="2905205" y="7323"/>
                    </a:cubicBezTo>
                    <a:cubicBezTo>
                      <a:pt x="2909894" y="12012"/>
                      <a:pt x="2912528" y="18372"/>
                      <a:pt x="2912528" y="25003"/>
                    </a:cubicBezTo>
                    <a:lnTo>
                      <a:pt x="2912528" y="261699"/>
                    </a:lnTo>
                    <a:cubicBezTo>
                      <a:pt x="2912528" y="275508"/>
                      <a:pt x="2901334" y="286702"/>
                      <a:pt x="2887525" y="286702"/>
                    </a:cubicBezTo>
                    <a:lnTo>
                      <a:pt x="25003" y="286702"/>
                    </a:lnTo>
                    <a:cubicBezTo>
                      <a:pt x="18372" y="286702"/>
                      <a:pt x="12012" y="284068"/>
                      <a:pt x="7323" y="279379"/>
                    </a:cubicBezTo>
                    <a:cubicBezTo>
                      <a:pt x="2634" y="274690"/>
                      <a:pt x="0" y="268330"/>
                      <a:pt x="0" y="261699"/>
                    </a:cubicBezTo>
                    <a:lnTo>
                      <a:pt x="0" y="25003"/>
                    </a:lnTo>
                    <a:cubicBezTo>
                      <a:pt x="0" y="18372"/>
                      <a:pt x="2634" y="12012"/>
                      <a:pt x="7323" y="7323"/>
                    </a:cubicBezTo>
                    <a:cubicBezTo>
                      <a:pt x="12012" y="2634"/>
                      <a:pt x="18372" y="0"/>
                      <a:pt x="25003" y="0"/>
                    </a:cubicBezTo>
                    <a:close/>
                  </a:path>
                </a:pathLst>
              </a:custGeom>
              <a:solidFill>
                <a:srgbClr val="FFC05C"/>
              </a:solidFill>
              <a:ln cap="rnd">
                <a:noFill/>
                <a:prstDash val="solid"/>
                <a:round/>
              </a:ln>
            </p:spPr>
          </p:sp>
          <p:sp>
            <p:nvSpPr>
              <p:cNvPr name="TextBox 43" id="43"/>
              <p:cNvSpPr txBox="true"/>
              <p:nvPr/>
            </p:nvSpPr>
            <p:spPr>
              <a:xfrm>
                <a:off x="0" y="-38100"/>
                <a:ext cx="2912528" cy="324802"/>
              </a:xfrm>
              <a:prstGeom prst="rect">
                <a:avLst/>
              </a:prstGeom>
            </p:spPr>
            <p:txBody>
              <a:bodyPr anchor="ctr" rtlCol="false" tIns="254000" lIns="254000" bIns="254000" rIns="254000"/>
              <a:lstStyle/>
              <a:p>
                <a:pPr algn="l" marL="0" indent="0" lvl="0">
                  <a:lnSpc>
                    <a:spcPts val="3380"/>
                  </a:lnSpc>
                  <a:spcBef>
                    <a:spcPct val="0"/>
                  </a:spcBef>
                </a:pPr>
              </a:p>
            </p:txBody>
          </p:sp>
        </p:grpSp>
        <p:grpSp>
          <p:nvGrpSpPr>
            <p:cNvPr name="Group 44" id="44"/>
            <p:cNvGrpSpPr/>
            <p:nvPr/>
          </p:nvGrpSpPr>
          <p:grpSpPr>
            <a:xfrm rot="0">
              <a:off x="0" y="0"/>
              <a:ext cx="18837700" cy="1427161"/>
              <a:chOff x="0" y="0"/>
              <a:chExt cx="4039493" cy="306036"/>
            </a:xfrm>
          </p:grpSpPr>
          <p:sp>
            <p:nvSpPr>
              <p:cNvPr name="Freeform 45" id="45"/>
              <p:cNvSpPr/>
              <p:nvPr/>
            </p:nvSpPr>
            <p:spPr>
              <a:xfrm flipH="false" flipV="false" rot="0">
                <a:off x="0" y="0"/>
                <a:ext cx="4039493" cy="306036"/>
              </a:xfrm>
              <a:custGeom>
                <a:avLst/>
                <a:gdLst/>
                <a:ahLst/>
                <a:cxnLst/>
                <a:rect r="r" b="b" t="t" l="l"/>
                <a:pathLst>
                  <a:path h="306036" w="4039493">
                    <a:moveTo>
                      <a:pt x="18388" y="0"/>
                    </a:moveTo>
                    <a:lnTo>
                      <a:pt x="4021105" y="0"/>
                    </a:lnTo>
                    <a:cubicBezTo>
                      <a:pt x="4025981" y="0"/>
                      <a:pt x="4030658" y="1937"/>
                      <a:pt x="4034107" y="5386"/>
                    </a:cubicBezTo>
                    <a:cubicBezTo>
                      <a:pt x="4037555" y="8834"/>
                      <a:pt x="4039493" y="13511"/>
                      <a:pt x="4039493" y="18388"/>
                    </a:cubicBezTo>
                    <a:lnTo>
                      <a:pt x="4039493" y="287647"/>
                    </a:lnTo>
                    <a:cubicBezTo>
                      <a:pt x="4039493" y="292524"/>
                      <a:pt x="4037555" y="297201"/>
                      <a:pt x="4034107" y="300650"/>
                    </a:cubicBezTo>
                    <a:cubicBezTo>
                      <a:pt x="4030658" y="304098"/>
                      <a:pt x="4025981" y="306036"/>
                      <a:pt x="4021105" y="306036"/>
                    </a:cubicBezTo>
                    <a:lnTo>
                      <a:pt x="18388" y="306036"/>
                    </a:lnTo>
                    <a:cubicBezTo>
                      <a:pt x="13511" y="306036"/>
                      <a:pt x="8834" y="304098"/>
                      <a:pt x="5386" y="300650"/>
                    </a:cubicBezTo>
                    <a:cubicBezTo>
                      <a:pt x="1937" y="297201"/>
                      <a:pt x="0" y="292524"/>
                      <a:pt x="0" y="287647"/>
                    </a:cubicBezTo>
                    <a:lnTo>
                      <a:pt x="0" y="18388"/>
                    </a:lnTo>
                    <a:cubicBezTo>
                      <a:pt x="0" y="13511"/>
                      <a:pt x="1937" y="8834"/>
                      <a:pt x="5386" y="5386"/>
                    </a:cubicBezTo>
                    <a:cubicBezTo>
                      <a:pt x="8834" y="1937"/>
                      <a:pt x="13511" y="0"/>
                      <a:pt x="18388" y="0"/>
                    </a:cubicBezTo>
                    <a:close/>
                  </a:path>
                </a:pathLst>
              </a:custGeom>
              <a:solidFill>
                <a:srgbClr val="FFFFFF"/>
              </a:solidFill>
              <a:ln cap="rnd">
                <a:noFill/>
                <a:prstDash val="solid"/>
                <a:round/>
              </a:ln>
            </p:spPr>
          </p:sp>
          <p:sp>
            <p:nvSpPr>
              <p:cNvPr name="TextBox 46" id="46"/>
              <p:cNvSpPr txBox="true"/>
              <p:nvPr/>
            </p:nvSpPr>
            <p:spPr>
              <a:xfrm>
                <a:off x="0" y="-28575"/>
                <a:ext cx="4039493" cy="334611"/>
              </a:xfrm>
              <a:prstGeom prst="rect">
                <a:avLst/>
              </a:prstGeom>
            </p:spPr>
            <p:txBody>
              <a:bodyPr anchor="ctr" rtlCol="false" tIns="254000" lIns="254000" bIns="254000" rIns="254000"/>
              <a:lstStyle/>
              <a:p>
                <a:pPr algn="l">
                  <a:lnSpc>
                    <a:spcPts val="2860"/>
                  </a:lnSpc>
                </a:pPr>
                <a:r>
                  <a:rPr lang="en-US" sz="2200">
                    <a:solidFill>
                      <a:srgbClr val="000001"/>
                    </a:solidFill>
                    <a:latin typeface="Klein"/>
                    <a:ea typeface="Klein"/>
                    <a:cs typeface="Klein"/>
                    <a:sym typeface="Klein"/>
                  </a:rPr>
                  <a:t>Melakukan Point Pattern Analysis (PPA): NNA, Quadrat Analysis, Ripley’s K/L Function.</a:t>
                </a:r>
              </a:p>
            </p:txBody>
          </p:sp>
        </p:grpSp>
      </p:grpSp>
      <p:grpSp>
        <p:nvGrpSpPr>
          <p:cNvPr name="Group 47" id="47"/>
          <p:cNvGrpSpPr/>
          <p:nvPr/>
        </p:nvGrpSpPr>
        <p:grpSpPr>
          <a:xfrm rot="0">
            <a:off x="1585110" y="5015370"/>
            <a:ext cx="670501" cy="670501"/>
            <a:chOff x="0" y="0"/>
            <a:chExt cx="894001" cy="894001"/>
          </a:xfrm>
        </p:grpSpPr>
        <p:grpSp>
          <p:nvGrpSpPr>
            <p:cNvPr name="Group 48" id="48"/>
            <p:cNvGrpSpPr/>
            <p:nvPr/>
          </p:nvGrpSpPr>
          <p:grpSpPr>
            <a:xfrm rot="0">
              <a:off x="91692" y="91692"/>
              <a:ext cx="802309" cy="802309"/>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FC05C"/>
              </a:solidFill>
              <a:ln cap="rnd">
                <a:noFill/>
                <a:prstDash val="solid"/>
                <a:round/>
              </a:ln>
            </p:spPr>
          </p:sp>
          <p:sp>
            <p:nvSpPr>
              <p:cNvPr name="TextBox 50" id="50"/>
              <p:cNvSpPr txBox="true"/>
              <p:nvPr/>
            </p:nvSpPr>
            <p:spPr>
              <a:xfrm>
                <a:off x="76200" y="38100"/>
                <a:ext cx="660400" cy="698500"/>
              </a:xfrm>
              <a:prstGeom prst="rect">
                <a:avLst/>
              </a:prstGeom>
            </p:spPr>
            <p:txBody>
              <a:bodyPr anchor="ctr" rtlCol="false" tIns="50800" lIns="50800" bIns="50800" rIns="50800"/>
              <a:lstStyle/>
              <a:p>
                <a:pPr algn="ctr" marL="0" indent="0" lvl="0">
                  <a:lnSpc>
                    <a:spcPts val="3380"/>
                  </a:lnSpc>
                  <a:spcBef>
                    <a:spcPct val="0"/>
                  </a:spcBef>
                </a:pPr>
              </a:p>
            </p:txBody>
          </p:sp>
        </p:grpSp>
        <p:sp>
          <p:nvSpPr>
            <p:cNvPr name="Freeform 51" id="51"/>
            <p:cNvSpPr/>
            <p:nvPr/>
          </p:nvSpPr>
          <p:spPr>
            <a:xfrm flipH="false" flipV="false" rot="0">
              <a:off x="0" y="0"/>
              <a:ext cx="802309" cy="802309"/>
            </a:xfrm>
            <a:custGeom>
              <a:avLst/>
              <a:gdLst/>
              <a:ahLst/>
              <a:cxnLst/>
              <a:rect r="r" b="b" t="t" l="l"/>
              <a:pathLst>
                <a:path h="802309" w="802309">
                  <a:moveTo>
                    <a:pt x="0" y="0"/>
                  </a:moveTo>
                  <a:lnTo>
                    <a:pt x="802309" y="0"/>
                  </a:lnTo>
                  <a:lnTo>
                    <a:pt x="802309" y="802309"/>
                  </a:lnTo>
                  <a:lnTo>
                    <a:pt x="0" y="8023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52" id="52"/>
          <p:cNvGrpSpPr/>
          <p:nvPr/>
        </p:nvGrpSpPr>
        <p:grpSpPr>
          <a:xfrm rot="0">
            <a:off x="2478405" y="6147894"/>
            <a:ext cx="14128275" cy="1076720"/>
            <a:chOff x="0" y="0"/>
            <a:chExt cx="18837700" cy="1435627"/>
          </a:xfrm>
        </p:grpSpPr>
        <p:grpSp>
          <p:nvGrpSpPr>
            <p:cNvPr name="Group 53" id="53"/>
            <p:cNvGrpSpPr/>
            <p:nvPr/>
          </p:nvGrpSpPr>
          <p:grpSpPr>
            <a:xfrm rot="0">
              <a:off x="160533" y="98626"/>
              <a:ext cx="14448001" cy="1337001"/>
              <a:chOff x="0" y="0"/>
              <a:chExt cx="3098180" cy="286702"/>
            </a:xfrm>
          </p:grpSpPr>
          <p:sp>
            <p:nvSpPr>
              <p:cNvPr name="Freeform 54" id="54"/>
              <p:cNvSpPr/>
              <p:nvPr/>
            </p:nvSpPr>
            <p:spPr>
              <a:xfrm flipH="false" flipV="false" rot="0">
                <a:off x="0" y="0"/>
                <a:ext cx="3098180" cy="286702"/>
              </a:xfrm>
              <a:custGeom>
                <a:avLst/>
                <a:gdLst/>
                <a:ahLst/>
                <a:cxnLst/>
                <a:rect r="r" b="b" t="t" l="l"/>
                <a:pathLst>
                  <a:path h="286702" w="3098180">
                    <a:moveTo>
                      <a:pt x="23505" y="0"/>
                    </a:moveTo>
                    <a:lnTo>
                      <a:pt x="3074676" y="0"/>
                    </a:lnTo>
                    <a:cubicBezTo>
                      <a:pt x="3087657" y="0"/>
                      <a:pt x="3098180" y="10523"/>
                      <a:pt x="3098180" y="23505"/>
                    </a:cubicBezTo>
                    <a:lnTo>
                      <a:pt x="3098180" y="263197"/>
                    </a:lnTo>
                    <a:cubicBezTo>
                      <a:pt x="3098180" y="276178"/>
                      <a:pt x="3087657" y="286702"/>
                      <a:pt x="3074676" y="286702"/>
                    </a:cubicBezTo>
                    <a:lnTo>
                      <a:pt x="23505" y="286702"/>
                    </a:lnTo>
                    <a:cubicBezTo>
                      <a:pt x="10523" y="286702"/>
                      <a:pt x="0" y="276178"/>
                      <a:pt x="0" y="263197"/>
                    </a:cubicBezTo>
                    <a:lnTo>
                      <a:pt x="0" y="23505"/>
                    </a:lnTo>
                    <a:cubicBezTo>
                      <a:pt x="0" y="10523"/>
                      <a:pt x="10523" y="0"/>
                      <a:pt x="23505" y="0"/>
                    </a:cubicBezTo>
                    <a:close/>
                  </a:path>
                </a:pathLst>
              </a:custGeom>
              <a:solidFill>
                <a:srgbClr val="FFC05C"/>
              </a:solidFill>
              <a:ln cap="rnd">
                <a:noFill/>
                <a:prstDash val="solid"/>
                <a:round/>
              </a:ln>
            </p:spPr>
          </p:sp>
          <p:sp>
            <p:nvSpPr>
              <p:cNvPr name="TextBox 55" id="55"/>
              <p:cNvSpPr txBox="true"/>
              <p:nvPr/>
            </p:nvSpPr>
            <p:spPr>
              <a:xfrm>
                <a:off x="0" y="-38100"/>
                <a:ext cx="3098180" cy="324802"/>
              </a:xfrm>
              <a:prstGeom prst="rect">
                <a:avLst/>
              </a:prstGeom>
            </p:spPr>
            <p:txBody>
              <a:bodyPr anchor="ctr" rtlCol="false" tIns="254000" lIns="254000" bIns="254000" rIns="254000"/>
              <a:lstStyle/>
              <a:p>
                <a:pPr algn="ctr" marL="0" indent="0" lvl="0">
                  <a:lnSpc>
                    <a:spcPts val="3380"/>
                  </a:lnSpc>
                  <a:spcBef>
                    <a:spcPct val="0"/>
                  </a:spcBef>
                </a:pPr>
              </a:p>
            </p:txBody>
          </p:sp>
        </p:grpSp>
        <p:grpSp>
          <p:nvGrpSpPr>
            <p:cNvPr name="Group 56" id="56"/>
            <p:cNvGrpSpPr/>
            <p:nvPr/>
          </p:nvGrpSpPr>
          <p:grpSpPr>
            <a:xfrm rot="0">
              <a:off x="0" y="0"/>
              <a:ext cx="18837700" cy="1337001"/>
              <a:chOff x="0" y="0"/>
              <a:chExt cx="4039493" cy="286702"/>
            </a:xfrm>
          </p:grpSpPr>
          <p:sp>
            <p:nvSpPr>
              <p:cNvPr name="Freeform 57" id="57"/>
              <p:cNvSpPr/>
              <p:nvPr/>
            </p:nvSpPr>
            <p:spPr>
              <a:xfrm flipH="false" flipV="false" rot="0">
                <a:off x="0" y="0"/>
                <a:ext cx="4039493" cy="286702"/>
              </a:xfrm>
              <a:custGeom>
                <a:avLst/>
                <a:gdLst/>
                <a:ahLst/>
                <a:cxnLst/>
                <a:rect r="r" b="b" t="t" l="l"/>
                <a:pathLst>
                  <a:path h="286702" w="4039493">
                    <a:moveTo>
                      <a:pt x="18388" y="0"/>
                    </a:moveTo>
                    <a:lnTo>
                      <a:pt x="4021105" y="0"/>
                    </a:lnTo>
                    <a:cubicBezTo>
                      <a:pt x="4025981" y="0"/>
                      <a:pt x="4030658" y="1937"/>
                      <a:pt x="4034107" y="5386"/>
                    </a:cubicBezTo>
                    <a:cubicBezTo>
                      <a:pt x="4037555" y="8834"/>
                      <a:pt x="4039493" y="13511"/>
                      <a:pt x="4039493" y="18388"/>
                    </a:cubicBezTo>
                    <a:lnTo>
                      <a:pt x="4039493" y="268314"/>
                    </a:lnTo>
                    <a:cubicBezTo>
                      <a:pt x="4039493" y="273191"/>
                      <a:pt x="4037555" y="277868"/>
                      <a:pt x="4034107" y="281316"/>
                    </a:cubicBezTo>
                    <a:cubicBezTo>
                      <a:pt x="4030658" y="284765"/>
                      <a:pt x="4025981" y="286702"/>
                      <a:pt x="4021105" y="286702"/>
                    </a:cubicBezTo>
                    <a:lnTo>
                      <a:pt x="18388" y="286702"/>
                    </a:lnTo>
                    <a:cubicBezTo>
                      <a:pt x="13511" y="286702"/>
                      <a:pt x="8834" y="284765"/>
                      <a:pt x="5386" y="281316"/>
                    </a:cubicBezTo>
                    <a:cubicBezTo>
                      <a:pt x="1937" y="277868"/>
                      <a:pt x="0" y="273191"/>
                      <a:pt x="0" y="268314"/>
                    </a:cubicBezTo>
                    <a:lnTo>
                      <a:pt x="0" y="18388"/>
                    </a:lnTo>
                    <a:cubicBezTo>
                      <a:pt x="0" y="13511"/>
                      <a:pt x="1937" y="8834"/>
                      <a:pt x="5386" y="5386"/>
                    </a:cubicBezTo>
                    <a:cubicBezTo>
                      <a:pt x="8834" y="1937"/>
                      <a:pt x="13511" y="0"/>
                      <a:pt x="18388" y="0"/>
                    </a:cubicBezTo>
                    <a:close/>
                  </a:path>
                </a:pathLst>
              </a:custGeom>
              <a:solidFill>
                <a:srgbClr val="FFFFFF"/>
              </a:solidFill>
              <a:ln cap="rnd">
                <a:noFill/>
                <a:prstDash val="solid"/>
                <a:round/>
              </a:ln>
            </p:spPr>
          </p:sp>
          <p:sp>
            <p:nvSpPr>
              <p:cNvPr name="TextBox 58" id="58"/>
              <p:cNvSpPr txBox="true"/>
              <p:nvPr/>
            </p:nvSpPr>
            <p:spPr>
              <a:xfrm>
                <a:off x="0" y="-28575"/>
                <a:ext cx="4039493" cy="315277"/>
              </a:xfrm>
              <a:prstGeom prst="rect">
                <a:avLst/>
              </a:prstGeom>
            </p:spPr>
            <p:txBody>
              <a:bodyPr anchor="ctr" rtlCol="false" tIns="254000" lIns="254000" bIns="254000" rIns="254000"/>
              <a:lstStyle/>
              <a:p>
                <a:pPr algn="l">
                  <a:lnSpc>
                    <a:spcPts val="2860"/>
                  </a:lnSpc>
                </a:pPr>
                <a:r>
                  <a:rPr lang="en-US" sz="2200">
                    <a:solidFill>
                      <a:srgbClr val="000001"/>
                    </a:solidFill>
                    <a:latin typeface="Klein"/>
                    <a:ea typeface="Klein"/>
                    <a:cs typeface="Klein"/>
                    <a:sym typeface="Klein"/>
                  </a:rPr>
                  <a:t>Menguji autokorelasi spasial menggunakan Moran’s I dan Moran Scatterplot.</a:t>
                </a:r>
              </a:p>
            </p:txBody>
          </p:sp>
        </p:grpSp>
      </p:grpSp>
      <p:grpSp>
        <p:nvGrpSpPr>
          <p:cNvPr name="Group 59" id="59"/>
          <p:cNvGrpSpPr/>
          <p:nvPr/>
        </p:nvGrpSpPr>
        <p:grpSpPr>
          <a:xfrm rot="0">
            <a:off x="1585110" y="6272829"/>
            <a:ext cx="670501" cy="670501"/>
            <a:chOff x="0" y="0"/>
            <a:chExt cx="894001" cy="894001"/>
          </a:xfrm>
        </p:grpSpPr>
        <p:grpSp>
          <p:nvGrpSpPr>
            <p:cNvPr name="Group 60" id="60"/>
            <p:cNvGrpSpPr/>
            <p:nvPr/>
          </p:nvGrpSpPr>
          <p:grpSpPr>
            <a:xfrm rot="0">
              <a:off x="91692" y="91692"/>
              <a:ext cx="802309" cy="802309"/>
              <a:chOff x="0" y="0"/>
              <a:chExt cx="812800" cy="812800"/>
            </a:xfrm>
          </p:grpSpPr>
          <p:sp>
            <p:nvSpPr>
              <p:cNvPr name="Freeform 61" id="6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FC05C"/>
              </a:solidFill>
              <a:ln cap="rnd">
                <a:noFill/>
                <a:prstDash val="solid"/>
                <a:round/>
              </a:ln>
            </p:spPr>
          </p:sp>
          <p:sp>
            <p:nvSpPr>
              <p:cNvPr name="TextBox 62" id="62"/>
              <p:cNvSpPr txBox="true"/>
              <p:nvPr/>
            </p:nvSpPr>
            <p:spPr>
              <a:xfrm>
                <a:off x="76200" y="38100"/>
                <a:ext cx="660400" cy="698500"/>
              </a:xfrm>
              <a:prstGeom prst="rect">
                <a:avLst/>
              </a:prstGeom>
            </p:spPr>
            <p:txBody>
              <a:bodyPr anchor="ctr" rtlCol="false" tIns="50800" lIns="50800" bIns="50800" rIns="50800"/>
              <a:lstStyle/>
              <a:p>
                <a:pPr algn="ctr" marL="0" indent="0" lvl="0">
                  <a:lnSpc>
                    <a:spcPts val="3380"/>
                  </a:lnSpc>
                  <a:spcBef>
                    <a:spcPct val="0"/>
                  </a:spcBef>
                </a:pPr>
              </a:p>
            </p:txBody>
          </p:sp>
        </p:grpSp>
        <p:sp>
          <p:nvSpPr>
            <p:cNvPr name="Freeform 63" id="63"/>
            <p:cNvSpPr/>
            <p:nvPr/>
          </p:nvSpPr>
          <p:spPr>
            <a:xfrm flipH="false" flipV="false" rot="0">
              <a:off x="0" y="0"/>
              <a:ext cx="802309" cy="802309"/>
            </a:xfrm>
            <a:custGeom>
              <a:avLst/>
              <a:gdLst/>
              <a:ahLst/>
              <a:cxnLst/>
              <a:rect r="r" b="b" t="t" l="l"/>
              <a:pathLst>
                <a:path h="802309" w="802309">
                  <a:moveTo>
                    <a:pt x="0" y="0"/>
                  </a:moveTo>
                  <a:lnTo>
                    <a:pt x="802309" y="0"/>
                  </a:lnTo>
                  <a:lnTo>
                    <a:pt x="802309" y="802309"/>
                  </a:lnTo>
                  <a:lnTo>
                    <a:pt x="0" y="8023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64" id="64"/>
          <p:cNvGrpSpPr/>
          <p:nvPr/>
        </p:nvGrpSpPr>
        <p:grpSpPr>
          <a:xfrm rot="0">
            <a:off x="2478405" y="7381468"/>
            <a:ext cx="14128275" cy="1103026"/>
            <a:chOff x="0" y="0"/>
            <a:chExt cx="18837700" cy="1470701"/>
          </a:xfrm>
        </p:grpSpPr>
        <p:grpSp>
          <p:nvGrpSpPr>
            <p:cNvPr name="Group 65" id="65"/>
            <p:cNvGrpSpPr/>
            <p:nvPr/>
          </p:nvGrpSpPr>
          <p:grpSpPr>
            <a:xfrm rot="0">
              <a:off x="170255" y="133700"/>
              <a:ext cx="15322905" cy="1337001"/>
              <a:chOff x="0" y="0"/>
              <a:chExt cx="3285792" cy="286702"/>
            </a:xfrm>
          </p:grpSpPr>
          <p:sp>
            <p:nvSpPr>
              <p:cNvPr name="Freeform 66" id="66"/>
              <p:cNvSpPr/>
              <p:nvPr/>
            </p:nvSpPr>
            <p:spPr>
              <a:xfrm flipH="false" flipV="false" rot="0">
                <a:off x="0" y="0"/>
                <a:ext cx="3285792" cy="286702"/>
              </a:xfrm>
              <a:custGeom>
                <a:avLst/>
                <a:gdLst/>
                <a:ahLst/>
                <a:cxnLst/>
                <a:rect r="r" b="b" t="t" l="l"/>
                <a:pathLst>
                  <a:path h="286702" w="3285792">
                    <a:moveTo>
                      <a:pt x="22163" y="0"/>
                    </a:moveTo>
                    <a:lnTo>
                      <a:pt x="3263629" y="0"/>
                    </a:lnTo>
                    <a:cubicBezTo>
                      <a:pt x="3275869" y="0"/>
                      <a:pt x="3285792" y="9923"/>
                      <a:pt x="3285792" y="22163"/>
                    </a:cubicBezTo>
                    <a:lnTo>
                      <a:pt x="3285792" y="264539"/>
                    </a:lnTo>
                    <a:cubicBezTo>
                      <a:pt x="3285792" y="276779"/>
                      <a:pt x="3275869" y="286702"/>
                      <a:pt x="3263629" y="286702"/>
                    </a:cubicBezTo>
                    <a:lnTo>
                      <a:pt x="22163" y="286702"/>
                    </a:lnTo>
                    <a:cubicBezTo>
                      <a:pt x="9923" y="286702"/>
                      <a:pt x="0" y="276779"/>
                      <a:pt x="0" y="264539"/>
                    </a:cubicBezTo>
                    <a:lnTo>
                      <a:pt x="0" y="22163"/>
                    </a:lnTo>
                    <a:cubicBezTo>
                      <a:pt x="0" y="9923"/>
                      <a:pt x="9923" y="0"/>
                      <a:pt x="22163" y="0"/>
                    </a:cubicBezTo>
                    <a:close/>
                  </a:path>
                </a:pathLst>
              </a:custGeom>
              <a:solidFill>
                <a:srgbClr val="FFC05C"/>
              </a:solidFill>
              <a:ln cap="rnd">
                <a:noFill/>
                <a:prstDash val="solid"/>
                <a:round/>
              </a:ln>
            </p:spPr>
          </p:sp>
          <p:sp>
            <p:nvSpPr>
              <p:cNvPr name="TextBox 67" id="67"/>
              <p:cNvSpPr txBox="true"/>
              <p:nvPr/>
            </p:nvSpPr>
            <p:spPr>
              <a:xfrm>
                <a:off x="0" y="-38100"/>
                <a:ext cx="3285792" cy="324802"/>
              </a:xfrm>
              <a:prstGeom prst="rect">
                <a:avLst/>
              </a:prstGeom>
            </p:spPr>
            <p:txBody>
              <a:bodyPr anchor="ctr" rtlCol="false" tIns="254000" lIns="254000" bIns="254000" rIns="254000"/>
              <a:lstStyle/>
              <a:p>
                <a:pPr algn="l" marL="0" indent="0" lvl="0">
                  <a:lnSpc>
                    <a:spcPts val="3380"/>
                  </a:lnSpc>
                  <a:spcBef>
                    <a:spcPct val="0"/>
                  </a:spcBef>
                </a:pPr>
              </a:p>
            </p:txBody>
          </p:sp>
        </p:grpSp>
        <p:grpSp>
          <p:nvGrpSpPr>
            <p:cNvPr name="Group 68" id="68"/>
            <p:cNvGrpSpPr/>
            <p:nvPr/>
          </p:nvGrpSpPr>
          <p:grpSpPr>
            <a:xfrm rot="0">
              <a:off x="0" y="0"/>
              <a:ext cx="18837700" cy="1427161"/>
              <a:chOff x="0" y="0"/>
              <a:chExt cx="4039493" cy="306036"/>
            </a:xfrm>
          </p:grpSpPr>
          <p:sp>
            <p:nvSpPr>
              <p:cNvPr name="Freeform 69" id="69"/>
              <p:cNvSpPr/>
              <p:nvPr/>
            </p:nvSpPr>
            <p:spPr>
              <a:xfrm flipH="false" flipV="false" rot="0">
                <a:off x="0" y="0"/>
                <a:ext cx="4039493" cy="306036"/>
              </a:xfrm>
              <a:custGeom>
                <a:avLst/>
                <a:gdLst/>
                <a:ahLst/>
                <a:cxnLst/>
                <a:rect r="r" b="b" t="t" l="l"/>
                <a:pathLst>
                  <a:path h="306036" w="4039493">
                    <a:moveTo>
                      <a:pt x="18388" y="0"/>
                    </a:moveTo>
                    <a:lnTo>
                      <a:pt x="4021105" y="0"/>
                    </a:lnTo>
                    <a:cubicBezTo>
                      <a:pt x="4025981" y="0"/>
                      <a:pt x="4030658" y="1937"/>
                      <a:pt x="4034107" y="5386"/>
                    </a:cubicBezTo>
                    <a:cubicBezTo>
                      <a:pt x="4037555" y="8834"/>
                      <a:pt x="4039493" y="13511"/>
                      <a:pt x="4039493" y="18388"/>
                    </a:cubicBezTo>
                    <a:lnTo>
                      <a:pt x="4039493" y="287647"/>
                    </a:lnTo>
                    <a:cubicBezTo>
                      <a:pt x="4039493" y="292524"/>
                      <a:pt x="4037555" y="297201"/>
                      <a:pt x="4034107" y="300650"/>
                    </a:cubicBezTo>
                    <a:cubicBezTo>
                      <a:pt x="4030658" y="304098"/>
                      <a:pt x="4025981" y="306036"/>
                      <a:pt x="4021105" y="306036"/>
                    </a:cubicBezTo>
                    <a:lnTo>
                      <a:pt x="18388" y="306036"/>
                    </a:lnTo>
                    <a:cubicBezTo>
                      <a:pt x="13511" y="306036"/>
                      <a:pt x="8834" y="304098"/>
                      <a:pt x="5386" y="300650"/>
                    </a:cubicBezTo>
                    <a:cubicBezTo>
                      <a:pt x="1937" y="297201"/>
                      <a:pt x="0" y="292524"/>
                      <a:pt x="0" y="287647"/>
                    </a:cubicBezTo>
                    <a:lnTo>
                      <a:pt x="0" y="18388"/>
                    </a:lnTo>
                    <a:cubicBezTo>
                      <a:pt x="0" y="13511"/>
                      <a:pt x="1937" y="8834"/>
                      <a:pt x="5386" y="5386"/>
                    </a:cubicBezTo>
                    <a:cubicBezTo>
                      <a:pt x="8834" y="1937"/>
                      <a:pt x="13511" y="0"/>
                      <a:pt x="18388" y="0"/>
                    </a:cubicBezTo>
                    <a:close/>
                  </a:path>
                </a:pathLst>
              </a:custGeom>
              <a:solidFill>
                <a:srgbClr val="FFFFFF"/>
              </a:solidFill>
              <a:ln cap="rnd">
                <a:noFill/>
                <a:prstDash val="solid"/>
                <a:round/>
              </a:ln>
            </p:spPr>
          </p:sp>
          <p:sp>
            <p:nvSpPr>
              <p:cNvPr name="TextBox 70" id="70"/>
              <p:cNvSpPr txBox="true"/>
              <p:nvPr/>
            </p:nvSpPr>
            <p:spPr>
              <a:xfrm>
                <a:off x="0" y="-28575"/>
                <a:ext cx="4039493" cy="334611"/>
              </a:xfrm>
              <a:prstGeom prst="rect">
                <a:avLst/>
              </a:prstGeom>
            </p:spPr>
            <p:txBody>
              <a:bodyPr anchor="ctr" rtlCol="false" tIns="254000" lIns="254000" bIns="254000" rIns="254000"/>
              <a:lstStyle/>
              <a:p>
                <a:pPr algn="l">
                  <a:lnSpc>
                    <a:spcPts val="2860"/>
                  </a:lnSpc>
                </a:pPr>
                <a:r>
                  <a:rPr lang="en-US" sz="2200">
                    <a:solidFill>
                      <a:srgbClr val="000001"/>
                    </a:solidFill>
                    <a:latin typeface="Klein"/>
                    <a:ea typeface="Klein"/>
                    <a:cs typeface="Klein"/>
                    <a:sym typeface="Klein"/>
                  </a:rPr>
                  <a:t>Mengembangkan model regresi spasial (OLS, SAR, SEM) untuk memahami faktor penyebab dan memprediksi distribusi banjir.</a:t>
                </a:r>
              </a:p>
            </p:txBody>
          </p:sp>
        </p:grpSp>
      </p:grpSp>
      <p:grpSp>
        <p:nvGrpSpPr>
          <p:cNvPr name="Group 71" id="71"/>
          <p:cNvGrpSpPr/>
          <p:nvPr/>
        </p:nvGrpSpPr>
        <p:grpSpPr>
          <a:xfrm rot="0">
            <a:off x="1585110" y="7532708"/>
            <a:ext cx="670501" cy="670501"/>
            <a:chOff x="0" y="0"/>
            <a:chExt cx="894001" cy="894001"/>
          </a:xfrm>
        </p:grpSpPr>
        <p:grpSp>
          <p:nvGrpSpPr>
            <p:cNvPr name="Group 72" id="72"/>
            <p:cNvGrpSpPr/>
            <p:nvPr/>
          </p:nvGrpSpPr>
          <p:grpSpPr>
            <a:xfrm rot="0">
              <a:off x="91692" y="91692"/>
              <a:ext cx="802309" cy="802309"/>
              <a:chOff x="0" y="0"/>
              <a:chExt cx="812800" cy="812800"/>
            </a:xfrm>
          </p:grpSpPr>
          <p:sp>
            <p:nvSpPr>
              <p:cNvPr name="Freeform 73" id="7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FC05C"/>
              </a:solidFill>
              <a:ln cap="rnd">
                <a:noFill/>
                <a:prstDash val="solid"/>
                <a:round/>
              </a:ln>
            </p:spPr>
          </p:sp>
          <p:sp>
            <p:nvSpPr>
              <p:cNvPr name="TextBox 74" id="74"/>
              <p:cNvSpPr txBox="true"/>
              <p:nvPr/>
            </p:nvSpPr>
            <p:spPr>
              <a:xfrm>
                <a:off x="76200" y="38100"/>
                <a:ext cx="660400" cy="698500"/>
              </a:xfrm>
              <a:prstGeom prst="rect">
                <a:avLst/>
              </a:prstGeom>
            </p:spPr>
            <p:txBody>
              <a:bodyPr anchor="ctr" rtlCol="false" tIns="50800" lIns="50800" bIns="50800" rIns="50800"/>
              <a:lstStyle/>
              <a:p>
                <a:pPr algn="ctr" marL="0" indent="0" lvl="0">
                  <a:lnSpc>
                    <a:spcPts val="3380"/>
                  </a:lnSpc>
                  <a:spcBef>
                    <a:spcPct val="0"/>
                  </a:spcBef>
                </a:pPr>
              </a:p>
            </p:txBody>
          </p:sp>
        </p:grpSp>
        <p:sp>
          <p:nvSpPr>
            <p:cNvPr name="Freeform 75" id="75"/>
            <p:cNvSpPr/>
            <p:nvPr/>
          </p:nvSpPr>
          <p:spPr>
            <a:xfrm flipH="false" flipV="false" rot="0">
              <a:off x="0" y="0"/>
              <a:ext cx="802309" cy="802309"/>
            </a:xfrm>
            <a:custGeom>
              <a:avLst/>
              <a:gdLst/>
              <a:ahLst/>
              <a:cxnLst/>
              <a:rect r="r" b="b" t="t" l="l"/>
              <a:pathLst>
                <a:path h="802309" w="802309">
                  <a:moveTo>
                    <a:pt x="0" y="0"/>
                  </a:moveTo>
                  <a:lnTo>
                    <a:pt x="802309" y="0"/>
                  </a:lnTo>
                  <a:lnTo>
                    <a:pt x="802309" y="802309"/>
                  </a:lnTo>
                  <a:lnTo>
                    <a:pt x="0" y="8023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76" id="76"/>
          <p:cNvGrpSpPr/>
          <p:nvPr/>
        </p:nvGrpSpPr>
        <p:grpSpPr>
          <a:xfrm rot="0">
            <a:off x="2478405" y="8794968"/>
            <a:ext cx="14224485" cy="1103026"/>
            <a:chOff x="0" y="0"/>
            <a:chExt cx="18965980" cy="1470701"/>
          </a:xfrm>
        </p:grpSpPr>
        <p:grpSp>
          <p:nvGrpSpPr>
            <p:cNvPr name="Group 77" id="77"/>
            <p:cNvGrpSpPr/>
            <p:nvPr/>
          </p:nvGrpSpPr>
          <p:grpSpPr>
            <a:xfrm rot="0">
              <a:off x="133700" y="133700"/>
              <a:ext cx="12033008" cy="1337001"/>
              <a:chOff x="0" y="0"/>
              <a:chExt cx="2580317" cy="286702"/>
            </a:xfrm>
          </p:grpSpPr>
          <p:sp>
            <p:nvSpPr>
              <p:cNvPr name="Freeform 78" id="78"/>
              <p:cNvSpPr/>
              <p:nvPr/>
            </p:nvSpPr>
            <p:spPr>
              <a:xfrm flipH="false" flipV="false" rot="0">
                <a:off x="0" y="0"/>
                <a:ext cx="2580318" cy="286702"/>
              </a:xfrm>
              <a:custGeom>
                <a:avLst/>
                <a:gdLst/>
                <a:ahLst/>
                <a:cxnLst/>
                <a:rect r="r" b="b" t="t" l="l"/>
                <a:pathLst>
                  <a:path h="286702" w="2580318">
                    <a:moveTo>
                      <a:pt x="28222" y="0"/>
                    </a:moveTo>
                    <a:lnTo>
                      <a:pt x="2552095" y="0"/>
                    </a:lnTo>
                    <a:cubicBezTo>
                      <a:pt x="2567682" y="0"/>
                      <a:pt x="2580318" y="12636"/>
                      <a:pt x="2580318" y="28222"/>
                    </a:cubicBezTo>
                    <a:lnTo>
                      <a:pt x="2580318" y="258480"/>
                    </a:lnTo>
                    <a:cubicBezTo>
                      <a:pt x="2580318" y="265965"/>
                      <a:pt x="2577344" y="273143"/>
                      <a:pt x="2572051" y="278436"/>
                    </a:cubicBezTo>
                    <a:cubicBezTo>
                      <a:pt x="2566759" y="283729"/>
                      <a:pt x="2559580" y="286702"/>
                      <a:pt x="2552095" y="286702"/>
                    </a:cubicBezTo>
                    <a:lnTo>
                      <a:pt x="28222" y="286702"/>
                    </a:lnTo>
                    <a:cubicBezTo>
                      <a:pt x="20737" y="286702"/>
                      <a:pt x="13559" y="283729"/>
                      <a:pt x="8266" y="278436"/>
                    </a:cubicBezTo>
                    <a:cubicBezTo>
                      <a:pt x="2973" y="273143"/>
                      <a:pt x="0" y="265965"/>
                      <a:pt x="0" y="258480"/>
                    </a:cubicBezTo>
                    <a:lnTo>
                      <a:pt x="0" y="28222"/>
                    </a:lnTo>
                    <a:cubicBezTo>
                      <a:pt x="0" y="20737"/>
                      <a:pt x="2973" y="13559"/>
                      <a:pt x="8266" y="8266"/>
                    </a:cubicBezTo>
                    <a:cubicBezTo>
                      <a:pt x="13559" y="2973"/>
                      <a:pt x="20737" y="0"/>
                      <a:pt x="28222" y="0"/>
                    </a:cubicBezTo>
                    <a:close/>
                  </a:path>
                </a:pathLst>
              </a:custGeom>
              <a:solidFill>
                <a:srgbClr val="FFC05C"/>
              </a:solidFill>
              <a:ln cap="rnd">
                <a:noFill/>
                <a:prstDash val="solid"/>
                <a:round/>
              </a:ln>
            </p:spPr>
          </p:sp>
          <p:sp>
            <p:nvSpPr>
              <p:cNvPr name="TextBox 79" id="79"/>
              <p:cNvSpPr txBox="true"/>
              <p:nvPr/>
            </p:nvSpPr>
            <p:spPr>
              <a:xfrm>
                <a:off x="0" y="-38100"/>
                <a:ext cx="2580317" cy="324802"/>
              </a:xfrm>
              <a:prstGeom prst="rect">
                <a:avLst/>
              </a:prstGeom>
            </p:spPr>
            <p:txBody>
              <a:bodyPr anchor="ctr" rtlCol="false" tIns="254000" lIns="254000" bIns="254000" rIns="254000"/>
              <a:lstStyle/>
              <a:p>
                <a:pPr algn="l" marL="0" indent="0" lvl="0">
                  <a:lnSpc>
                    <a:spcPts val="3380"/>
                  </a:lnSpc>
                  <a:spcBef>
                    <a:spcPct val="0"/>
                  </a:spcBef>
                </a:pPr>
              </a:p>
            </p:txBody>
          </p:sp>
        </p:grpSp>
        <p:grpSp>
          <p:nvGrpSpPr>
            <p:cNvPr name="Group 80" id="80"/>
            <p:cNvGrpSpPr/>
            <p:nvPr/>
          </p:nvGrpSpPr>
          <p:grpSpPr>
            <a:xfrm rot="0">
              <a:off x="0" y="0"/>
              <a:ext cx="18965980" cy="1427161"/>
              <a:chOff x="0" y="0"/>
              <a:chExt cx="4067000" cy="306036"/>
            </a:xfrm>
          </p:grpSpPr>
          <p:sp>
            <p:nvSpPr>
              <p:cNvPr name="Freeform 81" id="81"/>
              <p:cNvSpPr/>
              <p:nvPr/>
            </p:nvSpPr>
            <p:spPr>
              <a:xfrm flipH="false" flipV="false" rot="0">
                <a:off x="0" y="0"/>
                <a:ext cx="4067000" cy="306036"/>
              </a:xfrm>
              <a:custGeom>
                <a:avLst/>
                <a:gdLst/>
                <a:ahLst/>
                <a:cxnLst/>
                <a:rect r="r" b="b" t="t" l="l"/>
                <a:pathLst>
                  <a:path h="306036" w="4067000">
                    <a:moveTo>
                      <a:pt x="18264" y="0"/>
                    </a:moveTo>
                    <a:lnTo>
                      <a:pt x="4048737" y="0"/>
                    </a:lnTo>
                    <a:cubicBezTo>
                      <a:pt x="4058823" y="0"/>
                      <a:pt x="4067000" y="8177"/>
                      <a:pt x="4067000" y="18264"/>
                    </a:cubicBezTo>
                    <a:lnTo>
                      <a:pt x="4067000" y="287772"/>
                    </a:lnTo>
                    <a:cubicBezTo>
                      <a:pt x="4067000" y="297859"/>
                      <a:pt x="4058823" y="306036"/>
                      <a:pt x="4048737" y="306036"/>
                    </a:cubicBezTo>
                    <a:lnTo>
                      <a:pt x="18264" y="306036"/>
                    </a:lnTo>
                    <a:cubicBezTo>
                      <a:pt x="13420" y="306036"/>
                      <a:pt x="8774" y="304111"/>
                      <a:pt x="5349" y="300686"/>
                    </a:cubicBezTo>
                    <a:cubicBezTo>
                      <a:pt x="1924" y="297261"/>
                      <a:pt x="0" y="292616"/>
                      <a:pt x="0" y="287772"/>
                    </a:cubicBezTo>
                    <a:lnTo>
                      <a:pt x="0" y="18264"/>
                    </a:lnTo>
                    <a:cubicBezTo>
                      <a:pt x="0" y="8177"/>
                      <a:pt x="8177" y="0"/>
                      <a:pt x="18264" y="0"/>
                    </a:cubicBezTo>
                    <a:close/>
                  </a:path>
                </a:pathLst>
              </a:custGeom>
              <a:solidFill>
                <a:srgbClr val="FFFFFF"/>
              </a:solidFill>
              <a:ln cap="rnd">
                <a:noFill/>
                <a:prstDash val="solid"/>
                <a:round/>
              </a:ln>
            </p:spPr>
          </p:sp>
          <p:sp>
            <p:nvSpPr>
              <p:cNvPr name="TextBox 82" id="82"/>
              <p:cNvSpPr txBox="true"/>
              <p:nvPr/>
            </p:nvSpPr>
            <p:spPr>
              <a:xfrm>
                <a:off x="0" y="-28575"/>
                <a:ext cx="4067000" cy="334611"/>
              </a:xfrm>
              <a:prstGeom prst="rect">
                <a:avLst/>
              </a:prstGeom>
            </p:spPr>
            <p:txBody>
              <a:bodyPr anchor="ctr" rtlCol="false" tIns="254000" lIns="254000" bIns="254000" rIns="254000"/>
              <a:lstStyle/>
              <a:p>
                <a:pPr algn="l">
                  <a:lnSpc>
                    <a:spcPts val="2860"/>
                  </a:lnSpc>
                </a:pPr>
                <a:r>
                  <a:rPr lang="en-US" sz="2200">
                    <a:solidFill>
                      <a:srgbClr val="000001"/>
                    </a:solidFill>
                    <a:latin typeface="Klein"/>
                    <a:ea typeface="Klein"/>
                    <a:cs typeface="Klein"/>
                    <a:sym typeface="Klein"/>
                  </a:rPr>
                  <a:t>Memberikan visualisasi peta tematik, residual, dan interpretasi naratif yang jelas untuk mendukung keputusan perencanaan kota.</a:t>
                </a:r>
              </a:p>
            </p:txBody>
          </p:sp>
        </p:grpSp>
      </p:grpSp>
      <p:grpSp>
        <p:nvGrpSpPr>
          <p:cNvPr name="Group 83" id="83"/>
          <p:cNvGrpSpPr/>
          <p:nvPr/>
        </p:nvGrpSpPr>
        <p:grpSpPr>
          <a:xfrm rot="0">
            <a:off x="1585110" y="8946208"/>
            <a:ext cx="670501" cy="670501"/>
            <a:chOff x="0" y="0"/>
            <a:chExt cx="894001" cy="894001"/>
          </a:xfrm>
        </p:grpSpPr>
        <p:grpSp>
          <p:nvGrpSpPr>
            <p:cNvPr name="Group 84" id="84"/>
            <p:cNvGrpSpPr/>
            <p:nvPr/>
          </p:nvGrpSpPr>
          <p:grpSpPr>
            <a:xfrm rot="0">
              <a:off x="91692" y="91692"/>
              <a:ext cx="802309" cy="802309"/>
              <a:chOff x="0" y="0"/>
              <a:chExt cx="812800" cy="812800"/>
            </a:xfrm>
          </p:grpSpPr>
          <p:sp>
            <p:nvSpPr>
              <p:cNvPr name="Freeform 85" id="8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FC05C"/>
              </a:solidFill>
              <a:ln cap="rnd">
                <a:noFill/>
                <a:prstDash val="solid"/>
                <a:round/>
              </a:ln>
            </p:spPr>
          </p:sp>
          <p:sp>
            <p:nvSpPr>
              <p:cNvPr name="TextBox 86" id="86"/>
              <p:cNvSpPr txBox="true"/>
              <p:nvPr/>
            </p:nvSpPr>
            <p:spPr>
              <a:xfrm>
                <a:off x="76200" y="38100"/>
                <a:ext cx="660400" cy="698500"/>
              </a:xfrm>
              <a:prstGeom prst="rect">
                <a:avLst/>
              </a:prstGeom>
            </p:spPr>
            <p:txBody>
              <a:bodyPr anchor="ctr" rtlCol="false" tIns="50800" lIns="50800" bIns="50800" rIns="50800"/>
              <a:lstStyle/>
              <a:p>
                <a:pPr algn="ctr" marL="0" indent="0" lvl="0">
                  <a:lnSpc>
                    <a:spcPts val="3380"/>
                  </a:lnSpc>
                  <a:spcBef>
                    <a:spcPct val="0"/>
                  </a:spcBef>
                </a:pPr>
              </a:p>
            </p:txBody>
          </p:sp>
        </p:grpSp>
        <p:sp>
          <p:nvSpPr>
            <p:cNvPr name="Freeform 87" id="87"/>
            <p:cNvSpPr/>
            <p:nvPr/>
          </p:nvSpPr>
          <p:spPr>
            <a:xfrm flipH="false" flipV="false" rot="0">
              <a:off x="0" y="0"/>
              <a:ext cx="802309" cy="802309"/>
            </a:xfrm>
            <a:custGeom>
              <a:avLst/>
              <a:gdLst/>
              <a:ahLst/>
              <a:cxnLst/>
              <a:rect r="r" b="b" t="t" l="l"/>
              <a:pathLst>
                <a:path h="802309" w="802309">
                  <a:moveTo>
                    <a:pt x="0" y="0"/>
                  </a:moveTo>
                  <a:lnTo>
                    <a:pt x="802309" y="0"/>
                  </a:lnTo>
                  <a:lnTo>
                    <a:pt x="802309" y="802309"/>
                  </a:lnTo>
                  <a:lnTo>
                    <a:pt x="0" y="8023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transition spd="fast">
    <p:fade/>
  </p:transition>
</p:sld>
</file>

<file path=ppt/slides/slide5.xml><?xml version="1.0" encoding="utf-8"?>
<p:sld xmlns:p="http://schemas.openxmlformats.org/presentationml/2006/main" xmlns:a="http://schemas.openxmlformats.org/drawingml/2006/main">
  <p:cSld>
    <p:bg>
      <p:bgPr>
        <a:solidFill>
          <a:srgbClr val="EFB59C"/>
        </a:solidFill>
      </p:bgPr>
    </p:bg>
    <p:spTree>
      <p:nvGrpSpPr>
        <p:cNvPr id="1" name=""/>
        <p:cNvGrpSpPr/>
        <p:nvPr/>
      </p:nvGrpSpPr>
      <p:grpSpPr>
        <a:xfrm>
          <a:off x="0" y="0"/>
          <a:ext cx="0" cy="0"/>
          <a:chOff x="0" y="0"/>
          <a:chExt cx="0" cy="0"/>
        </a:xfrm>
      </p:grpSpPr>
      <p:grpSp>
        <p:nvGrpSpPr>
          <p:cNvPr name="Group 2" id="2"/>
          <p:cNvGrpSpPr/>
          <p:nvPr/>
        </p:nvGrpSpPr>
        <p:grpSpPr>
          <a:xfrm rot="0">
            <a:off x="-476250" y="-485775"/>
            <a:ext cx="19240500" cy="2381250"/>
            <a:chOff x="0" y="0"/>
            <a:chExt cx="25654000" cy="3175000"/>
          </a:xfrm>
        </p:grpSpPr>
        <p:grpSp>
          <p:nvGrpSpPr>
            <p:cNvPr name="Group 3" id="3"/>
            <p:cNvGrpSpPr/>
            <p:nvPr/>
          </p:nvGrpSpPr>
          <p:grpSpPr>
            <a:xfrm rot="0">
              <a:off x="0" y="0"/>
              <a:ext cx="25654000" cy="2984500"/>
              <a:chOff x="0" y="0"/>
              <a:chExt cx="5067457" cy="589531"/>
            </a:xfrm>
          </p:grpSpPr>
          <p:sp>
            <p:nvSpPr>
              <p:cNvPr name="Freeform 4" id="4"/>
              <p:cNvSpPr/>
              <p:nvPr/>
            </p:nvSpPr>
            <p:spPr>
              <a:xfrm flipH="false" flipV="false" rot="0">
                <a:off x="0" y="0"/>
                <a:ext cx="5067457" cy="589531"/>
              </a:xfrm>
              <a:custGeom>
                <a:avLst/>
                <a:gdLst/>
                <a:ahLst/>
                <a:cxnLst/>
                <a:rect r="r" b="b" t="t" l="l"/>
                <a:pathLst>
                  <a:path h="589531" w="5067457">
                    <a:moveTo>
                      <a:pt x="0" y="0"/>
                    </a:moveTo>
                    <a:lnTo>
                      <a:pt x="5067457" y="0"/>
                    </a:lnTo>
                    <a:lnTo>
                      <a:pt x="5067457" y="589531"/>
                    </a:lnTo>
                    <a:lnTo>
                      <a:pt x="0" y="589531"/>
                    </a:lnTo>
                    <a:close/>
                  </a:path>
                </a:pathLst>
              </a:custGeom>
              <a:solidFill>
                <a:srgbClr val="97D4E8"/>
              </a:solidFill>
              <a:ln cap="sq">
                <a:noFill/>
                <a:prstDash val="solid"/>
                <a:miter/>
              </a:ln>
            </p:spPr>
          </p:sp>
          <p:sp>
            <p:nvSpPr>
              <p:cNvPr name="TextBox 5" id="5"/>
              <p:cNvSpPr txBox="true"/>
              <p:nvPr/>
            </p:nvSpPr>
            <p:spPr>
              <a:xfrm>
                <a:off x="0" y="-19050"/>
                <a:ext cx="5067457" cy="608581"/>
              </a:xfrm>
              <a:prstGeom prst="rect">
                <a:avLst/>
              </a:prstGeom>
            </p:spPr>
            <p:txBody>
              <a:bodyPr anchor="ctr" rtlCol="false" tIns="50800" lIns="50800" bIns="50800" rIns="50800"/>
              <a:lstStyle/>
              <a:p>
                <a:pPr algn="ctr" marL="0" indent="0" lvl="0">
                  <a:lnSpc>
                    <a:spcPts val="2080"/>
                  </a:lnSpc>
                  <a:spcBef>
                    <a:spcPct val="0"/>
                  </a:spcBef>
                </a:pPr>
              </a:p>
            </p:txBody>
          </p:sp>
        </p:grpSp>
        <p:grpSp>
          <p:nvGrpSpPr>
            <p:cNvPr name="Group 6" id="6"/>
            <p:cNvGrpSpPr/>
            <p:nvPr/>
          </p:nvGrpSpPr>
          <p:grpSpPr>
            <a:xfrm rot="0">
              <a:off x="0" y="2921000"/>
              <a:ext cx="25654000" cy="254000"/>
              <a:chOff x="0" y="0"/>
              <a:chExt cx="5067457" cy="50173"/>
            </a:xfrm>
          </p:grpSpPr>
          <p:sp>
            <p:nvSpPr>
              <p:cNvPr name="Freeform 7" id="7"/>
              <p:cNvSpPr/>
              <p:nvPr/>
            </p:nvSpPr>
            <p:spPr>
              <a:xfrm flipH="false" flipV="false" rot="0">
                <a:off x="0" y="0"/>
                <a:ext cx="5067457" cy="50173"/>
              </a:xfrm>
              <a:custGeom>
                <a:avLst/>
                <a:gdLst/>
                <a:ahLst/>
                <a:cxnLst/>
                <a:rect r="r" b="b" t="t" l="l"/>
                <a:pathLst>
                  <a:path h="50173" w="5067457">
                    <a:moveTo>
                      <a:pt x="0" y="0"/>
                    </a:moveTo>
                    <a:lnTo>
                      <a:pt x="5067457" y="0"/>
                    </a:lnTo>
                    <a:lnTo>
                      <a:pt x="5067457" y="50173"/>
                    </a:lnTo>
                    <a:lnTo>
                      <a:pt x="0" y="50173"/>
                    </a:lnTo>
                    <a:close/>
                  </a:path>
                </a:pathLst>
              </a:custGeom>
              <a:solidFill>
                <a:srgbClr val="EBA384"/>
              </a:solidFill>
              <a:ln cap="sq">
                <a:noFill/>
                <a:prstDash val="solid"/>
                <a:miter/>
              </a:ln>
            </p:spPr>
          </p:sp>
          <p:sp>
            <p:nvSpPr>
              <p:cNvPr name="TextBox 8" id="8"/>
              <p:cNvSpPr txBox="true"/>
              <p:nvPr/>
            </p:nvSpPr>
            <p:spPr>
              <a:xfrm>
                <a:off x="0" y="-19050"/>
                <a:ext cx="5067457" cy="69223"/>
              </a:xfrm>
              <a:prstGeom prst="rect">
                <a:avLst/>
              </a:prstGeom>
            </p:spPr>
            <p:txBody>
              <a:bodyPr anchor="ctr" rtlCol="false" tIns="50800" lIns="50800" bIns="50800" rIns="50800"/>
              <a:lstStyle/>
              <a:p>
                <a:pPr algn="ctr" marL="0" indent="0" lvl="0">
                  <a:lnSpc>
                    <a:spcPts val="2080"/>
                  </a:lnSpc>
                  <a:spcBef>
                    <a:spcPct val="0"/>
                  </a:spcBef>
                </a:pPr>
              </a:p>
            </p:txBody>
          </p:sp>
        </p:grpSp>
      </p:grpSp>
      <p:grpSp>
        <p:nvGrpSpPr>
          <p:cNvPr name="Group 9" id="9"/>
          <p:cNvGrpSpPr/>
          <p:nvPr/>
        </p:nvGrpSpPr>
        <p:grpSpPr>
          <a:xfrm rot="0">
            <a:off x="1988223" y="2406745"/>
            <a:ext cx="2566768" cy="771715"/>
            <a:chOff x="0" y="0"/>
            <a:chExt cx="676021" cy="203250"/>
          </a:xfrm>
        </p:grpSpPr>
        <p:sp>
          <p:nvSpPr>
            <p:cNvPr name="Freeform 10" id="10"/>
            <p:cNvSpPr/>
            <p:nvPr/>
          </p:nvSpPr>
          <p:spPr>
            <a:xfrm flipH="false" flipV="false" rot="0">
              <a:off x="0" y="0"/>
              <a:ext cx="676021" cy="203250"/>
            </a:xfrm>
            <a:custGeom>
              <a:avLst/>
              <a:gdLst/>
              <a:ahLst/>
              <a:cxnLst/>
              <a:rect r="r" b="b" t="t" l="l"/>
              <a:pathLst>
                <a:path h="203250" w="676021">
                  <a:moveTo>
                    <a:pt x="101625" y="0"/>
                  </a:moveTo>
                  <a:lnTo>
                    <a:pt x="574396" y="0"/>
                  </a:lnTo>
                  <a:cubicBezTo>
                    <a:pt x="630522" y="0"/>
                    <a:pt x="676021" y="45499"/>
                    <a:pt x="676021" y="101625"/>
                  </a:cubicBezTo>
                  <a:lnTo>
                    <a:pt x="676021" y="101625"/>
                  </a:lnTo>
                  <a:cubicBezTo>
                    <a:pt x="676021" y="128578"/>
                    <a:pt x="665314" y="154426"/>
                    <a:pt x="646256" y="173485"/>
                  </a:cubicBezTo>
                  <a:cubicBezTo>
                    <a:pt x="627198" y="192543"/>
                    <a:pt x="601349" y="203250"/>
                    <a:pt x="574396" y="203250"/>
                  </a:cubicBezTo>
                  <a:lnTo>
                    <a:pt x="101625" y="203250"/>
                  </a:lnTo>
                  <a:cubicBezTo>
                    <a:pt x="45499" y="203250"/>
                    <a:pt x="0" y="157751"/>
                    <a:pt x="0" y="101625"/>
                  </a:cubicBezTo>
                  <a:lnTo>
                    <a:pt x="0" y="101625"/>
                  </a:lnTo>
                  <a:cubicBezTo>
                    <a:pt x="0" y="45499"/>
                    <a:pt x="45499" y="0"/>
                    <a:pt x="101625" y="0"/>
                  </a:cubicBezTo>
                  <a:close/>
                </a:path>
              </a:pathLst>
            </a:custGeom>
            <a:solidFill>
              <a:srgbClr val="FFFFFF"/>
            </a:solidFill>
            <a:ln cap="rnd">
              <a:noFill/>
              <a:prstDash val="solid"/>
              <a:round/>
            </a:ln>
          </p:spPr>
        </p:sp>
        <p:sp>
          <p:nvSpPr>
            <p:cNvPr name="TextBox 11" id="11"/>
            <p:cNvSpPr txBox="true"/>
            <p:nvPr/>
          </p:nvSpPr>
          <p:spPr>
            <a:xfrm>
              <a:off x="0" y="9525"/>
              <a:ext cx="676021" cy="193725"/>
            </a:xfrm>
            <a:prstGeom prst="rect">
              <a:avLst/>
            </a:prstGeom>
          </p:spPr>
          <p:txBody>
            <a:bodyPr anchor="ctr" rtlCol="false" tIns="50800" lIns="50800" bIns="50800" rIns="50800"/>
            <a:lstStyle/>
            <a:p>
              <a:pPr algn="ctr" marL="0" indent="0" lvl="0">
                <a:lnSpc>
                  <a:spcPts val="2860"/>
                </a:lnSpc>
              </a:pPr>
              <a:r>
                <a:rPr lang="en-US" b="true" sz="2600" spc="52">
                  <a:solidFill>
                    <a:srgbClr val="000001"/>
                  </a:solidFill>
                  <a:latin typeface="Klein Heavy"/>
                  <a:ea typeface="Klein Heavy"/>
                  <a:cs typeface="Klein Heavy"/>
                  <a:sym typeface="Klein Heavy"/>
                </a:rPr>
                <a:t>AREA STUDI</a:t>
              </a:r>
            </a:p>
          </p:txBody>
        </p:sp>
      </p:grpSp>
      <p:grpSp>
        <p:nvGrpSpPr>
          <p:cNvPr name="Group 12" id="12"/>
          <p:cNvGrpSpPr/>
          <p:nvPr/>
        </p:nvGrpSpPr>
        <p:grpSpPr>
          <a:xfrm rot="0">
            <a:off x="3222670" y="417539"/>
            <a:ext cx="11842660" cy="917522"/>
            <a:chOff x="0" y="0"/>
            <a:chExt cx="15790214" cy="1223363"/>
          </a:xfrm>
        </p:grpSpPr>
        <p:grpSp>
          <p:nvGrpSpPr>
            <p:cNvPr name="Group 13" id="13"/>
            <p:cNvGrpSpPr/>
            <p:nvPr/>
          </p:nvGrpSpPr>
          <p:grpSpPr>
            <a:xfrm rot="0">
              <a:off x="211240" y="207363"/>
              <a:ext cx="15578974" cy="1016000"/>
              <a:chOff x="0" y="0"/>
              <a:chExt cx="2198092" cy="143351"/>
            </a:xfrm>
          </p:grpSpPr>
          <p:sp>
            <p:nvSpPr>
              <p:cNvPr name="Freeform 14" id="14"/>
              <p:cNvSpPr/>
              <p:nvPr/>
            </p:nvSpPr>
            <p:spPr>
              <a:xfrm flipH="false" flipV="false" rot="0">
                <a:off x="0" y="0"/>
                <a:ext cx="2198092" cy="143351"/>
              </a:xfrm>
              <a:custGeom>
                <a:avLst/>
                <a:gdLst/>
                <a:ahLst/>
                <a:cxnLst/>
                <a:rect r="r" b="b" t="t" l="l"/>
                <a:pathLst>
                  <a:path h="143351" w="2198092">
                    <a:moveTo>
                      <a:pt x="33792" y="0"/>
                    </a:moveTo>
                    <a:lnTo>
                      <a:pt x="2164299" y="0"/>
                    </a:lnTo>
                    <a:cubicBezTo>
                      <a:pt x="2173262" y="0"/>
                      <a:pt x="2181857" y="3560"/>
                      <a:pt x="2188194" y="9898"/>
                    </a:cubicBezTo>
                    <a:cubicBezTo>
                      <a:pt x="2194531" y="16235"/>
                      <a:pt x="2198092" y="24830"/>
                      <a:pt x="2198092" y="33792"/>
                    </a:cubicBezTo>
                    <a:lnTo>
                      <a:pt x="2198092" y="109559"/>
                    </a:lnTo>
                    <a:cubicBezTo>
                      <a:pt x="2198092" y="118521"/>
                      <a:pt x="2194531" y="127116"/>
                      <a:pt x="2188194" y="133453"/>
                    </a:cubicBezTo>
                    <a:cubicBezTo>
                      <a:pt x="2181857" y="139791"/>
                      <a:pt x="2173262" y="143351"/>
                      <a:pt x="2164299" y="143351"/>
                    </a:cubicBezTo>
                    <a:lnTo>
                      <a:pt x="33792" y="143351"/>
                    </a:lnTo>
                    <a:cubicBezTo>
                      <a:pt x="24830" y="143351"/>
                      <a:pt x="16235" y="139791"/>
                      <a:pt x="9898" y="133453"/>
                    </a:cubicBezTo>
                    <a:cubicBezTo>
                      <a:pt x="3560" y="127116"/>
                      <a:pt x="0" y="118521"/>
                      <a:pt x="0" y="109559"/>
                    </a:cubicBezTo>
                    <a:lnTo>
                      <a:pt x="0" y="33792"/>
                    </a:lnTo>
                    <a:cubicBezTo>
                      <a:pt x="0" y="24830"/>
                      <a:pt x="3560" y="16235"/>
                      <a:pt x="9898" y="9898"/>
                    </a:cubicBezTo>
                    <a:cubicBezTo>
                      <a:pt x="16235" y="3560"/>
                      <a:pt x="24830" y="0"/>
                      <a:pt x="33792" y="0"/>
                    </a:cubicBezTo>
                    <a:close/>
                  </a:path>
                </a:pathLst>
              </a:custGeom>
              <a:solidFill>
                <a:srgbClr val="38ABD1"/>
              </a:solidFill>
              <a:ln cap="rnd">
                <a:noFill/>
                <a:prstDash val="solid"/>
                <a:round/>
              </a:ln>
            </p:spPr>
          </p:sp>
          <p:sp>
            <p:nvSpPr>
              <p:cNvPr name="TextBox 15" id="15"/>
              <p:cNvSpPr txBox="true"/>
              <p:nvPr/>
            </p:nvSpPr>
            <p:spPr>
              <a:xfrm>
                <a:off x="0" y="-19050"/>
                <a:ext cx="2198092" cy="162401"/>
              </a:xfrm>
              <a:prstGeom prst="rect">
                <a:avLst/>
              </a:prstGeom>
            </p:spPr>
            <p:txBody>
              <a:bodyPr anchor="ctr" rtlCol="false" tIns="50800" lIns="50800" bIns="50800" rIns="50800"/>
              <a:lstStyle/>
              <a:p>
                <a:pPr algn="ctr" marL="0" indent="0" lvl="0">
                  <a:lnSpc>
                    <a:spcPts val="2080"/>
                  </a:lnSpc>
                  <a:spcBef>
                    <a:spcPct val="0"/>
                  </a:spcBef>
                </a:pPr>
              </a:p>
            </p:txBody>
          </p:sp>
        </p:grpSp>
        <p:grpSp>
          <p:nvGrpSpPr>
            <p:cNvPr name="Group 16" id="16"/>
            <p:cNvGrpSpPr/>
            <p:nvPr/>
          </p:nvGrpSpPr>
          <p:grpSpPr>
            <a:xfrm rot="0">
              <a:off x="0" y="0"/>
              <a:ext cx="15578974" cy="1057546"/>
              <a:chOff x="0" y="0"/>
              <a:chExt cx="2198092" cy="149213"/>
            </a:xfrm>
          </p:grpSpPr>
          <p:sp>
            <p:nvSpPr>
              <p:cNvPr name="Freeform 17" id="17"/>
              <p:cNvSpPr/>
              <p:nvPr/>
            </p:nvSpPr>
            <p:spPr>
              <a:xfrm flipH="false" flipV="false" rot="0">
                <a:off x="0" y="0"/>
                <a:ext cx="2198092" cy="149213"/>
              </a:xfrm>
              <a:custGeom>
                <a:avLst/>
                <a:gdLst/>
                <a:ahLst/>
                <a:cxnLst/>
                <a:rect r="r" b="b" t="t" l="l"/>
                <a:pathLst>
                  <a:path h="149213" w="2198092">
                    <a:moveTo>
                      <a:pt x="33792" y="0"/>
                    </a:moveTo>
                    <a:lnTo>
                      <a:pt x="2164299" y="0"/>
                    </a:lnTo>
                    <a:cubicBezTo>
                      <a:pt x="2173262" y="0"/>
                      <a:pt x="2181857" y="3560"/>
                      <a:pt x="2188194" y="9898"/>
                    </a:cubicBezTo>
                    <a:cubicBezTo>
                      <a:pt x="2194531" y="16235"/>
                      <a:pt x="2198092" y="24830"/>
                      <a:pt x="2198092" y="33792"/>
                    </a:cubicBezTo>
                    <a:lnTo>
                      <a:pt x="2198092" y="115420"/>
                    </a:lnTo>
                    <a:cubicBezTo>
                      <a:pt x="2198092" y="124383"/>
                      <a:pt x="2194531" y="132978"/>
                      <a:pt x="2188194" y="139315"/>
                    </a:cubicBezTo>
                    <a:cubicBezTo>
                      <a:pt x="2181857" y="145653"/>
                      <a:pt x="2173262" y="149213"/>
                      <a:pt x="2164299" y="149213"/>
                    </a:cubicBezTo>
                    <a:lnTo>
                      <a:pt x="33792" y="149213"/>
                    </a:lnTo>
                    <a:cubicBezTo>
                      <a:pt x="24830" y="149213"/>
                      <a:pt x="16235" y="145653"/>
                      <a:pt x="9898" y="139315"/>
                    </a:cubicBezTo>
                    <a:cubicBezTo>
                      <a:pt x="3560" y="132978"/>
                      <a:pt x="0" y="124383"/>
                      <a:pt x="0" y="115420"/>
                    </a:cubicBezTo>
                    <a:lnTo>
                      <a:pt x="0" y="33792"/>
                    </a:lnTo>
                    <a:cubicBezTo>
                      <a:pt x="0" y="24830"/>
                      <a:pt x="3560" y="16235"/>
                      <a:pt x="9898" y="9898"/>
                    </a:cubicBezTo>
                    <a:cubicBezTo>
                      <a:pt x="16235" y="3560"/>
                      <a:pt x="24830" y="0"/>
                      <a:pt x="33792" y="0"/>
                    </a:cubicBezTo>
                    <a:close/>
                  </a:path>
                </a:pathLst>
              </a:custGeom>
              <a:solidFill>
                <a:srgbClr val="FFFFFF"/>
              </a:solidFill>
            </p:spPr>
          </p:sp>
          <p:sp>
            <p:nvSpPr>
              <p:cNvPr name="TextBox 18" id="18"/>
              <p:cNvSpPr txBox="true"/>
              <p:nvPr/>
            </p:nvSpPr>
            <p:spPr>
              <a:xfrm>
                <a:off x="0" y="-38100"/>
                <a:ext cx="2198092" cy="187313"/>
              </a:xfrm>
              <a:prstGeom prst="rect">
                <a:avLst/>
              </a:prstGeom>
            </p:spPr>
            <p:txBody>
              <a:bodyPr anchor="ctr" rtlCol="false" tIns="50800" lIns="50800" bIns="50800" rIns="50800"/>
              <a:lstStyle/>
              <a:p>
                <a:pPr algn="ctr">
                  <a:lnSpc>
                    <a:spcPts val="4549"/>
                  </a:lnSpc>
                </a:pPr>
                <a:r>
                  <a:rPr lang="en-US" b="true" sz="3499">
                    <a:solidFill>
                      <a:srgbClr val="000001"/>
                    </a:solidFill>
                    <a:latin typeface="Klein Bold"/>
                    <a:ea typeface="Klein Bold"/>
                    <a:cs typeface="Klein Bold"/>
                    <a:sym typeface="Klein Bold"/>
                  </a:rPr>
                  <a:t>D</a:t>
                </a:r>
                <a:r>
                  <a:rPr lang="en-US" b="true" sz="3499">
                    <a:solidFill>
                      <a:srgbClr val="000001"/>
                    </a:solidFill>
                    <a:latin typeface="Klein Bold"/>
                    <a:ea typeface="Klein Bold"/>
                    <a:cs typeface="Klein Bold"/>
                    <a:sym typeface="Klein Bold"/>
                  </a:rPr>
                  <a:t>ata &amp; Area Studi</a:t>
                </a:r>
              </a:p>
            </p:txBody>
          </p:sp>
        </p:grpSp>
      </p:grpSp>
      <p:grpSp>
        <p:nvGrpSpPr>
          <p:cNvPr name="Group 19" id="19"/>
          <p:cNvGrpSpPr/>
          <p:nvPr/>
        </p:nvGrpSpPr>
        <p:grpSpPr>
          <a:xfrm rot="0">
            <a:off x="9290446" y="2406745"/>
            <a:ext cx="4711952" cy="771715"/>
            <a:chOff x="0" y="0"/>
            <a:chExt cx="1241008" cy="203250"/>
          </a:xfrm>
        </p:grpSpPr>
        <p:sp>
          <p:nvSpPr>
            <p:cNvPr name="Freeform 20" id="20"/>
            <p:cNvSpPr/>
            <p:nvPr/>
          </p:nvSpPr>
          <p:spPr>
            <a:xfrm flipH="false" flipV="false" rot="0">
              <a:off x="0" y="0"/>
              <a:ext cx="1241008" cy="203250"/>
            </a:xfrm>
            <a:custGeom>
              <a:avLst/>
              <a:gdLst/>
              <a:ahLst/>
              <a:cxnLst/>
              <a:rect r="r" b="b" t="t" l="l"/>
              <a:pathLst>
                <a:path h="203250" w="1241008">
                  <a:moveTo>
                    <a:pt x="83795" y="0"/>
                  </a:moveTo>
                  <a:lnTo>
                    <a:pt x="1157213" y="0"/>
                  </a:lnTo>
                  <a:cubicBezTo>
                    <a:pt x="1179437" y="0"/>
                    <a:pt x="1200750" y="8828"/>
                    <a:pt x="1216465" y="24543"/>
                  </a:cubicBezTo>
                  <a:cubicBezTo>
                    <a:pt x="1232180" y="40258"/>
                    <a:pt x="1241008" y="61571"/>
                    <a:pt x="1241008" y="83795"/>
                  </a:cubicBezTo>
                  <a:lnTo>
                    <a:pt x="1241008" y="119455"/>
                  </a:lnTo>
                  <a:cubicBezTo>
                    <a:pt x="1241008" y="165734"/>
                    <a:pt x="1203492" y="203250"/>
                    <a:pt x="1157213" y="203250"/>
                  </a:cubicBezTo>
                  <a:lnTo>
                    <a:pt x="83795" y="203250"/>
                  </a:lnTo>
                  <a:cubicBezTo>
                    <a:pt x="37516" y="203250"/>
                    <a:pt x="0" y="165734"/>
                    <a:pt x="0" y="119455"/>
                  </a:cubicBezTo>
                  <a:lnTo>
                    <a:pt x="0" y="83795"/>
                  </a:lnTo>
                  <a:cubicBezTo>
                    <a:pt x="0" y="37516"/>
                    <a:pt x="37516" y="0"/>
                    <a:pt x="83795" y="0"/>
                  </a:cubicBezTo>
                  <a:close/>
                </a:path>
              </a:pathLst>
            </a:custGeom>
            <a:solidFill>
              <a:srgbClr val="FFFFFF"/>
            </a:solidFill>
            <a:ln cap="rnd">
              <a:noFill/>
              <a:prstDash val="solid"/>
              <a:round/>
            </a:ln>
          </p:spPr>
        </p:sp>
        <p:sp>
          <p:nvSpPr>
            <p:cNvPr name="TextBox 21" id="21"/>
            <p:cNvSpPr txBox="true"/>
            <p:nvPr/>
          </p:nvSpPr>
          <p:spPr>
            <a:xfrm>
              <a:off x="0" y="9525"/>
              <a:ext cx="1241008" cy="193725"/>
            </a:xfrm>
            <a:prstGeom prst="rect">
              <a:avLst/>
            </a:prstGeom>
          </p:spPr>
          <p:txBody>
            <a:bodyPr anchor="ctr" rtlCol="false" tIns="50800" lIns="50800" bIns="50800" rIns="50800"/>
            <a:lstStyle/>
            <a:p>
              <a:pPr algn="ctr" marL="0" indent="0" lvl="0">
                <a:lnSpc>
                  <a:spcPts val="2860"/>
                </a:lnSpc>
              </a:pPr>
              <a:r>
                <a:rPr lang="en-US" b="true" sz="2600" spc="52">
                  <a:solidFill>
                    <a:srgbClr val="000001"/>
                  </a:solidFill>
                  <a:latin typeface="Klein Heavy"/>
                  <a:ea typeface="Klein Heavy"/>
                  <a:cs typeface="Klein Heavy"/>
                  <a:sym typeface="Klein Heavy"/>
                </a:rPr>
                <a:t>DATA YANG DIGUNAKAN</a:t>
              </a:r>
            </a:p>
          </p:txBody>
        </p:sp>
      </p:grpSp>
      <p:graphicFrame>
        <p:nvGraphicFramePr>
          <p:cNvPr name="Table 22" id="22"/>
          <p:cNvGraphicFramePr>
            <a:graphicFrameLocks noGrp="true"/>
          </p:cNvGraphicFramePr>
          <p:nvPr/>
        </p:nvGraphicFramePr>
        <p:xfrm>
          <a:off x="7355018" y="3733288"/>
          <a:ext cx="9723307" cy="5153025"/>
        </p:xfrm>
        <a:graphic>
          <a:graphicData uri="http://schemas.openxmlformats.org/drawingml/2006/table">
            <a:tbl>
              <a:tblPr/>
              <a:tblGrid>
                <a:gridCol w="3241102"/>
                <a:gridCol w="3241102"/>
                <a:gridCol w="3241102"/>
              </a:tblGrid>
              <a:tr h="844444">
                <a:tc>
                  <a:txBody>
                    <a:bodyPr anchor="t" rtlCol="false"/>
                    <a:lstStyle/>
                    <a:p>
                      <a:pPr algn="ctr">
                        <a:lnSpc>
                          <a:spcPts val="2800"/>
                        </a:lnSpc>
                        <a:defRPr/>
                      </a:pPr>
                      <a:r>
                        <a:rPr lang="en-US" sz="2000" b="true">
                          <a:solidFill>
                            <a:srgbClr val="000000"/>
                          </a:solidFill>
                          <a:latin typeface="Klein Bold"/>
                          <a:ea typeface="Klein Bold"/>
                          <a:cs typeface="Klein Bold"/>
                          <a:sym typeface="Klein Bold"/>
                        </a:rPr>
                        <a:t>Jenis Data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Klein Bold"/>
                          <a:ea typeface="Klein Bold"/>
                          <a:cs typeface="Klein Bold"/>
                          <a:sym typeface="Klein Bold"/>
                        </a:rPr>
                        <a:t>Deskripsi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Klein Bold"/>
                          <a:ea typeface="Klein Bold"/>
                          <a:cs typeface="Klein Bold"/>
                          <a:sym typeface="Klein Bold"/>
                        </a:rPr>
                        <a:t>Sumber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99494">
                <a:tc>
                  <a:txBody>
                    <a:bodyPr anchor="t" rtlCol="false"/>
                    <a:lstStyle/>
                    <a:p>
                      <a:pPr algn="ctr">
                        <a:lnSpc>
                          <a:spcPts val="2800"/>
                        </a:lnSpc>
                        <a:defRPr/>
                      </a:pPr>
                      <a:r>
                        <a:rPr lang="en-US" sz="2000">
                          <a:solidFill>
                            <a:srgbClr val="000000"/>
                          </a:solidFill>
                          <a:latin typeface="Klein"/>
                          <a:ea typeface="Klein"/>
                          <a:cs typeface="Klein"/>
                          <a:sym typeface="Klein"/>
                        </a:rPr>
                        <a:t>Titik banjir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Klein"/>
                          <a:ea typeface="Klein"/>
                          <a:cs typeface="Klein"/>
                          <a:sym typeface="Klein"/>
                        </a:rPr>
                        <a:t>Lokasi rawan banjir per kelurahan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Klein"/>
                          <a:ea typeface="Klein"/>
                          <a:cs typeface="Klein"/>
                          <a:sym typeface="Klein"/>
                        </a:rPr>
                        <a:t>SatuData Jakarta (2024)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99494">
                <a:tc>
                  <a:txBody>
                    <a:bodyPr anchor="t" rtlCol="false"/>
                    <a:lstStyle/>
                    <a:p>
                      <a:pPr algn="ctr">
                        <a:lnSpc>
                          <a:spcPts val="2800"/>
                        </a:lnSpc>
                        <a:defRPr/>
                      </a:pPr>
                      <a:r>
                        <a:rPr lang="en-US" sz="2000">
                          <a:solidFill>
                            <a:srgbClr val="000000"/>
                          </a:solidFill>
                          <a:latin typeface="Klein"/>
                          <a:ea typeface="Klein"/>
                          <a:cs typeface="Klein"/>
                          <a:sym typeface="Klein"/>
                        </a:rPr>
                        <a:t>Poligon wilayah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Klein"/>
                          <a:ea typeface="Klein"/>
                          <a:cs typeface="Klein"/>
                          <a:sym typeface="Klein"/>
                        </a:rPr>
                        <a:t>Batas administratif kota/kabupaten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Klein"/>
                          <a:ea typeface="Klein"/>
                          <a:cs typeface="Klein"/>
                          <a:sym typeface="Klein"/>
                        </a:rPr>
                        <a:t>RKurniawan Blog (GeoJSON)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909594">
                <a:tc>
                  <a:txBody>
                    <a:bodyPr anchor="t" rtlCol="false"/>
                    <a:lstStyle/>
                    <a:p>
                      <a:pPr algn="ctr">
                        <a:lnSpc>
                          <a:spcPts val="2800"/>
                        </a:lnSpc>
                        <a:defRPr/>
                      </a:pPr>
                      <a:r>
                        <a:rPr lang="en-US" sz="2000">
                          <a:solidFill>
                            <a:srgbClr val="000000"/>
                          </a:solidFill>
                          <a:latin typeface="Klein"/>
                          <a:ea typeface="Klein"/>
                          <a:cs typeface="Klein"/>
                          <a:sym typeface="Klein"/>
                        </a:rPr>
                        <a:t>Data penduduk</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Klein"/>
                          <a:ea typeface="Klein"/>
                          <a:cs typeface="Klein"/>
                          <a:sym typeface="Klein"/>
                        </a:rPr>
                        <a:t>Jumlah penduduk, kepadatan, laju pertumbuhan, rasio jenis kelamin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Klein"/>
                          <a:ea typeface="Klein"/>
                          <a:cs typeface="Klein"/>
                          <a:sym typeface="Klein"/>
                        </a:rPr>
                        <a:t>BPS DKI Jakarta (2024)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23" id="23"/>
          <p:cNvSpPr txBox="true"/>
          <p:nvPr/>
        </p:nvSpPr>
        <p:spPr>
          <a:xfrm rot="0">
            <a:off x="1152525" y="3457063"/>
            <a:ext cx="6202493" cy="6008068"/>
          </a:xfrm>
          <a:prstGeom prst="rect">
            <a:avLst/>
          </a:prstGeom>
        </p:spPr>
        <p:txBody>
          <a:bodyPr anchor="t" rtlCol="false" tIns="0" lIns="0" bIns="0" rIns="0">
            <a:spAutoFit/>
          </a:bodyPr>
          <a:lstStyle/>
          <a:p>
            <a:pPr algn="l">
              <a:lnSpc>
                <a:spcPts val="5369"/>
              </a:lnSpc>
            </a:pPr>
            <a:r>
              <a:rPr lang="en-US" sz="2147">
                <a:solidFill>
                  <a:srgbClr val="000000"/>
                </a:solidFill>
                <a:latin typeface="Klein"/>
                <a:ea typeface="Klein"/>
                <a:cs typeface="Klein"/>
                <a:sym typeface="Klein"/>
              </a:rPr>
              <a:t>a. </a:t>
            </a:r>
            <a:r>
              <a:rPr lang="en-US" sz="2147">
                <a:solidFill>
                  <a:srgbClr val="000000"/>
                </a:solidFill>
                <a:latin typeface="Klein"/>
                <a:ea typeface="Klein"/>
                <a:cs typeface="Klein"/>
                <a:sym typeface="Klein"/>
              </a:rPr>
              <a:t>Lokasi: DKI Jakarta, Indonesia</a:t>
            </a:r>
          </a:p>
          <a:p>
            <a:pPr algn="l">
              <a:lnSpc>
                <a:spcPts val="5369"/>
              </a:lnSpc>
            </a:pPr>
            <a:r>
              <a:rPr lang="en-US" sz="2147">
                <a:solidFill>
                  <a:srgbClr val="000000"/>
                </a:solidFill>
                <a:latin typeface="Klein"/>
                <a:ea typeface="Klein"/>
                <a:cs typeface="Klein"/>
                <a:sym typeface="Klein"/>
              </a:rPr>
              <a:t>b. Kota/Kabupaten:</a:t>
            </a:r>
          </a:p>
          <a:p>
            <a:pPr algn="l" marL="463750" indent="-231875" lvl="1">
              <a:lnSpc>
                <a:spcPts val="5369"/>
              </a:lnSpc>
              <a:buFont typeface="Arial"/>
              <a:buChar char="•"/>
            </a:pPr>
            <a:r>
              <a:rPr lang="en-US" sz="2147">
                <a:solidFill>
                  <a:srgbClr val="000000"/>
                </a:solidFill>
                <a:latin typeface="Klein"/>
                <a:ea typeface="Klein"/>
                <a:cs typeface="Klein"/>
                <a:sym typeface="Klein"/>
              </a:rPr>
              <a:t>Jakarta Pusat</a:t>
            </a:r>
          </a:p>
          <a:p>
            <a:pPr algn="l" marL="463750" indent="-231875" lvl="1">
              <a:lnSpc>
                <a:spcPts val="5369"/>
              </a:lnSpc>
              <a:buFont typeface="Arial"/>
              <a:buChar char="•"/>
            </a:pPr>
            <a:r>
              <a:rPr lang="en-US" sz="2147">
                <a:solidFill>
                  <a:srgbClr val="000000"/>
                </a:solidFill>
                <a:latin typeface="Klein"/>
                <a:ea typeface="Klein"/>
                <a:cs typeface="Klein"/>
                <a:sym typeface="Klein"/>
              </a:rPr>
              <a:t>Jakarta Utara</a:t>
            </a:r>
          </a:p>
          <a:p>
            <a:pPr algn="l" marL="463750" indent="-231875" lvl="1">
              <a:lnSpc>
                <a:spcPts val="5369"/>
              </a:lnSpc>
              <a:buFont typeface="Arial"/>
              <a:buChar char="•"/>
            </a:pPr>
            <a:r>
              <a:rPr lang="en-US" sz="2147">
                <a:solidFill>
                  <a:srgbClr val="000000"/>
                </a:solidFill>
                <a:latin typeface="Klein"/>
                <a:ea typeface="Klein"/>
                <a:cs typeface="Klein"/>
                <a:sym typeface="Klein"/>
              </a:rPr>
              <a:t>Jakarta Timur</a:t>
            </a:r>
          </a:p>
          <a:p>
            <a:pPr algn="l" marL="463750" indent="-231875" lvl="1">
              <a:lnSpc>
                <a:spcPts val="5369"/>
              </a:lnSpc>
              <a:buFont typeface="Arial"/>
              <a:buChar char="•"/>
            </a:pPr>
            <a:r>
              <a:rPr lang="en-US" sz="2147">
                <a:solidFill>
                  <a:srgbClr val="000000"/>
                </a:solidFill>
                <a:latin typeface="Klein"/>
                <a:ea typeface="Klein"/>
                <a:cs typeface="Klein"/>
                <a:sym typeface="Klein"/>
              </a:rPr>
              <a:t>Jakarta Selatan</a:t>
            </a:r>
          </a:p>
          <a:p>
            <a:pPr algn="l" marL="463750" indent="-231875" lvl="1">
              <a:lnSpc>
                <a:spcPts val="5369"/>
              </a:lnSpc>
              <a:buFont typeface="Arial"/>
              <a:buChar char="•"/>
            </a:pPr>
            <a:r>
              <a:rPr lang="en-US" sz="2147">
                <a:solidFill>
                  <a:srgbClr val="000000"/>
                </a:solidFill>
                <a:latin typeface="Klein"/>
                <a:ea typeface="Klein"/>
                <a:cs typeface="Klein"/>
                <a:sym typeface="Klein"/>
              </a:rPr>
              <a:t>Jakarta Barat</a:t>
            </a:r>
          </a:p>
          <a:p>
            <a:pPr algn="l">
              <a:lnSpc>
                <a:spcPts val="5369"/>
              </a:lnSpc>
            </a:pPr>
            <a:r>
              <a:rPr lang="en-US" sz="2147">
                <a:solidFill>
                  <a:srgbClr val="000000"/>
                </a:solidFill>
                <a:latin typeface="Klein"/>
                <a:ea typeface="Klein"/>
                <a:cs typeface="Klein"/>
                <a:sym typeface="Klein"/>
              </a:rPr>
              <a:t>c. </a:t>
            </a:r>
            <a:r>
              <a:rPr lang="en-US" sz="2147">
                <a:solidFill>
                  <a:srgbClr val="000000"/>
                </a:solidFill>
                <a:latin typeface="Klein"/>
                <a:ea typeface="Klein"/>
                <a:cs typeface="Klein"/>
                <a:sym typeface="Klein"/>
              </a:rPr>
              <a:t>Layer poligon: batas administratif kota/kabupaten (GeoJSON)</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p:cSld>
    <p:bg>
      <p:bgPr>
        <a:solidFill>
          <a:srgbClr val="EFB59C"/>
        </a:solidFill>
      </p:bgPr>
    </p:bg>
    <p:spTree>
      <p:nvGrpSpPr>
        <p:cNvPr id="1" name=""/>
        <p:cNvGrpSpPr/>
        <p:nvPr/>
      </p:nvGrpSpPr>
      <p:grpSpPr>
        <a:xfrm>
          <a:off x="0" y="0"/>
          <a:ext cx="0" cy="0"/>
          <a:chOff x="0" y="0"/>
          <a:chExt cx="0" cy="0"/>
        </a:xfrm>
      </p:grpSpPr>
      <p:grpSp>
        <p:nvGrpSpPr>
          <p:cNvPr name="Group 2" id="2"/>
          <p:cNvGrpSpPr/>
          <p:nvPr/>
        </p:nvGrpSpPr>
        <p:grpSpPr>
          <a:xfrm rot="0">
            <a:off x="-476250" y="-485775"/>
            <a:ext cx="19240500" cy="2381250"/>
            <a:chOff x="0" y="0"/>
            <a:chExt cx="25654000" cy="3175000"/>
          </a:xfrm>
        </p:grpSpPr>
        <p:grpSp>
          <p:nvGrpSpPr>
            <p:cNvPr name="Group 3" id="3"/>
            <p:cNvGrpSpPr/>
            <p:nvPr/>
          </p:nvGrpSpPr>
          <p:grpSpPr>
            <a:xfrm rot="0">
              <a:off x="0" y="0"/>
              <a:ext cx="25654000" cy="2984500"/>
              <a:chOff x="0" y="0"/>
              <a:chExt cx="5067457" cy="589531"/>
            </a:xfrm>
          </p:grpSpPr>
          <p:sp>
            <p:nvSpPr>
              <p:cNvPr name="Freeform 4" id="4"/>
              <p:cNvSpPr/>
              <p:nvPr/>
            </p:nvSpPr>
            <p:spPr>
              <a:xfrm flipH="false" flipV="false" rot="0">
                <a:off x="0" y="0"/>
                <a:ext cx="5067457" cy="589531"/>
              </a:xfrm>
              <a:custGeom>
                <a:avLst/>
                <a:gdLst/>
                <a:ahLst/>
                <a:cxnLst/>
                <a:rect r="r" b="b" t="t" l="l"/>
                <a:pathLst>
                  <a:path h="589531" w="5067457">
                    <a:moveTo>
                      <a:pt x="0" y="0"/>
                    </a:moveTo>
                    <a:lnTo>
                      <a:pt x="5067457" y="0"/>
                    </a:lnTo>
                    <a:lnTo>
                      <a:pt x="5067457" y="589531"/>
                    </a:lnTo>
                    <a:lnTo>
                      <a:pt x="0" y="589531"/>
                    </a:lnTo>
                    <a:close/>
                  </a:path>
                </a:pathLst>
              </a:custGeom>
              <a:solidFill>
                <a:srgbClr val="97D4E8"/>
              </a:solidFill>
              <a:ln cap="sq">
                <a:noFill/>
                <a:prstDash val="solid"/>
                <a:miter/>
              </a:ln>
            </p:spPr>
          </p:sp>
          <p:sp>
            <p:nvSpPr>
              <p:cNvPr name="TextBox 5" id="5"/>
              <p:cNvSpPr txBox="true"/>
              <p:nvPr/>
            </p:nvSpPr>
            <p:spPr>
              <a:xfrm>
                <a:off x="0" y="-19050"/>
                <a:ext cx="5067457" cy="608581"/>
              </a:xfrm>
              <a:prstGeom prst="rect">
                <a:avLst/>
              </a:prstGeom>
            </p:spPr>
            <p:txBody>
              <a:bodyPr anchor="ctr" rtlCol="false" tIns="50800" lIns="50800" bIns="50800" rIns="50800"/>
              <a:lstStyle/>
              <a:p>
                <a:pPr algn="ctr" marL="0" indent="0" lvl="0">
                  <a:lnSpc>
                    <a:spcPts val="2080"/>
                  </a:lnSpc>
                  <a:spcBef>
                    <a:spcPct val="0"/>
                  </a:spcBef>
                </a:pPr>
              </a:p>
            </p:txBody>
          </p:sp>
        </p:grpSp>
        <p:grpSp>
          <p:nvGrpSpPr>
            <p:cNvPr name="Group 6" id="6"/>
            <p:cNvGrpSpPr/>
            <p:nvPr/>
          </p:nvGrpSpPr>
          <p:grpSpPr>
            <a:xfrm rot="0">
              <a:off x="0" y="2921000"/>
              <a:ext cx="25654000" cy="254000"/>
              <a:chOff x="0" y="0"/>
              <a:chExt cx="5067457" cy="50173"/>
            </a:xfrm>
          </p:grpSpPr>
          <p:sp>
            <p:nvSpPr>
              <p:cNvPr name="Freeform 7" id="7"/>
              <p:cNvSpPr/>
              <p:nvPr/>
            </p:nvSpPr>
            <p:spPr>
              <a:xfrm flipH="false" flipV="false" rot="0">
                <a:off x="0" y="0"/>
                <a:ext cx="5067457" cy="50173"/>
              </a:xfrm>
              <a:custGeom>
                <a:avLst/>
                <a:gdLst/>
                <a:ahLst/>
                <a:cxnLst/>
                <a:rect r="r" b="b" t="t" l="l"/>
                <a:pathLst>
                  <a:path h="50173" w="5067457">
                    <a:moveTo>
                      <a:pt x="0" y="0"/>
                    </a:moveTo>
                    <a:lnTo>
                      <a:pt x="5067457" y="0"/>
                    </a:lnTo>
                    <a:lnTo>
                      <a:pt x="5067457" y="50173"/>
                    </a:lnTo>
                    <a:lnTo>
                      <a:pt x="0" y="50173"/>
                    </a:lnTo>
                    <a:close/>
                  </a:path>
                </a:pathLst>
              </a:custGeom>
              <a:solidFill>
                <a:srgbClr val="EBA384"/>
              </a:solidFill>
              <a:ln cap="sq">
                <a:noFill/>
                <a:prstDash val="solid"/>
                <a:miter/>
              </a:ln>
            </p:spPr>
          </p:sp>
          <p:sp>
            <p:nvSpPr>
              <p:cNvPr name="TextBox 8" id="8"/>
              <p:cNvSpPr txBox="true"/>
              <p:nvPr/>
            </p:nvSpPr>
            <p:spPr>
              <a:xfrm>
                <a:off x="0" y="-19050"/>
                <a:ext cx="5067457" cy="69223"/>
              </a:xfrm>
              <a:prstGeom prst="rect">
                <a:avLst/>
              </a:prstGeom>
            </p:spPr>
            <p:txBody>
              <a:bodyPr anchor="ctr" rtlCol="false" tIns="50800" lIns="50800" bIns="50800" rIns="50800"/>
              <a:lstStyle/>
              <a:p>
                <a:pPr algn="ctr" marL="0" indent="0" lvl="0">
                  <a:lnSpc>
                    <a:spcPts val="2080"/>
                  </a:lnSpc>
                  <a:spcBef>
                    <a:spcPct val="0"/>
                  </a:spcBef>
                </a:pPr>
              </a:p>
            </p:txBody>
          </p:sp>
        </p:grpSp>
      </p:grpSp>
      <p:grpSp>
        <p:nvGrpSpPr>
          <p:cNvPr name="Group 9" id="9"/>
          <p:cNvGrpSpPr/>
          <p:nvPr/>
        </p:nvGrpSpPr>
        <p:grpSpPr>
          <a:xfrm rot="0">
            <a:off x="2215803" y="2674893"/>
            <a:ext cx="3810000" cy="771715"/>
            <a:chOff x="0" y="0"/>
            <a:chExt cx="1003457" cy="203250"/>
          </a:xfrm>
        </p:grpSpPr>
        <p:sp>
          <p:nvSpPr>
            <p:cNvPr name="Freeform 10" id="10"/>
            <p:cNvSpPr/>
            <p:nvPr/>
          </p:nvSpPr>
          <p:spPr>
            <a:xfrm flipH="false" flipV="false" rot="0">
              <a:off x="0" y="0"/>
              <a:ext cx="1003457" cy="203250"/>
            </a:xfrm>
            <a:custGeom>
              <a:avLst/>
              <a:gdLst/>
              <a:ahLst/>
              <a:cxnLst/>
              <a:rect r="r" b="b" t="t" l="l"/>
              <a:pathLst>
                <a:path h="203250" w="1003457">
                  <a:moveTo>
                    <a:pt x="101625" y="0"/>
                  </a:moveTo>
                  <a:lnTo>
                    <a:pt x="901832" y="0"/>
                  </a:lnTo>
                  <a:cubicBezTo>
                    <a:pt x="957958" y="0"/>
                    <a:pt x="1003457" y="45499"/>
                    <a:pt x="1003457" y="101625"/>
                  </a:cubicBezTo>
                  <a:lnTo>
                    <a:pt x="1003457" y="101625"/>
                  </a:lnTo>
                  <a:cubicBezTo>
                    <a:pt x="1003457" y="128578"/>
                    <a:pt x="992750" y="154426"/>
                    <a:pt x="973691" y="173485"/>
                  </a:cubicBezTo>
                  <a:cubicBezTo>
                    <a:pt x="954633" y="192543"/>
                    <a:pt x="928784" y="203250"/>
                    <a:pt x="901832" y="203250"/>
                  </a:cubicBezTo>
                  <a:lnTo>
                    <a:pt x="101625" y="203250"/>
                  </a:lnTo>
                  <a:cubicBezTo>
                    <a:pt x="45499" y="203250"/>
                    <a:pt x="0" y="157751"/>
                    <a:pt x="0" y="101625"/>
                  </a:cubicBezTo>
                  <a:lnTo>
                    <a:pt x="0" y="101625"/>
                  </a:lnTo>
                  <a:cubicBezTo>
                    <a:pt x="0" y="45499"/>
                    <a:pt x="45499" y="0"/>
                    <a:pt x="101625" y="0"/>
                  </a:cubicBezTo>
                  <a:close/>
                </a:path>
              </a:pathLst>
            </a:custGeom>
            <a:solidFill>
              <a:srgbClr val="FFFFFF"/>
            </a:solidFill>
            <a:ln cap="rnd">
              <a:noFill/>
              <a:prstDash val="solid"/>
              <a:round/>
            </a:ln>
          </p:spPr>
        </p:sp>
        <p:sp>
          <p:nvSpPr>
            <p:cNvPr name="TextBox 11" id="11"/>
            <p:cNvSpPr txBox="true"/>
            <p:nvPr/>
          </p:nvSpPr>
          <p:spPr>
            <a:xfrm>
              <a:off x="0" y="9525"/>
              <a:ext cx="1003457" cy="193725"/>
            </a:xfrm>
            <a:prstGeom prst="rect">
              <a:avLst/>
            </a:prstGeom>
          </p:spPr>
          <p:txBody>
            <a:bodyPr anchor="ctr" rtlCol="false" tIns="50800" lIns="50800" bIns="50800" rIns="50800"/>
            <a:lstStyle/>
            <a:p>
              <a:pPr algn="ctr" marL="0" indent="0" lvl="0">
                <a:lnSpc>
                  <a:spcPts val="2860"/>
                </a:lnSpc>
              </a:pPr>
              <a:r>
                <a:rPr lang="en-US" b="true" sz="2600" spc="52">
                  <a:solidFill>
                    <a:srgbClr val="000001"/>
                  </a:solidFill>
                  <a:latin typeface="Klein Heavy"/>
                  <a:ea typeface="Klein Heavy"/>
                  <a:cs typeface="Klein Heavy"/>
                  <a:sym typeface="Klein Heavy"/>
                </a:rPr>
                <a:t>METADATA PENTING</a:t>
              </a:r>
            </a:p>
          </p:txBody>
        </p:sp>
      </p:grpSp>
      <p:grpSp>
        <p:nvGrpSpPr>
          <p:cNvPr name="Group 12" id="12"/>
          <p:cNvGrpSpPr/>
          <p:nvPr/>
        </p:nvGrpSpPr>
        <p:grpSpPr>
          <a:xfrm rot="0">
            <a:off x="3222670" y="417539"/>
            <a:ext cx="11842660" cy="917522"/>
            <a:chOff x="0" y="0"/>
            <a:chExt cx="15790214" cy="1223363"/>
          </a:xfrm>
        </p:grpSpPr>
        <p:grpSp>
          <p:nvGrpSpPr>
            <p:cNvPr name="Group 13" id="13"/>
            <p:cNvGrpSpPr/>
            <p:nvPr/>
          </p:nvGrpSpPr>
          <p:grpSpPr>
            <a:xfrm rot="0">
              <a:off x="211240" y="207363"/>
              <a:ext cx="15578974" cy="1016000"/>
              <a:chOff x="0" y="0"/>
              <a:chExt cx="2198092" cy="143351"/>
            </a:xfrm>
          </p:grpSpPr>
          <p:sp>
            <p:nvSpPr>
              <p:cNvPr name="Freeform 14" id="14"/>
              <p:cNvSpPr/>
              <p:nvPr/>
            </p:nvSpPr>
            <p:spPr>
              <a:xfrm flipH="false" flipV="false" rot="0">
                <a:off x="0" y="0"/>
                <a:ext cx="2198092" cy="143351"/>
              </a:xfrm>
              <a:custGeom>
                <a:avLst/>
                <a:gdLst/>
                <a:ahLst/>
                <a:cxnLst/>
                <a:rect r="r" b="b" t="t" l="l"/>
                <a:pathLst>
                  <a:path h="143351" w="2198092">
                    <a:moveTo>
                      <a:pt x="33792" y="0"/>
                    </a:moveTo>
                    <a:lnTo>
                      <a:pt x="2164299" y="0"/>
                    </a:lnTo>
                    <a:cubicBezTo>
                      <a:pt x="2173262" y="0"/>
                      <a:pt x="2181857" y="3560"/>
                      <a:pt x="2188194" y="9898"/>
                    </a:cubicBezTo>
                    <a:cubicBezTo>
                      <a:pt x="2194531" y="16235"/>
                      <a:pt x="2198092" y="24830"/>
                      <a:pt x="2198092" y="33792"/>
                    </a:cubicBezTo>
                    <a:lnTo>
                      <a:pt x="2198092" y="109559"/>
                    </a:lnTo>
                    <a:cubicBezTo>
                      <a:pt x="2198092" y="118521"/>
                      <a:pt x="2194531" y="127116"/>
                      <a:pt x="2188194" y="133453"/>
                    </a:cubicBezTo>
                    <a:cubicBezTo>
                      <a:pt x="2181857" y="139791"/>
                      <a:pt x="2173262" y="143351"/>
                      <a:pt x="2164299" y="143351"/>
                    </a:cubicBezTo>
                    <a:lnTo>
                      <a:pt x="33792" y="143351"/>
                    </a:lnTo>
                    <a:cubicBezTo>
                      <a:pt x="24830" y="143351"/>
                      <a:pt x="16235" y="139791"/>
                      <a:pt x="9898" y="133453"/>
                    </a:cubicBezTo>
                    <a:cubicBezTo>
                      <a:pt x="3560" y="127116"/>
                      <a:pt x="0" y="118521"/>
                      <a:pt x="0" y="109559"/>
                    </a:cubicBezTo>
                    <a:lnTo>
                      <a:pt x="0" y="33792"/>
                    </a:lnTo>
                    <a:cubicBezTo>
                      <a:pt x="0" y="24830"/>
                      <a:pt x="3560" y="16235"/>
                      <a:pt x="9898" y="9898"/>
                    </a:cubicBezTo>
                    <a:cubicBezTo>
                      <a:pt x="16235" y="3560"/>
                      <a:pt x="24830" y="0"/>
                      <a:pt x="33792" y="0"/>
                    </a:cubicBezTo>
                    <a:close/>
                  </a:path>
                </a:pathLst>
              </a:custGeom>
              <a:solidFill>
                <a:srgbClr val="38ABD1"/>
              </a:solidFill>
              <a:ln cap="rnd">
                <a:noFill/>
                <a:prstDash val="solid"/>
                <a:round/>
              </a:ln>
            </p:spPr>
          </p:sp>
          <p:sp>
            <p:nvSpPr>
              <p:cNvPr name="TextBox 15" id="15"/>
              <p:cNvSpPr txBox="true"/>
              <p:nvPr/>
            </p:nvSpPr>
            <p:spPr>
              <a:xfrm>
                <a:off x="0" y="-19050"/>
                <a:ext cx="2198092" cy="162401"/>
              </a:xfrm>
              <a:prstGeom prst="rect">
                <a:avLst/>
              </a:prstGeom>
            </p:spPr>
            <p:txBody>
              <a:bodyPr anchor="ctr" rtlCol="false" tIns="50800" lIns="50800" bIns="50800" rIns="50800"/>
              <a:lstStyle/>
              <a:p>
                <a:pPr algn="ctr" marL="0" indent="0" lvl="0">
                  <a:lnSpc>
                    <a:spcPts val="2080"/>
                  </a:lnSpc>
                  <a:spcBef>
                    <a:spcPct val="0"/>
                  </a:spcBef>
                </a:pPr>
              </a:p>
            </p:txBody>
          </p:sp>
        </p:grpSp>
        <p:grpSp>
          <p:nvGrpSpPr>
            <p:cNvPr name="Group 16" id="16"/>
            <p:cNvGrpSpPr/>
            <p:nvPr/>
          </p:nvGrpSpPr>
          <p:grpSpPr>
            <a:xfrm rot="0">
              <a:off x="0" y="0"/>
              <a:ext cx="15578974" cy="1057546"/>
              <a:chOff x="0" y="0"/>
              <a:chExt cx="2198092" cy="149213"/>
            </a:xfrm>
          </p:grpSpPr>
          <p:sp>
            <p:nvSpPr>
              <p:cNvPr name="Freeform 17" id="17"/>
              <p:cNvSpPr/>
              <p:nvPr/>
            </p:nvSpPr>
            <p:spPr>
              <a:xfrm flipH="false" flipV="false" rot="0">
                <a:off x="0" y="0"/>
                <a:ext cx="2198092" cy="149213"/>
              </a:xfrm>
              <a:custGeom>
                <a:avLst/>
                <a:gdLst/>
                <a:ahLst/>
                <a:cxnLst/>
                <a:rect r="r" b="b" t="t" l="l"/>
                <a:pathLst>
                  <a:path h="149213" w="2198092">
                    <a:moveTo>
                      <a:pt x="33792" y="0"/>
                    </a:moveTo>
                    <a:lnTo>
                      <a:pt x="2164299" y="0"/>
                    </a:lnTo>
                    <a:cubicBezTo>
                      <a:pt x="2173262" y="0"/>
                      <a:pt x="2181857" y="3560"/>
                      <a:pt x="2188194" y="9898"/>
                    </a:cubicBezTo>
                    <a:cubicBezTo>
                      <a:pt x="2194531" y="16235"/>
                      <a:pt x="2198092" y="24830"/>
                      <a:pt x="2198092" y="33792"/>
                    </a:cubicBezTo>
                    <a:lnTo>
                      <a:pt x="2198092" y="115420"/>
                    </a:lnTo>
                    <a:cubicBezTo>
                      <a:pt x="2198092" y="124383"/>
                      <a:pt x="2194531" y="132978"/>
                      <a:pt x="2188194" y="139315"/>
                    </a:cubicBezTo>
                    <a:cubicBezTo>
                      <a:pt x="2181857" y="145653"/>
                      <a:pt x="2173262" y="149213"/>
                      <a:pt x="2164299" y="149213"/>
                    </a:cubicBezTo>
                    <a:lnTo>
                      <a:pt x="33792" y="149213"/>
                    </a:lnTo>
                    <a:cubicBezTo>
                      <a:pt x="24830" y="149213"/>
                      <a:pt x="16235" y="145653"/>
                      <a:pt x="9898" y="139315"/>
                    </a:cubicBezTo>
                    <a:cubicBezTo>
                      <a:pt x="3560" y="132978"/>
                      <a:pt x="0" y="124383"/>
                      <a:pt x="0" y="115420"/>
                    </a:cubicBezTo>
                    <a:lnTo>
                      <a:pt x="0" y="33792"/>
                    </a:lnTo>
                    <a:cubicBezTo>
                      <a:pt x="0" y="24830"/>
                      <a:pt x="3560" y="16235"/>
                      <a:pt x="9898" y="9898"/>
                    </a:cubicBezTo>
                    <a:cubicBezTo>
                      <a:pt x="16235" y="3560"/>
                      <a:pt x="24830" y="0"/>
                      <a:pt x="33792" y="0"/>
                    </a:cubicBezTo>
                    <a:close/>
                  </a:path>
                </a:pathLst>
              </a:custGeom>
              <a:solidFill>
                <a:srgbClr val="FFFFFF"/>
              </a:solidFill>
            </p:spPr>
          </p:sp>
          <p:sp>
            <p:nvSpPr>
              <p:cNvPr name="TextBox 18" id="18"/>
              <p:cNvSpPr txBox="true"/>
              <p:nvPr/>
            </p:nvSpPr>
            <p:spPr>
              <a:xfrm>
                <a:off x="0" y="-38100"/>
                <a:ext cx="2198092" cy="187313"/>
              </a:xfrm>
              <a:prstGeom prst="rect">
                <a:avLst/>
              </a:prstGeom>
            </p:spPr>
            <p:txBody>
              <a:bodyPr anchor="ctr" rtlCol="false" tIns="50800" lIns="50800" bIns="50800" rIns="50800"/>
              <a:lstStyle/>
              <a:p>
                <a:pPr algn="ctr">
                  <a:lnSpc>
                    <a:spcPts val="4549"/>
                  </a:lnSpc>
                </a:pPr>
                <a:r>
                  <a:rPr lang="en-US" b="true" sz="3499">
                    <a:solidFill>
                      <a:srgbClr val="000001"/>
                    </a:solidFill>
                    <a:latin typeface="Klein Bold"/>
                    <a:ea typeface="Klein Bold"/>
                    <a:cs typeface="Klein Bold"/>
                    <a:sym typeface="Klein Bold"/>
                  </a:rPr>
                  <a:t>D</a:t>
                </a:r>
                <a:r>
                  <a:rPr lang="en-US" b="true" sz="3499">
                    <a:solidFill>
                      <a:srgbClr val="000001"/>
                    </a:solidFill>
                    <a:latin typeface="Klein Bold"/>
                    <a:ea typeface="Klein Bold"/>
                    <a:cs typeface="Klein Bold"/>
                    <a:sym typeface="Klein Bold"/>
                  </a:rPr>
                  <a:t>ata &amp; Area Studi</a:t>
                </a:r>
              </a:p>
            </p:txBody>
          </p:sp>
        </p:grpSp>
      </p:grpSp>
      <p:grpSp>
        <p:nvGrpSpPr>
          <p:cNvPr name="Group 19" id="19"/>
          <p:cNvGrpSpPr/>
          <p:nvPr/>
        </p:nvGrpSpPr>
        <p:grpSpPr>
          <a:xfrm rot="0">
            <a:off x="10172749" y="2674893"/>
            <a:ext cx="4711952" cy="771715"/>
            <a:chOff x="0" y="0"/>
            <a:chExt cx="1241008" cy="203250"/>
          </a:xfrm>
        </p:grpSpPr>
        <p:sp>
          <p:nvSpPr>
            <p:cNvPr name="Freeform 20" id="20"/>
            <p:cNvSpPr/>
            <p:nvPr/>
          </p:nvSpPr>
          <p:spPr>
            <a:xfrm flipH="false" flipV="false" rot="0">
              <a:off x="0" y="0"/>
              <a:ext cx="1241008" cy="203250"/>
            </a:xfrm>
            <a:custGeom>
              <a:avLst/>
              <a:gdLst/>
              <a:ahLst/>
              <a:cxnLst/>
              <a:rect r="r" b="b" t="t" l="l"/>
              <a:pathLst>
                <a:path h="203250" w="1241008">
                  <a:moveTo>
                    <a:pt x="83795" y="0"/>
                  </a:moveTo>
                  <a:lnTo>
                    <a:pt x="1157213" y="0"/>
                  </a:lnTo>
                  <a:cubicBezTo>
                    <a:pt x="1179437" y="0"/>
                    <a:pt x="1200750" y="8828"/>
                    <a:pt x="1216465" y="24543"/>
                  </a:cubicBezTo>
                  <a:cubicBezTo>
                    <a:pt x="1232180" y="40258"/>
                    <a:pt x="1241008" y="61571"/>
                    <a:pt x="1241008" y="83795"/>
                  </a:cubicBezTo>
                  <a:lnTo>
                    <a:pt x="1241008" y="119455"/>
                  </a:lnTo>
                  <a:cubicBezTo>
                    <a:pt x="1241008" y="165734"/>
                    <a:pt x="1203492" y="203250"/>
                    <a:pt x="1157213" y="203250"/>
                  </a:cubicBezTo>
                  <a:lnTo>
                    <a:pt x="83795" y="203250"/>
                  </a:lnTo>
                  <a:cubicBezTo>
                    <a:pt x="37516" y="203250"/>
                    <a:pt x="0" y="165734"/>
                    <a:pt x="0" y="119455"/>
                  </a:cubicBezTo>
                  <a:lnTo>
                    <a:pt x="0" y="83795"/>
                  </a:lnTo>
                  <a:cubicBezTo>
                    <a:pt x="0" y="37516"/>
                    <a:pt x="37516" y="0"/>
                    <a:pt x="83795" y="0"/>
                  </a:cubicBezTo>
                  <a:close/>
                </a:path>
              </a:pathLst>
            </a:custGeom>
            <a:solidFill>
              <a:srgbClr val="FFFFFF"/>
            </a:solidFill>
            <a:ln cap="rnd">
              <a:noFill/>
              <a:prstDash val="solid"/>
              <a:round/>
            </a:ln>
          </p:spPr>
        </p:sp>
        <p:sp>
          <p:nvSpPr>
            <p:cNvPr name="TextBox 21" id="21"/>
            <p:cNvSpPr txBox="true"/>
            <p:nvPr/>
          </p:nvSpPr>
          <p:spPr>
            <a:xfrm>
              <a:off x="0" y="9525"/>
              <a:ext cx="1241008" cy="193725"/>
            </a:xfrm>
            <a:prstGeom prst="rect">
              <a:avLst/>
            </a:prstGeom>
          </p:spPr>
          <p:txBody>
            <a:bodyPr anchor="ctr" rtlCol="false" tIns="50800" lIns="50800" bIns="50800" rIns="50800"/>
            <a:lstStyle/>
            <a:p>
              <a:pPr algn="ctr" marL="0" indent="0" lvl="0">
                <a:lnSpc>
                  <a:spcPts val="2860"/>
                </a:lnSpc>
              </a:pPr>
              <a:r>
                <a:rPr lang="en-US" b="true" sz="2600" spc="52">
                  <a:solidFill>
                    <a:srgbClr val="000001"/>
                  </a:solidFill>
                  <a:latin typeface="Klein Heavy"/>
                  <a:ea typeface="Klein Heavy"/>
                  <a:cs typeface="Klein Heavy"/>
                  <a:sym typeface="Klein Heavy"/>
                </a:rPr>
                <a:t>VISUALISASI PETA</a:t>
              </a:r>
            </a:p>
          </p:txBody>
        </p:sp>
      </p:grpSp>
      <p:sp>
        <p:nvSpPr>
          <p:cNvPr name="TextBox 22" id="22"/>
          <p:cNvSpPr txBox="true"/>
          <p:nvPr/>
        </p:nvSpPr>
        <p:spPr>
          <a:xfrm rot="0">
            <a:off x="2059205" y="4199083"/>
            <a:ext cx="6202493" cy="4654550"/>
          </a:xfrm>
          <a:prstGeom prst="rect">
            <a:avLst/>
          </a:prstGeom>
        </p:spPr>
        <p:txBody>
          <a:bodyPr anchor="t" rtlCol="false" tIns="0" lIns="0" bIns="0" rIns="0">
            <a:spAutoFit/>
          </a:bodyPr>
          <a:lstStyle/>
          <a:p>
            <a:pPr algn="l" marL="539749" indent="-269875" lvl="1">
              <a:lnSpc>
                <a:spcPts val="6249"/>
              </a:lnSpc>
              <a:buFont typeface="Arial"/>
              <a:buChar char="•"/>
            </a:pPr>
            <a:r>
              <a:rPr lang="en-US" sz="2499">
                <a:solidFill>
                  <a:srgbClr val="000000"/>
                </a:solidFill>
                <a:latin typeface="Klein"/>
                <a:ea typeface="Klein"/>
                <a:cs typeface="Klein"/>
                <a:sym typeface="Klein"/>
              </a:rPr>
              <a:t>CRS: WGS 84 / UTM Zone 48S</a:t>
            </a:r>
          </a:p>
          <a:p>
            <a:pPr algn="l" marL="539749" indent="-269875" lvl="1">
              <a:lnSpc>
                <a:spcPts val="6249"/>
              </a:lnSpc>
              <a:buFont typeface="Arial"/>
              <a:buChar char="•"/>
            </a:pPr>
            <a:r>
              <a:rPr lang="en-US" sz="2499">
                <a:solidFill>
                  <a:srgbClr val="000000"/>
                </a:solidFill>
                <a:latin typeface="Klein"/>
                <a:ea typeface="Klein"/>
                <a:cs typeface="Klein"/>
                <a:sym typeface="Klein"/>
              </a:rPr>
              <a:t>Jumlah </a:t>
            </a:r>
            <a:r>
              <a:rPr lang="en-US" sz="2499">
                <a:solidFill>
                  <a:srgbClr val="000000"/>
                </a:solidFill>
                <a:latin typeface="Klein"/>
                <a:ea typeface="Klein"/>
                <a:cs typeface="Klein"/>
                <a:sym typeface="Klein"/>
              </a:rPr>
              <a:t>titik banjir: 154 titik</a:t>
            </a:r>
          </a:p>
          <a:p>
            <a:pPr algn="l" marL="539749" indent="-269875" lvl="1">
              <a:lnSpc>
                <a:spcPts val="6249"/>
              </a:lnSpc>
              <a:buFont typeface="Arial"/>
              <a:buChar char="•"/>
            </a:pPr>
            <a:r>
              <a:rPr lang="en-US" sz="2499">
                <a:solidFill>
                  <a:srgbClr val="000000"/>
                </a:solidFill>
                <a:latin typeface="Klein"/>
                <a:ea typeface="Klein"/>
                <a:cs typeface="Klein"/>
                <a:sym typeface="Klein"/>
              </a:rPr>
              <a:t>Periode da</a:t>
            </a:r>
            <a:r>
              <a:rPr lang="en-US" sz="2499">
                <a:solidFill>
                  <a:srgbClr val="000000"/>
                </a:solidFill>
                <a:latin typeface="Klein"/>
                <a:ea typeface="Klein"/>
                <a:cs typeface="Klein"/>
                <a:sym typeface="Klein"/>
              </a:rPr>
              <a:t>ta: 1 tahun sekali (2024)</a:t>
            </a:r>
          </a:p>
          <a:p>
            <a:pPr algn="l" marL="539749" indent="-269875" lvl="1">
              <a:lnSpc>
                <a:spcPts val="6249"/>
              </a:lnSpc>
              <a:buFont typeface="Arial"/>
              <a:buChar char="•"/>
            </a:pPr>
            <a:r>
              <a:rPr lang="en-US" sz="2499">
                <a:solidFill>
                  <a:srgbClr val="000000"/>
                </a:solidFill>
                <a:latin typeface="Klein"/>
                <a:ea typeface="Klein"/>
                <a:cs typeface="Klein"/>
                <a:sym typeface="Klein"/>
              </a:rPr>
              <a:t>Sifat data: Terbuka</a:t>
            </a:r>
          </a:p>
          <a:p>
            <a:pPr algn="l" marL="539749" indent="-269875" lvl="1">
              <a:lnSpc>
                <a:spcPts val="6249"/>
              </a:lnSpc>
              <a:buFont typeface="Arial"/>
              <a:buChar char="•"/>
            </a:pPr>
            <a:r>
              <a:rPr lang="en-US" sz="2499">
                <a:solidFill>
                  <a:srgbClr val="000000"/>
                </a:solidFill>
                <a:latin typeface="Klein"/>
                <a:ea typeface="Klein"/>
                <a:cs typeface="Klein"/>
                <a:sym typeface="Klein"/>
              </a:rPr>
              <a:t>Kontak dataset: satpolpp@jakarta.</a:t>
            </a:r>
            <a:r>
              <a:rPr lang="en-US" sz="2499">
                <a:solidFill>
                  <a:srgbClr val="000000"/>
                </a:solidFill>
                <a:latin typeface="Klein"/>
                <a:ea typeface="Klein"/>
                <a:cs typeface="Klein"/>
                <a:sym typeface="Klein"/>
              </a:rPr>
              <a:t>go.id</a:t>
            </a:r>
          </a:p>
        </p:txBody>
      </p:sp>
      <p:sp>
        <p:nvSpPr>
          <p:cNvPr name="TextBox 23" id="23"/>
          <p:cNvSpPr txBox="true"/>
          <p:nvPr/>
        </p:nvSpPr>
        <p:spPr>
          <a:xfrm rot="0">
            <a:off x="10026303" y="4218133"/>
            <a:ext cx="6202493" cy="4480560"/>
          </a:xfrm>
          <a:prstGeom prst="rect">
            <a:avLst/>
          </a:prstGeom>
        </p:spPr>
        <p:txBody>
          <a:bodyPr anchor="t" rtlCol="false" tIns="0" lIns="0" bIns="0" rIns="0">
            <a:spAutoFit/>
          </a:bodyPr>
          <a:lstStyle/>
          <a:p>
            <a:pPr algn="l" marL="518160" indent="-259080" lvl="1">
              <a:lnSpc>
                <a:spcPts val="6000"/>
              </a:lnSpc>
              <a:buFont typeface="Arial"/>
              <a:buChar char="•"/>
            </a:pPr>
            <a:r>
              <a:rPr lang="en-US" sz="2400">
                <a:solidFill>
                  <a:srgbClr val="000000"/>
                </a:solidFill>
                <a:latin typeface="Klein"/>
                <a:ea typeface="Klein"/>
                <a:cs typeface="Klein"/>
                <a:sym typeface="Klein"/>
              </a:rPr>
              <a:t>Sertakan peta DKI Jakarta dengan batas kota/kabupaten</a:t>
            </a:r>
          </a:p>
          <a:p>
            <a:pPr algn="l" marL="518160" indent="-259080" lvl="1">
              <a:lnSpc>
                <a:spcPts val="6000"/>
              </a:lnSpc>
              <a:buFont typeface="Arial"/>
              <a:buChar char="•"/>
            </a:pPr>
            <a:r>
              <a:rPr lang="en-US" sz="2400">
                <a:solidFill>
                  <a:srgbClr val="000000"/>
                </a:solidFill>
                <a:latin typeface="Klein"/>
                <a:ea typeface="Klein"/>
                <a:cs typeface="Klein"/>
                <a:sym typeface="Klein"/>
              </a:rPr>
              <a:t>Ta</a:t>
            </a:r>
            <a:r>
              <a:rPr lang="en-US" sz="2400">
                <a:solidFill>
                  <a:srgbClr val="000000"/>
                </a:solidFill>
                <a:latin typeface="Klein"/>
                <a:ea typeface="Klein"/>
                <a:cs typeface="Klein"/>
                <a:sym typeface="Klein"/>
              </a:rPr>
              <a:t>mbahkan </a:t>
            </a:r>
            <a:r>
              <a:rPr lang="en-US" sz="2400">
                <a:solidFill>
                  <a:srgbClr val="000000"/>
                </a:solidFill>
                <a:latin typeface="Klein"/>
                <a:ea typeface="Klein"/>
                <a:cs typeface="Klein"/>
                <a:sym typeface="Klein"/>
              </a:rPr>
              <a:t>titik banjir sebag</a:t>
            </a:r>
            <a:r>
              <a:rPr lang="en-US" sz="2400">
                <a:solidFill>
                  <a:srgbClr val="000000"/>
                </a:solidFill>
                <a:latin typeface="Klein"/>
                <a:ea typeface="Klein"/>
                <a:cs typeface="Klein"/>
                <a:sym typeface="Klein"/>
              </a:rPr>
              <a:t>ai layer overlay</a:t>
            </a:r>
          </a:p>
          <a:p>
            <a:pPr algn="l" marL="518160" indent="-259080" lvl="1">
              <a:lnSpc>
                <a:spcPts val="6000"/>
              </a:lnSpc>
              <a:buFont typeface="Arial"/>
              <a:buChar char="•"/>
            </a:pPr>
            <a:r>
              <a:rPr lang="en-US" sz="2400">
                <a:solidFill>
                  <a:srgbClr val="000000"/>
                </a:solidFill>
                <a:latin typeface="Klein"/>
                <a:ea typeface="Klein"/>
                <a:cs typeface="Klein"/>
                <a:sym typeface="Klein"/>
              </a:rPr>
              <a:t>Opsional: beri warna berbeda tiap kota/kabupaten</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FB59C"/>
        </a:solidFill>
      </p:bgPr>
    </p:bg>
    <p:spTree>
      <p:nvGrpSpPr>
        <p:cNvPr id="1" name=""/>
        <p:cNvGrpSpPr/>
        <p:nvPr/>
      </p:nvGrpSpPr>
      <p:grpSpPr>
        <a:xfrm>
          <a:off x="0" y="0"/>
          <a:ext cx="0" cy="0"/>
          <a:chOff x="0" y="0"/>
          <a:chExt cx="0" cy="0"/>
        </a:xfrm>
      </p:grpSpPr>
      <p:grpSp>
        <p:nvGrpSpPr>
          <p:cNvPr name="Group 2" id="2"/>
          <p:cNvGrpSpPr/>
          <p:nvPr/>
        </p:nvGrpSpPr>
        <p:grpSpPr>
          <a:xfrm rot="0">
            <a:off x="-476250" y="-190500"/>
            <a:ext cx="19240500" cy="2381250"/>
            <a:chOff x="0" y="0"/>
            <a:chExt cx="25654000" cy="3175000"/>
          </a:xfrm>
        </p:grpSpPr>
        <p:grpSp>
          <p:nvGrpSpPr>
            <p:cNvPr name="Group 3" id="3"/>
            <p:cNvGrpSpPr/>
            <p:nvPr/>
          </p:nvGrpSpPr>
          <p:grpSpPr>
            <a:xfrm rot="0">
              <a:off x="0" y="2921000"/>
              <a:ext cx="25654000" cy="254000"/>
              <a:chOff x="0" y="0"/>
              <a:chExt cx="5067457" cy="50173"/>
            </a:xfrm>
          </p:grpSpPr>
          <p:sp>
            <p:nvSpPr>
              <p:cNvPr name="Freeform 4" id="4"/>
              <p:cNvSpPr/>
              <p:nvPr/>
            </p:nvSpPr>
            <p:spPr>
              <a:xfrm flipH="false" flipV="false" rot="0">
                <a:off x="0" y="0"/>
                <a:ext cx="5067457" cy="50173"/>
              </a:xfrm>
              <a:custGeom>
                <a:avLst/>
                <a:gdLst/>
                <a:ahLst/>
                <a:cxnLst/>
                <a:rect r="r" b="b" t="t" l="l"/>
                <a:pathLst>
                  <a:path h="50173" w="5067457">
                    <a:moveTo>
                      <a:pt x="0" y="0"/>
                    </a:moveTo>
                    <a:lnTo>
                      <a:pt x="5067457" y="0"/>
                    </a:lnTo>
                    <a:lnTo>
                      <a:pt x="5067457" y="50173"/>
                    </a:lnTo>
                    <a:lnTo>
                      <a:pt x="0" y="50173"/>
                    </a:lnTo>
                    <a:close/>
                  </a:path>
                </a:pathLst>
              </a:custGeom>
              <a:solidFill>
                <a:srgbClr val="EBA384"/>
              </a:solidFill>
              <a:ln cap="sq">
                <a:noFill/>
                <a:prstDash val="solid"/>
                <a:miter/>
              </a:ln>
            </p:spPr>
          </p:sp>
          <p:sp>
            <p:nvSpPr>
              <p:cNvPr name="TextBox 5" id="5"/>
              <p:cNvSpPr txBox="true"/>
              <p:nvPr/>
            </p:nvSpPr>
            <p:spPr>
              <a:xfrm>
                <a:off x="0" y="-19050"/>
                <a:ext cx="5067457" cy="69223"/>
              </a:xfrm>
              <a:prstGeom prst="rect">
                <a:avLst/>
              </a:prstGeom>
            </p:spPr>
            <p:txBody>
              <a:bodyPr anchor="ctr" rtlCol="false" tIns="50800" lIns="50800" bIns="50800" rIns="50800"/>
              <a:lstStyle/>
              <a:p>
                <a:pPr algn="ctr" marL="0" indent="0" lvl="0">
                  <a:lnSpc>
                    <a:spcPts val="2080"/>
                  </a:lnSpc>
                  <a:spcBef>
                    <a:spcPct val="0"/>
                  </a:spcBef>
                </a:pPr>
              </a:p>
            </p:txBody>
          </p:sp>
        </p:grpSp>
        <p:grpSp>
          <p:nvGrpSpPr>
            <p:cNvPr name="Group 6" id="6"/>
            <p:cNvGrpSpPr/>
            <p:nvPr/>
          </p:nvGrpSpPr>
          <p:grpSpPr>
            <a:xfrm rot="0">
              <a:off x="0" y="0"/>
              <a:ext cx="25654000" cy="2984500"/>
              <a:chOff x="0" y="0"/>
              <a:chExt cx="5067457" cy="589531"/>
            </a:xfrm>
          </p:grpSpPr>
          <p:sp>
            <p:nvSpPr>
              <p:cNvPr name="Freeform 7" id="7"/>
              <p:cNvSpPr/>
              <p:nvPr/>
            </p:nvSpPr>
            <p:spPr>
              <a:xfrm flipH="false" flipV="false" rot="0">
                <a:off x="0" y="0"/>
                <a:ext cx="5067457" cy="589531"/>
              </a:xfrm>
              <a:custGeom>
                <a:avLst/>
                <a:gdLst/>
                <a:ahLst/>
                <a:cxnLst/>
                <a:rect r="r" b="b" t="t" l="l"/>
                <a:pathLst>
                  <a:path h="589531" w="5067457">
                    <a:moveTo>
                      <a:pt x="0" y="0"/>
                    </a:moveTo>
                    <a:lnTo>
                      <a:pt x="5067457" y="0"/>
                    </a:lnTo>
                    <a:lnTo>
                      <a:pt x="5067457" y="589531"/>
                    </a:lnTo>
                    <a:lnTo>
                      <a:pt x="0" y="589531"/>
                    </a:lnTo>
                    <a:close/>
                  </a:path>
                </a:pathLst>
              </a:custGeom>
              <a:solidFill>
                <a:srgbClr val="97D4E8"/>
              </a:solidFill>
              <a:ln cap="sq">
                <a:noFill/>
                <a:prstDash val="solid"/>
                <a:miter/>
              </a:ln>
            </p:spPr>
          </p:sp>
          <p:sp>
            <p:nvSpPr>
              <p:cNvPr name="TextBox 8" id="8"/>
              <p:cNvSpPr txBox="true"/>
              <p:nvPr/>
            </p:nvSpPr>
            <p:spPr>
              <a:xfrm>
                <a:off x="0" y="-19050"/>
                <a:ext cx="5067457" cy="608581"/>
              </a:xfrm>
              <a:prstGeom prst="rect">
                <a:avLst/>
              </a:prstGeom>
            </p:spPr>
            <p:txBody>
              <a:bodyPr anchor="ctr" rtlCol="false" tIns="50800" lIns="50800" bIns="50800" rIns="50800"/>
              <a:lstStyle/>
              <a:p>
                <a:pPr algn="ctr" marL="0" indent="0" lvl="0">
                  <a:lnSpc>
                    <a:spcPts val="2080"/>
                  </a:lnSpc>
                  <a:spcBef>
                    <a:spcPct val="0"/>
                  </a:spcBef>
                </a:pPr>
              </a:p>
            </p:txBody>
          </p:sp>
        </p:grpSp>
      </p:grpSp>
      <p:grpSp>
        <p:nvGrpSpPr>
          <p:cNvPr name="Group 9" id="9"/>
          <p:cNvGrpSpPr/>
          <p:nvPr/>
        </p:nvGrpSpPr>
        <p:grpSpPr>
          <a:xfrm rot="0">
            <a:off x="3222670" y="569939"/>
            <a:ext cx="11842660" cy="917522"/>
            <a:chOff x="0" y="0"/>
            <a:chExt cx="15790214" cy="1223363"/>
          </a:xfrm>
        </p:grpSpPr>
        <p:grpSp>
          <p:nvGrpSpPr>
            <p:cNvPr name="Group 10" id="10"/>
            <p:cNvGrpSpPr/>
            <p:nvPr/>
          </p:nvGrpSpPr>
          <p:grpSpPr>
            <a:xfrm rot="0">
              <a:off x="211240" y="207363"/>
              <a:ext cx="15578974" cy="1016000"/>
              <a:chOff x="0" y="0"/>
              <a:chExt cx="2198092" cy="143351"/>
            </a:xfrm>
          </p:grpSpPr>
          <p:sp>
            <p:nvSpPr>
              <p:cNvPr name="Freeform 11" id="11"/>
              <p:cNvSpPr/>
              <p:nvPr/>
            </p:nvSpPr>
            <p:spPr>
              <a:xfrm flipH="false" flipV="false" rot="0">
                <a:off x="0" y="0"/>
                <a:ext cx="2198092" cy="143351"/>
              </a:xfrm>
              <a:custGeom>
                <a:avLst/>
                <a:gdLst/>
                <a:ahLst/>
                <a:cxnLst/>
                <a:rect r="r" b="b" t="t" l="l"/>
                <a:pathLst>
                  <a:path h="143351" w="2198092">
                    <a:moveTo>
                      <a:pt x="33792" y="0"/>
                    </a:moveTo>
                    <a:lnTo>
                      <a:pt x="2164299" y="0"/>
                    </a:lnTo>
                    <a:cubicBezTo>
                      <a:pt x="2173262" y="0"/>
                      <a:pt x="2181857" y="3560"/>
                      <a:pt x="2188194" y="9898"/>
                    </a:cubicBezTo>
                    <a:cubicBezTo>
                      <a:pt x="2194531" y="16235"/>
                      <a:pt x="2198092" y="24830"/>
                      <a:pt x="2198092" y="33792"/>
                    </a:cubicBezTo>
                    <a:lnTo>
                      <a:pt x="2198092" y="109559"/>
                    </a:lnTo>
                    <a:cubicBezTo>
                      <a:pt x="2198092" y="118521"/>
                      <a:pt x="2194531" y="127116"/>
                      <a:pt x="2188194" y="133453"/>
                    </a:cubicBezTo>
                    <a:cubicBezTo>
                      <a:pt x="2181857" y="139791"/>
                      <a:pt x="2173262" y="143351"/>
                      <a:pt x="2164299" y="143351"/>
                    </a:cubicBezTo>
                    <a:lnTo>
                      <a:pt x="33792" y="143351"/>
                    </a:lnTo>
                    <a:cubicBezTo>
                      <a:pt x="24830" y="143351"/>
                      <a:pt x="16235" y="139791"/>
                      <a:pt x="9898" y="133453"/>
                    </a:cubicBezTo>
                    <a:cubicBezTo>
                      <a:pt x="3560" y="127116"/>
                      <a:pt x="0" y="118521"/>
                      <a:pt x="0" y="109559"/>
                    </a:cubicBezTo>
                    <a:lnTo>
                      <a:pt x="0" y="33792"/>
                    </a:lnTo>
                    <a:cubicBezTo>
                      <a:pt x="0" y="24830"/>
                      <a:pt x="3560" y="16235"/>
                      <a:pt x="9898" y="9898"/>
                    </a:cubicBezTo>
                    <a:cubicBezTo>
                      <a:pt x="16235" y="3560"/>
                      <a:pt x="24830" y="0"/>
                      <a:pt x="33792" y="0"/>
                    </a:cubicBezTo>
                    <a:close/>
                  </a:path>
                </a:pathLst>
              </a:custGeom>
              <a:solidFill>
                <a:srgbClr val="38ABD1"/>
              </a:solidFill>
              <a:ln cap="rnd">
                <a:noFill/>
                <a:prstDash val="solid"/>
                <a:round/>
              </a:ln>
            </p:spPr>
          </p:sp>
          <p:sp>
            <p:nvSpPr>
              <p:cNvPr name="TextBox 12" id="12"/>
              <p:cNvSpPr txBox="true"/>
              <p:nvPr/>
            </p:nvSpPr>
            <p:spPr>
              <a:xfrm>
                <a:off x="0" y="-19050"/>
                <a:ext cx="2198092" cy="162401"/>
              </a:xfrm>
              <a:prstGeom prst="rect">
                <a:avLst/>
              </a:prstGeom>
            </p:spPr>
            <p:txBody>
              <a:bodyPr anchor="ctr" rtlCol="false" tIns="50800" lIns="50800" bIns="50800" rIns="50800"/>
              <a:lstStyle/>
              <a:p>
                <a:pPr algn="ctr" marL="0" indent="0" lvl="0">
                  <a:lnSpc>
                    <a:spcPts val="2080"/>
                  </a:lnSpc>
                  <a:spcBef>
                    <a:spcPct val="0"/>
                  </a:spcBef>
                </a:pPr>
              </a:p>
            </p:txBody>
          </p:sp>
        </p:grpSp>
        <p:grpSp>
          <p:nvGrpSpPr>
            <p:cNvPr name="Group 13" id="13"/>
            <p:cNvGrpSpPr/>
            <p:nvPr/>
          </p:nvGrpSpPr>
          <p:grpSpPr>
            <a:xfrm rot="0">
              <a:off x="0" y="0"/>
              <a:ext cx="15578974" cy="1057546"/>
              <a:chOff x="0" y="0"/>
              <a:chExt cx="2198092" cy="149213"/>
            </a:xfrm>
          </p:grpSpPr>
          <p:sp>
            <p:nvSpPr>
              <p:cNvPr name="Freeform 14" id="14"/>
              <p:cNvSpPr/>
              <p:nvPr/>
            </p:nvSpPr>
            <p:spPr>
              <a:xfrm flipH="false" flipV="false" rot="0">
                <a:off x="0" y="0"/>
                <a:ext cx="2198092" cy="149213"/>
              </a:xfrm>
              <a:custGeom>
                <a:avLst/>
                <a:gdLst/>
                <a:ahLst/>
                <a:cxnLst/>
                <a:rect r="r" b="b" t="t" l="l"/>
                <a:pathLst>
                  <a:path h="149213" w="2198092">
                    <a:moveTo>
                      <a:pt x="33792" y="0"/>
                    </a:moveTo>
                    <a:lnTo>
                      <a:pt x="2164299" y="0"/>
                    </a:lnTo>
                    <a:cubicBezTo>
                      <a:pt x="2173262" y="0"/>
                      <a:pt x="2181857" y="3560"/>
                      <a:pt x="2188194" y="9898"/>
                    </a:cubicBezTo>
                    <a:cubicBezTo>
                      <a:pt x="2194531" y="16235"/>
                      <a:pt x="2198092" y="24830"/>
                      <a:pt x="2198092" y="33792"/>
                    </a:cubicBezTo>
                    <a:lnTo>
                      <a:pt x="2198092" y="115420"/>
                    </a:lnTo>
                    <a:cubicBezTo>
                      <a:pt x="2198092" y="124383"/>
                      <a:pt x="2194531" y="132978"/>
                      <a:pt x="2188194" y="139315"/>
                    </a:cubicBezTo>
                    <a:cubicBezTo>
                      <a:pt x="2181857" y="145653"/>
                      <a:pt x="2173262" y="149213"/>
                      <a:pt x="2164299" y="149213"/>
                    </a:cubicBezTo>
                    <a:lnTo>
                      <a:pt x="33792" y="149213"/>
                    </a:lnTo>
                    <a:cubicBezTo>
                      <a:pt x="24830" y="149213"/>
                      <a:pt x="16235" y="145653"/>
                      <a:pt x="9898" y="139315"/>
                    </a:cubicBezTo>
                    <a:cubicBezTo>
                      <a:pt x="3560" y="132978"/>
                      <a:pt x="0" y="124383"/>
                      <a:pt x="0" y="115420"/>
                    </a:cubicBezTo>
                    <a:lnTo>
                      <a:pt x="0" y="33792"/>
                    </a:lnTo>
                    <a:cubicBezTo>
                      <a:pt x="0" y="24830"/>
                      <a:pt x="3560" y="16235"/>
                      <a:pt x="9898" y="9898"/>
                    </a:cubicBezTo>
                    <a:cubicBezTo>
                      <a:pt x="16235" y="3560"/>
                      <a:pt x="24830" y="0"/>
                      <a:pt x="33792" y="0"/>
                    </a:cubicBezTo>
                    <a:close/>
                  </a:path>
                </a:pathLst>
              </a:custGeom>
              <a:solidFill>
                <a:srgbClr val="FFFFFF"/>
              </a:solidFill>
            </p:spPr>
          </p:sp>
          <p:sp>
            <p:nvSpPr>
              <p:cNvPr name="TextBox 15" id="15"/>
              <p:cNvSpPr txBox="true"/>
              <p:nvPr/>
            </p:nvSpPr>
            <p:spPr>
              <a:xfrm>
                <a:off x="0" y="-38100"/>
                <a:ext cx="2198092" cy="187313"/>
              </a:xfrm>
              <a:prstGeom prst="rect">
                <a:avLst/>
              </a:prstGeom>
            </p:spPr>
            <p:txBody>
              <a:bodyPr anchor="ctr" rtlCol="false" tIns="50800" lIns="50800" bIns="50800" rIns="50800"/>
              <a:lstStyle/>
              <a:p>
                <a:pPr algn="ctr">
                  <a:lnSpc>
                    <a:spcPts val="4549"/>
                  </a:lnSpc>
                </a:pPr>
                <a:r>
                  <a:rPr lang="en-US" b="true" sz="3499">
                    <a:solidFill>
                      <a:srgbClr val="000001"/>
                    </a:solidFill>
                    <a:latin typeface="Klein Bold"/>
                    <a:ea typeface="Klein Bold"/>
                    <a:cs typeface="Klein Bold"/>
                    <a:sym typeface="Klein Bold"/>
                  </a:rPr>
                  <a:t>M</a:t>
                </a:r>
                <a:r>
                  <a:rPr lang="en-US" b="true" sz="3499">
                    <a:solidFill>
                      <a:srgbClr val="000001"/>
                    </a:solidFill>
                    <a:latin typeface="Klein Bold"/>
                    <a:ea typeface="Klein Bold"/>
                    <a:cs typeface="Klein Bold"/>
                    <a:sym typeface="Klein Bold"/>
                  </a:rPr>
                  <a:t>etodologi</a:t>
                </a:r>
              </a:p>
            </p:txBody>
          </p:sp>
        </p:grpSp>
      </p:grpSp>
      <p:sp>
        <p:nvSpPr>
          <p:cNvPr name="Freeform 16" id="16"/>
          <p:cNvSpPr/>
          <p:nvPr/>
        </p:nvSpPr>
        <p:spPr>
          <a:xfrm flipH="false" flipV="false" rot="0">
            <a:off x="3357528" y="2738154"/>
            <a:ext cx="11572944" cy="2601499"/>
          </a:xfrm>
          <a:custGeom>
            <a:avLst/>
            <a:gdLst/>
            <a:ahLst/>
            <a:cxnLst/>
            <a:rect r="r" b="b" t="t" l="l"/>
            <a:pathLst>
              <a:path h="2601499" w="11572944">
                <a:moveTo>
                  <a:pt x="0" y="0"/>
                </a:moveTo>
                <a:lnTo>
                  <a:pt x="11572944" y="0"/>
                </a:lnTo>
                <a:lnTo>
                  <a:pt x="11572944" y="2601499"/>
                </a:lnTo>
                <a:lnTo>
                  <a:pt x="0" y="2601499"/>
                </a:lnTo>
                <a:lnTo>
                  <a:pt x="0" y="0"/>
                </a:lnTo>
                <a:close/>
              </a:path>
            </a:pathLst>
          </a:custGeom>
          <a:blipFill>
            <a:blip r:embed="rId2"/>
            <a:stretch>
              <a:fillRect l="0" t="-1712" r="0" b="-1712"/>
            </a:stretch>
          </a:blipFill>
        </p:spPr>
      </p:sp>
      <p:sp>
        <p:nvSpPr>
          <p:cNvPr name="TextBox 17" id="17"/>
          <p:cNvSpPr txBox="true"/>
          <p:nvPr/>
        </p:nvSpPr>
        <p:spPr>
          <a:xfrm rot="0">
            <a:off x="2898511" y="5723694"/>
            <a:ext cx="12490977" cy="3639381"/>
          </a:xfrm>
          <a:prstGeom prst="rect">
            <a:avLst/>
          </a:prstGeom>
        </p:spPr>
        <p:txBody>
          <a:bodyPr anchor="t" rtlCol="false" tIns="0" lIns="0" bIns="0" rIns="0">
            <a:spAutoFit/>
          </a:bodyPr>
          <a:lstStyle/>
          <a:p>
            <a:pPr algn="ctr">
              <a:lnSpc>
                <a:spcPts val="4891"/>
              </a:lnSpc>
            </a:pPr>
            <a:r>
              <a:rPr lang="en-US" sz="1956" spc="134">
                <a:solidFill>
                  <a:srgbClr val="000001"/>
                </a:solidFill>
                <a:latin typeface="Klein"/>
                <a:ea typeface="Klein"/>
                <a:cs typeface="Klein"/>
                <a:sym typeface="Klein"/>
              </a:rPr>
              <a:t>Analisis dilakukan menggunakan data titik banjir, batas administratif (GeoJSON), dan data kependudukan DKI Jakarta tahun 2024. Metode yang digunakan meliputi visualisasi spasial, centrographic statistics (Mean Center, Standard Distance, Standard Deviational Ellipse), point pattern analysis (NNA, Quadrat Analysis, Ripley’s K/L), autokorelasi spasial global (Moran’s I), serta regresi spasial (OLS, SAR, SEM) untuk menganalisis pola dan faktor yang memengaruhi kejadian banjir.</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39059"/>
        </a:solidFill>
      </p:bgPr>
    </p:bg>
    <p:spTree>
      <p:nvGrpSpPr>
        <p:cNvPr id="1" name=""/>
        <p:cNvGrpSpPr/>
        <p:nvPr/>
      </p:nvGrpSpPr>
      <p:grpSpPr>
        <a:xfrm>
          <a:off x="0" y="0"/>
          <a:ext cx="0" cy="0"/>
          <a:chOff x="0" y="0"/>
          <a:chExt cx="0" cy="0"/>
        </a:xfrm>
      </p:grpSpPr>
      <p:grpSp>
        <p:nvGrpSpPr>
          <p:cNvPr name="Group 2" id="2"/>
          <p:cNvGrpSpPr/>
          <p:nvPr/>
        </p:nvGrpSpPr>
        <p:grpSpPr>
          <a:xfrm rot="0">
            <a:off x="-476250" y="-190500"/>
            <a:ext cx="19240500" cy="2381250"/>
            <a:chOff x="0" y="0"/>
            <a:chExt cx="25654000" cy="3175000"/>
          </a:xfrm>
        </p:grpSpPr>
        <p:grpSp>
          <p:nvGrpSpPr>
            <p:cNvPr name="Group 3" id="3"/>
            <p:cNvGrpSpPr/>
            <p:nvPr/>
          </p:nvGrpSpPr>
          <p:grpSpPr>
            <a:xfrm rot="0">
              <a:off x="0" y="0"/>
              <a:ext cx="25654000" cy="2984500"/>
              <a:chOff x="0" y="0"/>
              <a:chExt cx="5067457" cy="589531"/>
            </a:xfrm>
          </p:grpSpPr>
          <p:sp>
            <p:nvSpPr>
              <p:cNvPr name="Freeform 4" id="4"/>
              <p:cNvSpPr/>
              <p:nvPr/>
            </p:nvSpPr>
            <p:spPr>
              <a:xfrm flipH="false" flipV="false" rot="0">
                <a:off x="0" y="0"/>
                <a:ext cx="5067457" cy="589531"/>
              </a:xfrm>
              <a:custGeom>
                <a:avLst/>
                <a:gdLst/>
                <a:ahLst/>
                <a:cxnLst/>
                <a:rect r="r" b="b" t="t" l="l"/>
                <a:pathLst>
                  <a:path h="589531" w="5067457">
                    <a:moveTo>
                      <a:pt x="0" y="0"/>
                    </a:moveTo>
                    <a:lnTo>
                      <a:pt x="5067457" y="0"/>
                    </a:lnTo>
                    <a:lnTo>
                      <a:pt x="5067457" y="589531"/>
                    </a:lnTo>
                    <a:lnTo>
                      <a:pt x="0" y="589531"/>
                    </a:lnTo>
                    <a:close/>
                  </a:path>
                </a:pathLst>
              </a:custGeom>
              <a:solidFill>
                <a:srgbClr val="97D4E8"/>
              </a:solidFill>
              <a:ln cap="sq">
                <a:noFill/>
                <a:prstDash val="solid"/>
                <a:miter/>
              </a:ln>
            </p:spPr>
          </p:sp>
          <p:sp>
            <p:nvSpPr>
              <p:cNvPr name="TextBox 5" id="5"/>
              <p:cNvSpPr txBox="true"/>
              <p:nvPr/>
            </p:nvSpPr>
            <p:spPr>
              <a:xfrm>
                <a:off x="0" y="-19050"/>
                <a:ext cx="5067457" cy="608581"/>
              </a:xfrm>
              <a:prstGeom prst="rect">
                <a:avLst/>
              </a:prstGeom>
            </p:spPr>
            <p:txBody>
              <a:bodyPr anchor="ctr" rtlCol="false" tIns="50800" lIns="50800" bIns="50800" rIns="50800"/>
              <a:lstStyle/>
              <a:p>
                <a:pPr algn="ctr" marL="0" indent="0" lvl="0">
                  <a:lnSpc>
                    <a:spcPts val="2080"/>
                  </a:lnSpc>
                  <a:spcBef>
                    <a:spcPct val="0"/>
                  </a:spcBef>
                </a:pPr>
              </a:p>
            </p:txBody>
          </p:sp>
        </p:grpSp>
        <p:grpSp>
          <p:nvGrpSpPr>
            <p:cNvPr name="Group 6" id="6"/>
            <p:cNvGrpSpPr/>
            <p:nvPr/>
          </p:nvGrpSpPr>
          <p:grpSpPr>
            <a:xfrm rot="0">
              <a:off x="0" y="2921000"/>
              <a:ext cx="25654000" cy="254000"/>
              <a:chOff x="0" y="0"/>
              <a:chExt cx="5067457" cy="50173"/>
            </a:xfrm>
          </p:grpSpPr>
          <p:sp>
            <p:nvSpPr>
              <p:cNvPr name="Freeform 7" id="7"/>
              <p:cNvSpPr/>
              <p:nvPr/>
            </p:nvSpPr>
            <p:spPr>
              <a:xfrm flipH="false" flipV="false" rot="0">
                <a:off x="0" y="0"/>
                <a:ext cx="5067457" cy="50173"/>
              </a:xfrm>
              <a:custGeom>
                <a:avLst/>
                <a:gdLst/>
                <a:ahLst/>
                <a:cxnLst/>
                <a:rect r="r" b="b" t="t" l="l"/>
                <a:pathLst>
                  <a:path h="50173" w="5067457">
                    <a:moveTo>
                      <a:pt x="0" y="0"/>
                    </a:moveTo>
                    <a:lnTo>
                      <a:pt x="5067457" y="0"/>
                    </a:lnTo>
                    <a:lnTo>
                      <a:pt x="5067457" y="50173"/>
                    </a:lnTo>
                    <a:lnTo>
                      <a:pt x="0" y="50173"/>
                    </a:lnTo>
                    <a:close/>
                  </a:path>
                </a:pathLst>
              </a:custGeom>
              <a:solidFill>
                <a:srgbClr val="CC7E3E"/>
              </a:solidFill>
              <a:ln cap="sq">
                <a:noFill/>
                <a:prstDash val="solid"/>
                <a:miter/>
              </a:ln>
            </p:spPr>
          </p:sp>
          <p:sp>
            <p:nvSpPr>
              <p:cNvPr name="TextBox 8" id="8"/>
              <p:cNvSpPr txBox="true"/>
              <p:nvPr/>
            </p:nvSpPr>
            <p:spPr>
              <a:xfrm>
                <a:off x="0" y="-19050"/>
                <a:ext cx="5067457" cy="69223"/>
              </a:xfrm>
              <a:prstGeom prst="rect">
                <a:avLst/>
              </a:prstGeom>
            </p:spPr>
            <p:txBody>
              <a:bodyPr anchor="ctr" rtlCol="false" tIns="50800" lIns="50800" bIns="50800" rIns="50800"/>
              <a:lstStyle/>
              <a:p>
                <a:pPr algn="ctr" marL="0" indent="0" lvl="0">
                  <a:lnSpc>
                    <a:spcPts val="2080"/>
                  </a:lnSpc>
                  <a:spcBef>
                    <a:spcPct val="0"/>
                  </a:spcBef>
                </a:pPr>
              </a:p>
            </p:txBody>
          </p:sp>
        </p:grpSp>
      </p:grpSp>
      <p:grpSp>
        <p:nvGrpSpPr>
          <p:cNvPr name="Group 9" id="9"/>
          <p:cNvGrpSpPr/>
          <p:nvPr/>
        </p:nvGrpSpPr>
        <p:grpSpPr>
          <a:xfrm rot="0">
            <a:off x="550191" y="2545115"/>
            <a:ext cx="8346796" cy="7136802"/>
            <a:chOff x="0" y="0"/>
            <a:chExt cx="11129061" cy="9515736"/>
          </a:xfrm>
        </p:grpSpPr>
        <p:grpSp>
          <p:nvGrpSpPr>
            <p:cNvPr name="Group 10" id="10"/>
            <p:cNvGrpSpPr/>
            <p:nvPr/>
          </p:nvGrpSpPr>
          <p:grpSpPr>
            <a:xfrm rot="0">
              <a:off x="947776" y="212642"/>
              <a:ext cx="10181285" cy="9303094"/>
              <a:chOff x="0" y="0"/>
              <a:chExt cx="1151266" cy="1051963"/>
            </a:xfrm>
          </p:grpSpPr>
          <p:sp>
            <p:nvSpPr>
              <p:cNvPr name="Freeform 11" id="11"/>
              <p:cNvSpPr/>
              <p:nvPr/>
            </p:nvSpPr>
            <p:spPr>
              <a:xfrm flipH="false" flipV="false" rot="0">
                <a:off x="0" y="0"/>
                <a:ext cx="1151266" cy="1051963"/>
              </a:xfrm>
              <a:custGeom>
                <a:avLst/>
                <a:gdLst/>
                <a:ahLst/>
                <a:cxnLst/>
                <a:rect r="r" b="b" t="t" l="l"/>
                <a:pathLst>
                  <a:path h="1051963" w="1151266">
                    <a:moveTo>
                      <a:pt x="50694" y="0"/>
                    </a:moveTo>
                    <a:lnTo>
                      <a:pt x="1100572" y="0"/>
                    </a:lnTo>
                    <a:cubicBezTo>
                      <a:pt x="1114017" y="0"/>
                      <a:pt x="1126911" y="5341"/>
                      <a:pt x="1136418" y="14848"/>
                    </a:cubicBezTo>
                    <a:cubicBezTo>
                      <a:pt x="1145925" y="24355"/>
                      <a:pt x="1151266" y="37249"/>
                      <a:pt x="1151266" y="50694"/>
                    </a:cubicBezTo>
                    <a:lnTo>
                      <a:pt x="1151266" y="1001269"/>
                    </a:lnTo>
                    <a:cubicBezTo>
                      <a:pt x="1151266" y="1029267"/>
                      <a:pt x="1128570" y="1051963"/>
                      <a:pt x="1100572" y="1051963"/>
                    </a:cubicBezTo>
                    <a:lnTo>
                      <a:pt x="50694" y="1051963"/>
                    </a:lnTo>
                    <a:cubicBezTo>
                      <a:pt x="37249" y="1051963"/>
                      <a:pt x="24355" y="1046622"/>
                      <a:pt x="14848" y="1037115"/>
                    </a:cubicBezTo>
                    <a:cubicBezTo>
                      <a:pt x="5341" y="1027608"/>
                      <a:pt x="0" y="1014714"/>
                      <a:pt x="0" y="1001269"/>
                    </a:cubicBezTo>
                    <a:lnTo>
                      <a:pt x="0" y="50694"/>
                    </a:lnTo>
                    <a:cubicBezTo>
                      <a:pt x="0" y="37249"/>
                      <a:pt x="5341" y="24355"/>
                      <a:pt x="14848" y="14848"/>
                    </a:cubicBezTo>
                    <a:cubicBezTo>
                      <a:pt x="24355" y="5341"/>
                      <a:pt x="37249" y="0"/>
                      <a:pt x="50694" y="0"/>
                    </a:cubicBezTo>
                    <a:close/>
                  </a:path>
                </a:pathLst>
              </a:custGeom>
              <a:solidFill>
                <a:srgbClr val="CC7E3E"/>
              </a:solidFill>
              <a:ln cap="rnd">
                <a:noFill/>
                <a:prstDash val="solid"/>
                <a:round/>
              </a:ln>
            </p:spPr>
          </p:sp>
          <p:sp>
            <p:nvSpPr>
              <p:cNvPr name="TextBox 12" id="12"/>
              <p:cNvSpPr txBox="true"/>
              <p:nvPr/>
            </p:nvSpPr>
            <p:spPr>
              <a:xfrm>
                <a:off x="0" y="-38100"/>
                <a:ext cx="1151266" cy="1090063"/>
              </a:xfrm>
              <a:prstGeom prst="rect">
                <a:avLst/>
              </a:prstGeom>
            </p:spPr>
            <p:txBody>
              <a:bodyPr anchor="ctr" rtlCol="false" tIns="316933" lIns="316933" bIns="316933" rIns="316933"/>
              <a:lstStyle/>
              <a:p>
                <a:pPr algn="ctr" marL="0" indent="0" lvl="0">
                  <a:lnSpc>
                    <a:spcPts val="3380"/>
                  </a:lnSpc>
                  <a:spcBef>
                    <a:spcPct val="0"/>
                  </a:spcBef>
                </a:pPr>
              </a:p>
            </p:txBody>
          </p:sp>
        </p:grpSp>
        <p:grpSp>
          <p:nvGrpSpPr>
            <p:cNvPr name="Group 13" id="13"/>
            <p:cNvGrpSpPr/>
            <p:nvPr/>
          </p:nvGrpSpPr>
          <p:grpSpPr>
            <a:xfrm rot="0">
              <a:off x="0" y="0"/>
              <a:ext cx="10896346" cy="9303094"/>
              <a:chOff x="0" y="0"/>
              <a:chExt cx="1232123" cy="1051963"/>
            </a:xfrm>
          </p:grpSpPr>
          <p:sp>
            <p:nvSpPr>
              <p:cNvPr name="Freeform 14" id="14"/>
              <p:cNvSpPr/>
              <p:nvPr/>
            </p:nvSpPr>
            <p:spPr>
              <a:xfrm flipH="false" flipV="false" rot="0">
                <a:off x="0" y="0"/>
                <a:ext cx="1232123" cy="1051963"/>
              </a:xfrm>
              <a:custGeom>
                <a:avLst/>
                <a:gdLst/>
                <a:ahLst/>
                <a:cxnLst/>
                <a:rect r="r" b="b" t="t" l="l"/>
                <a:pathLst>
                  <a:path h="1051963" w="1232123">
                    <a:moveTo>
                      <a:pt x="47367" y="0"/>
                    </a:moveTo>
                    <a:lnTo>
                      <a:pt x="1184756" y="0"/>
                    </a:lnTo>
                    <a:cubicBezTo>
                      <a:pt x="1197318" y="0"/>
                      <a:pt x="1209366" y="4990"/>
                      <a:pt x="1218249" y="13873"/>
                    </a:cubicBezTo>
                    <a:cubicBezTo>
                      <a:pt x="1227132" y="22757"/>
                      <a:pt x="1232123" y="34805"/>
                      <a:pt x="1232123" y="47367"/>
                    </a:cubicBezTo>
                    <a:lnTo>
                      <a:pt x="1232123" y="1004596"/>
                    </a:lnTo>
                    <a:cubicBezTo>
                      <a:pt x="1232123" y="1030756"/>
                      <a:pt x="1210916" y="1051963"/>
                      <a:pt x="1184756" y="1051963"/>
                    </a:cubicBezTo>
                    <a:lnTo>
                      <a:pt x="47367" y="1051963"/>
                    </a:lnTo>
                    <a:cubicBezTo>
                      <a:pt x="34805" y="1051963"/>
                      <a:pt x="22757" y="1046973"/>
                      <a:pt x="13873" y="1038090"/>
                    </a:cubicBezTo>
                    <a:cubicBezTo>
                      <a:pt x="4990" y="1029207"/>
                      <a:pt x="0" y="1017159"/>
                      <a:pt x="0" y="1004596"/>
                    </a:cubicBezTo>
                    <a:lnTo>
                      <a:pt x="0" y="47367"/>
                    </a:lnTo>
                    <a:cubicBezTo>
                      <a:pt x="0" y="21207"/>
                      <a:pt x="21207" y="0"/>
                      <a:pt x="47367" y="0"/>
                    </a:cubicBezTo>
                    <a:close/>
                  </a:path>
                </a:pathLst>
              </a:custGeom>
              <a:solidFill>
                <a:srgbClr val="FFFFFF"/>
              </a:solidFill>
            </p:spPr>
          </p:sp>
          <p:sp>
            <p:nvSpPr>
              <p:cNvPr name="TextBox 15" id="15"/>
              <p:cNvSpPr txBox="true"/>
              <p:nvPr/>
            </p:nvSpPr>
            <p:spPr>
              <a:xfrm>
                <a:off x="0" y="-38100"/>
                <a:ext cx="1232123" cy="1090063"/>
              </a:xfrm>
              <a:prstGeom prst="rect">
                <a:avLst/>
              </a:prstGeom>
            </p:spPr>
            <p:txBody>
              <a:bodyPr anchor="ctr" rtlCol="false" tIns="316933" lIns="316933" bIns="316933" rIns="316933"/>
              <a:lstStyle/>
              <a:p>
                <a:pPr algn="ctr">
                  <a:lnSpc>
                    <a:spcPts val="3380"/>
                  </a:lnSpc>
                </a:pPr>
              </a:p>
            </p:txBody>
          </p:sp>
        </p:grpSp>
        <p:sp>
          <p:nvSpPr>
            <p:cNvPr name="Freeform 16" id="16"/>
            <p:cNvSpPr/>
            <p:nvPr/>
          </p:nvSpPr>
          <p:spPr>
            <a:xfrm flipH="false" flipV="false" rot="0">
              <a:off x="308661" y="232217"/>
              <a:ext cx="10312400" cy="8469058"/>
            </a:xfrm>
            <a:custGeom>
              <a:avLst/>
              <a:gdLst/>
              <a:ahLst/>
              <a:cxnLst/>
              <a:rect r="r" b="b" t="t" l="l"/>
              <a:pathLst>
                <a:path h="8469058" w="10312400">
                  <a:moveTo>
                    <a:pt x="0" y="0"/>
                  </a:moveTo>
                  <a:lnTo>
                    <a:pt x="10312400" y="0"/>
                  </a:lnTo>
                  <a:lnTo>
                    <a:pt x="10312400" y="8469058"/>
                  </a:lnTo>
                  <a:lnTo>
                    <a:pt x="0" y="8469058"/>
                  </a:lnTo>
                  <a:lnTo>
                    <a:pt x="0" y="0"/>
                  </a:lnTo>
                  <a:close/>
                </a:path>
              </a:pathLst>
            </a:custGeom>
            <a:blipFill>
              <a:blip r:embed="rId2"/>
              <a:stretch>
                <a:fillRect l="0" t="0" r="0" b="0"/>
              </a:stretch>
            </a:blipFill>
          </p:spPr>
        </p:sp>
      </p:grpSp>
      <p:grpSp>
        <p:nvGrpSpPr>
          <p:cNvPr name="Group 17" id="17"/>
          <p:cNvGrpSpPr/>
          <p:nvPr/>
        </p:nvGrpSpPr>
        <p:grpSpPr>
          <a:xfrm rot="0">
            <a:off x="9525000" y="2545115"/>
            <a:ext cx="8115300" cy="7136802"/>
            <a:chOff x="0" y="0"/>
            <a:chExt cx="10820400" cy="9515736"/>
          </a:xfrm>
        </p:grpSpPr>
        <p:grpSp>
          <p:nvGrpSpPr>
            <p:cNvPr name="Group 18" id="18"/>
            <p:cNvGrpSpPr/>
            <p:nvPr/>
          </p:nvGrpSpPr>
          <p:grpSpPr>
            <a:xfrm rot="0">
              <a:off x="248745" y="551637"/>
              <a:ext cx="10571655" cy="8964099"/>
              <a:chOff x="0" y="0"/>
              <a:chExt cx="1491592" cy="1264776"/>
            </a:xfrm>
          </p:grpSpPr>
          <p:sp>
            <p:nvSpPr>
              <p:cNvPr name="Freeform 19" id="19"/>
              <p:cNvSpPr/>
              <p:nvPr/>
            </p:nvSpPr>
            <p:spPr>
              <a:xfrm flipH="false" flipV="false" rot="0">
                <a:off x="0" y="0"/>
                <a:ext cx="1491592" cy="1264776"/>
              </a:xfrm>
              <a:custGeom>
                <a:avLst/>
                <a:gdLst/>
                <a:ahLst/>
                <a:cxnLst/>
                <a:rect r="r" b="b" t="t" l="l"/>
                <a:pathLst>
                  <a:path h="1264776" w="1491592">
                    <a:moveTo>
                      <a:pt x="48822" y="0"/>
                    </a:moveTo>
                    <a:lnTo>
                      <a:pt x="1442770" y="0"/>
                    </a:lnTo>
                    <a:cubicBezTo>
                      <a:pt x="1469733" y="0"/>
                      <a:pt x="1491592" y="21858"/>
                      <a:pt x="1491592" y="48822"/>
                    </a:cubicBezTo>
                    <a:lnTo>
                      <a:pt x="1491592" y="1215954"/>
                    </a:lnTo>
                    <a:cubicBezTo>
                      <a:pt x="1491592" y="1228902"/>
                      <a:pt x="1486448" y="1241320"/>
                      <a:pt x="1477292" y="1250476"/>
                    </a:cubicBezTo>
                    <a:cubicBezTo>
                      <a:pt x="1468136" y="1259632"/>
                      <a:pt x="1455718" y="1264776"/>
                      <a:pt x="1442770" y="1264776"/>
                    </a:cubicBezTo>
                    <a:lnTo>
                      <a:pt x="48822" y="1264776"/>
                    </a:lnTo>
                    <a:cubicBezTo>
                      <a:pt x="35874" y="1264776"/>
                      <a:pt x="23455" y="1259632"/>
                      <a:pt x="14300" y="1250476"/>
                    </a:cubicBezTo>
                    <a:cubicBezTo>
                      <a:pt x="5144" y="1241320"/>
                      <a:pt x="0" y="1228902"/>
                      <a:pt x="0" y="1215954"/>
                    </a:cubicBezTo>
                    <a:lnTo>
                      <a:pt x="0" y="48822"/>
                    </a:lnTo>
                    <a:cubicBezTo>
                      <a:pt x="0" y="35874"/>
                      <a:pt x="5144" y="23455"/>
                      <a:pt x="14300" y="14300"/>
                    </a:cubicBezTo>
                    <a:cubicBezTo>
                      <a:pt x="23455" y="5144"/>
                      <a:pt x="35874" y="0"/>
                      <a:pt x="48822" y="0"/>
                    </a:cubicBezTo>
                    <a:close/>
                  </a:path>
                </a:pathLst>
              </a:custGeom>
              <a:solidFill>
                <a:srgbClr val="CC7E3E"/>
              </a:solidFill>
              <a:ln cap="rnd">
                <a:noFill/>
                <a:prstDash val="solid"/>
                <a:round/>
              </a:ln>
            </p:spPr>
          </p:sp>
          <p:sp>
            <p:nvSpPr>
              <p:cNvPr name="TextBox 20" id="20"/>
              <p:cNvSpPr txBox="true"/>
              <p:nvPr/>
            </p:nvSpPr>
            <p:spPr>
              <a:xfrm>
                <a:off x="0" y="-180975"/>
                <a:ext cx="1491592" cy="1445751"/>
              </a:xfrm>
              <a:prstGeom prst="rect">
                <a:avLst/>
              </a:prstGeom>
            </p:spPr>
            <p:txBody>
              <a:bodyPr anchor="ctr" rtlCol="false" tIns="254000" lIns="254000" bIns="254000" rIns="254000"/>
              <a:lstStyle/>
              <a:p>
                <a:pPr algn="just" marL="0" indent="0" lvl="0">
                  <a:lnSpc>
                    <a:spcPts val="4888"/>
                  </a:lnSpc>
                </a:pPr>
              </a:p>
            </p:txBody>
          </p:sp>
        </p:grpSp>
        <p:grpSp>
          <p:nvGrpSpPr>
            <p:cNvPr name="Group 21" id="21"/>
            <p:cNvGrpSpPr/>
            <p:nvPr/>
          </p:nvGrpSpPr>
          <p:grpSpPr>
            <a:xfrm rot="0">
              <a:off x="0" y="0"/>
              <a:ext cx="10820400" cy="9191619"/>
              <a:chOff x="0" y="0"/>
              <a:chExt cx="1526688" cy="1296877"/>
            </a:xfrm>
          </p:grpSpPr>
          <p:sp>
            <p:nvSpPr>
              <p:cNvPr name="Freeform 22" id="22"/>
              <p:cNvSpPr/>
              <p:nvPr/>
            </p:nvSpPr>
            <p:spPr>
              <a:xfrm flipH="false" flipV="false" rot="0">
                <a:off x="0" y="0"/>
                <a:ext cx="1526688" cy="1296877"/>
              </a:xfrm>
              <a:custGeom>
                <a:avLst/>
                <a:gdLst/>
                <a:ahLst/>
                <a:cxnLst/>
                <a:rect r="r" b="b" t="t" l="l"/>
                <a:pathLst>
                  <a:path h="1296877" w="1526688">
                    <a:moveTo>
                      <a:pt x="47700" y="0"/>
                    </a:moveTo>
                    <a:lnTo>
                      <a:pt x="1478988" y="0"/>
                    </a:lnTo>
                    <a:cubicBezTo>
                      <a:pt x="1491639" y="0"/>
                      <a:pt x="1503772" y="5025"/>
                      <a:pt x="1512717" y="13971"/>
                    </a:cubicBezTo>
                    <a:cubicBezTo>
                      <a:pt x="1521662" y="22916"/>
                      <a:pt x="1526688" y="35049"/>
                      <a:pt x="1526688" y="47700"/>
                    </a:cubicBezTo>
                    <a:lnTo>
                      <a:pt x="1526688" y="1249178"/>
                    </a:lnTo>
                    <a:cubicBezTo>
                      <a:pt x="1526688" y="1261829"/>
                      <a:pt x="1521662" y="1273961"/>
                      <a:pt x="1512717" y="1282907"/>
                    </a:cubicBezTo>
                    <a:cubicBezTo>
                      <a:pt x="1503772" y="1291852"/>
                      <a:pt x="1491639" y="1296877"/>
                      <a:pt x="1478988" y="1296877"/>
                    </a:cubicBezTo>
                    <a:lnTo>
                      <a:pt x="47700" y="1296877"/>
                    </a:lnTo>
                    <a:cubicBezTo>
                      <a:pt x="35049" y="1296877"/>
                      <a:pt x="22916" y="1291852"/>
                      <a:pt x="13971" y="1282907"/>
                    </a:cubicBezTo>
                    <a:cubicBezTo>
                      <a:pt x="5025" y="1273961"/>
                      <a:pt x="0" y="1261829"/>
                      <a:pt x="0" y="1249178"/>
                    </a:cubicBezTo>
                    <a:lnTo>
                      <a:pt x="0" y="47700"/>
                    </a:lnTo>
                    <a:cubicBezTo>
                      <a:pt x="0" y="35049"/>
                      <a:pt x="5025" y="22916"/>
                      <a:pt x="13971" y="13971"/>
                    </a:cubicBezTo>
                    <a:cubicBezTo>
                      <a:pt x="22916" y="5025"/>
                      <a:pt x="35049" y="0"/>
                      <a:pt x="47700" y="0"/>
                    </a:cubicBezTo>
                    <a:close/>
                  </a:path>
                </a:pathLst>
              </a:custGeom>
              <a:solidFill>
                <a:srgbClr val="FFFFFF"/>
              </a:solidFill>
            </p:spPr>
          </p:sp>
          <p:sp>
            <p:nvSpPr>
              <p:cNvPr name="TextBox 23" id="23"/>
              <p:cNvSpPr txBox="true"/>
              <p:nvPr/>
            </p:nvSpPr>
            <p:spPr>
              <a:xfrm>
                <a:off x="0" y="-123825"/>
                <a:ext cx="1526688" cy="1420702"/>
              </a:xfrm>
              <a:prstGeom prst="rect">
                <a:avLst/>
              </a:prstGeom>
            </p:spPr>
            <p:txBody>
              <a:bodyPr anchor="ctr" rtlCol="false" tIns="254000" lIns="254000" bIns="254000" rIns="254000"/>
              <a:lstStyle/>
              <a:p>
                <a:pPr algn="just" marL="367027" indent="-183514" lvl="1">
                  <a:lnSpc>
                    <a:spcPts val="3195"/>
                  </a:lnSpc>
                  <a:buAutoNum type="arabicPeriod" startAt="1"/>
                </a:pPr>
                <a:r>
                  <a:rPr lang="en-US" sz="1699" spc="18">
                    <a:solidFill>
                      <a:srgbClr val="000001"/>
                    </a:solidFill>
                    <a:latin typeface="Klein"/>
                    <a:ea typeface="Klein"/>
                    <a:cs typeface="Klein"/>
                    <a:sym typeface="Klein"/>
                  </a:rPr>
                  <a:t>Buffer radius 1 km menunjukkan titik banjir tersebar di seluruh kota administrasi DKI Jakarta.</a:t>
                </a:r>
              </a:p>
              <a:p>
                <a:pPr algn="just" marL="367027" indent="-183514" lvl="1">
                  <a:lnSpc>
                    <a:spcPts val="3195"/>
                  </a:lnSpc>
                  <a:buAutoNum type="arabicPeriod" startAt="1"/>
                </a:pPr>
                <a:r>
                  <a:rPr lang="en-US" sz="1699" spc="18">
                    <a:solidFill>
                      <a:srgbClr val="000001"/>
                    </a:solidFill>
                    <a:latin typeface="Klein"/>
                    <a:ea typeface="Klein"/>
                    <a:cs typeface="Klein"/>
                    <a:sym typeface="Klein"/>
                  </a:rPr>
                  <a:t>Jakarta Pusat memiliki titik banjir terbanyak (60 titik) meskipun jumlah penduduk paling kecil.</a:t>
                </a:r>
              </a:p>
              <a:p>
                <a:pPr algn="just" marL="367027" indent="-183514" lvl="1">
                  <a:lnSpc>
                    <a:spcPts val="3195"/>
                  </a:lnSpc>
                  <a:buAutoNum type="arabicPeriod" startAt="1"/>
                </a:pPr>
                <a:r>
                  <a:rPr lang="en-US" sz="1699" spc="18">
                    <a:solidFill>
                      <a:srgbClr val="000001"/>
                    </a:solidFill>
                    <a:latin typeface="Klein"/>
                    <a:ea typeface="Klein"/>
                    <a:cs typeface="Klein"/>
                    <a:sym typeface="Klein"/>
                  </a:rPr>
                  <a:t>Jakarta Timur memiliki penduduk terbesar (±3,09 juta jiwa) dengan 28 titik banjir.</a:t>
                </a:r>
              </a:p>
              <a:p>
                <a:pPr algn="just" marL="367027" indent="-183514" lvl="1">
                  <a:lnSpc>
                    <a:spcPts val="3195"/>
                  </a:lnSpc>
                  <a:buAutoNum type="arabicPeriod" startAt="1"/>
                </a:pPr>
                <a:r>
                  <a:rPr lang="en-US" sz="1699" spc="18">
                    <a:solidFill>
                      <a:srgbClr val="000001"/>
                    </a:solidFill>
                    <a:latin typeface="Klein"/>
                    <a:ea typeface="Klein"/>
                    <a:cs typeface="Klein"/>
                    <a:sym typeface="Klein"/>
                  </a:rPr>
                  <a:t>Jakarta Barat dan Jakarta Selatan masing-masing memiliki 27 titik banjir dengan tingkat risiko serupa.</a:t>
                </a:r>
              </a:p>
              <a:p>
                <a:pPr algn="just" marL="367027" indent="-183514" lvl="1">
                  <a:lnSpc>
                    <a:spcPts val="3195"/>
                  </a:lnSpc>
                  <a:buAutoNum type="arabicPeriod" startAt="1"/>
                </a:pPr>
                <a:r>
                  <a:rPr lang="en-US" sz="1699" spc="18">
                    <a:solidFill>
                      <a:srgbClr val="000001"/>
                    </a:solidFill>
                    <a:latin typeface="Klein"/>
                    <a:ea typeface="Klein"/>
                    <a:cs typeface="Klein"/>
                    <a:sym typeface="Klein"/>
                  </a:rPr>
                  <a:t>Jakarta Utara memiliki jumlah titik banjir terendah (11 titik).</a:t>
                </a:r>
              </a:p>
              <a:p>
                <a:pPr algn="just" marL="367027" indent="-183514" lvl="1">
                  <a:lnSpc>
                    <a:spcPts val="3195"/>
                  </a:lnSpc>
                  <a:buAutoNum type="arabicPeriod" startAt="1"/>
                </a:pPr>
                <a:r>
                  <a:rPr lang="en-US" sz="1699" spc="18">
                    <a:solidFill>
                      <a:srgbClr val="000001"/>
                    </a:solidFill>
                    <a:latin typeface="Klein"/>
                    <a:ea typeface="Klein"/>
                    <a:cs typeface="Klein"/>
                    <a:sym typeface="Klein"/>
                  </a:rPr>
                  <a:t>Gradasi warna lebih gelap menunjukkan kepadatan titik banjir yang lebih tinggi.</a:t>
                </a:r>
              </a:p>
              <a:p>
                <a:pPr algn="just" marL="367027" indent="-183514" lvl="1">
                  <a:lnSpc>
                    <a:spcPts val="3195"/>
                  </a:lnSpc>
                  <a:buAutoNum type="arabicPeriod" startAt="1"/>
                </a:pPr>
                <a:r>
                  <a:rPr lang="en-US" sz="1699" spc="18">
                    <a:solidFill>
                      <a:srgbClr val="000001"/>
                    </a:solidFill>
                    <a:latin typeface="Klein"/>
                    <a:ea typeface="Klein"/>
                    <a:cs typeface="Klein"/>
                    <a:sym typeface="Klein"/>
                  </a:rPr>
                  <a:t>Jumlah titik banjir tidak selalu sebanding dengan jumlah penduduk.</a:t>
                </a:r>
              </a:p>
              <a:p>
                <a:pPr algn="just" marL="367027" indent="-183514" lvl="1">
                  <a:lnSpc>
                    <a:spcPts val="3195"/>
                  </a:lnSpc>
                  <a:buAutoNum type="arabicPeriod" startAt="1"/>
                </a:pPr>
                <a:r>
                  <a:rPr lang="en-US" sz="1699" spc="18">
                    <a:solidFill>
                      <a:srgbClr val="000001"/>
                    </a:solidFill>
                    <a:latin typeface="Klein"/>
                    <a:ea typeface="Klein"/>
                    <a:cs typeface="Klein"/>
                    <a:sym typeface="Klein"/>
                  </a:rPr>
                  <a:t>Wilayah dengan titik banjir tinggi dan populasi besar menjadi prioritas penanganan banjir.</a:t>
                </a:r>
              </a:p>
            </p:txBody>
          </p:sp>
        </p:grpSp>
      </p:grpSp>
      <p:grpSp>
        <p:nvGrpSpPr>
          <p:cNvPr name="Group 24" id="24"/>
          <p:cNvGrpSpPr/>
          <p:nvPr/>
        </p:nvGrpSpPr>
        <p:grpSpPr>
          <a:xfrm rot="0">
            <a:off x="3222670" y="569939"/>
            <a:ext cx="11842660" cy="917522"/>
            <a:chOff x="0" y="0"/>
            <a:chExt cx="15790214" cy="1223363"/>
          </a:xfrm>
        </p:grpSpPr>
        <p:grpSp>
          <p:nvGrpSpPr>
            <p:cNvPr name="Group 25" id="25"/>
            <p:cNvGrpSpPr/>
            <p:nvPr/>
          </p:nvGrpSpPr>
          <p:grpSpPr>
            <a:xfrm rot="0">
              <a:off x="211240" y="207363"/>
              <a:ext cx="15578974" cy="1016000"/>
              <a:chOff x="0" y="0"/>
              <a:chExt cx="2198092" cy="143351"/>
            </a:xfrm>
          </p:grpSpPr>
          <p:sp>
            <p:nvSpPr>
              <p:cNvPr name="Freeform 26" id="26"/>
              <p:cNvSpPr/>
              <p:nvPr/>
            </p:nvSpPr>
            <p:spPr>
              <a:xfrm flipH="false" flipV="false" rot="0">
                <a:off x="0" y="0"/>
                <a:ext cx="2198092" cy="143351"/>
              </a:xfrm>
              <a:custGeom>
                <a:avLst/>
                <a:gdLst/>
                <a:ahLst/>
                <a:cxnLst/>
                <a:rect r="r" b="b" t="t" l="l"/>
                <a:pathLst>
                  <a:path h="143351" w="2198092">
                    <a:moveTo>
                      <a:pt x="33792" y="0"/>
                    </a:moveTo>
                    <a:lnTo>
                      <a:pt x="2164299" y="0"/>
                    </a:lnTo>
                    <a:cubicBezTo>
                      <a:pt x="2173262" y="0"/>
                      <a:pt x="2181857" y="3560"/>
                      <a:pt x="2188194" y="9898"/>
                    </a:cubicBezTo>
                    <a:cubicBezTo>
                      <a:pt x="2194531" y="16235"/>
                      <a:pt x="2198092" y="24830"/>
                      <a:pt x="2198092" y="33792"/>
                    </a:cubicBezTo>
                    <a:lnTo>
                      <a:pt x="2198092" y="109559"/>
                    </a:lnTo>
                    <a:cubicBezTo>
                      <a:pt x="2198092" y="118521"/>
                      <a:pt x="2194531" y="127116"/>
                      <a:pt x="2188194" y="133453"/>
                    </a:cubicBezTo>
                    <a:cubicBezTo>
                      <a:pt x="2181857" y="139791"/>
                      <a:pt x="2173262" y="143351"/>
                      <a:pt x="2164299" y="143351"/>
                    </a:cubicBezTo>
                    <a:lnTo>
                      <a:pt x="33792" y="143351"/>
                    </a:lnTo>
                    <a:cubicBezTo>
                      <a:pt x="24830" y="143351"/>
                      <a:pt x="16235" y="139791"/>
                      <a:pt x="9898" y="133453"/>
                    </a:cubicBezTo>
                    <a:cubicBezTo>
                      <a:pt x="3560" y="127116"/>
                      <a:pt x="0" y="118521"/>
                      <a:pt x="0" y="109559"/>
                    </a:cubicBezTo>
                    <a:lnTo>
                      <a:pt x="0" y="33792"/>
                    </a:lnTo>
                    <a:cubicBezTo>
                      <a:pt x="0" y="24830"/>
                      <a:pt x="3560" y="16235"/>
                      <a:pt x="9898" y="9898"/>
                    </a:cubicBezTo>
                    <a:cubicBezTo>
                      <a:pt x="16235" y="3560"/>
                      <a:pt x="24830" y="0"/>
                      <a:pt x="33792" y="0"/>
                    </a:cubicBezTo>
                    <a:close/>
                  </a:path>
                </a:pathLst>
              </a:custGeom>
              <a:solidFill>
                <a:srgbClr val="38ABD1"/>
              </a:solidFill>
              <a:ln cap="rnd">
                <a:noFill/>
                <a:prstDash val="solid"/>
                <a:round/>
              </a:ln>
            </p:spPr>
          </p:sp>
          <p:sp>
            <p:nvSpPr>
              <p:cNvPr name="TextBox 27" id="27"/>
              <p:cNvSpPr txBox="true"/>
              <p:nvPr/>
            </p:nvSpPr>
            <p:spPr>
              <a:xfrm>
                <a:off x="0" y="-19050"/>
                <a:ext cx="2198092" cy="162401"/>
              </a:xfrm>
              <a:prstGeom prst="rect">
                <a:avLst/>
              </a:prstGeom>
            </p:spPr>
            <p:txBody>
              <a:bodyPr anchor="ctr" rtlCol="false" tIns="50800" lIns="50800" bIns="50800" rIns="50800"/>
              <a:lstStyle/>
              <a:p>
                <a:pPr algn="ctr" marL="0" indent="0" lvl="0">
                  <a:lnSpc>
                    <a:spcPts val="2080"/>
                  </a:lnSpc>
                  <a:spcBef>
                    <a:spcPct val="0"/>
                  </a:spcBef>
                </a:pPr>
              </a:p>
            </p:txBody>
          </p:sp>
        </p:grpSp>
        <p:grpSp>
          <p:nvGrpSpPr>
            <p:cNvPr name="Group 28" id="28"/>
            <p:cNvGrpSpPr/>
            <p:nvPr/>
          </p:nvGrpSpPr>
          <p:grpSpPr>
            <a:xfrm rot="0">
              <a:off x="0" y="0"/>
              <a:ext cx="15578974" cy="1057546"/>
              <a:chOff x="0" y="0"/>
              <a:chExt cx="2198092" cy="149213"/>
            </a:xfrm>
          </p:grpSpPr>
          <p:sp>
            <p:nvSpPr>
              <p:cNvPr name="Freeform 29" id="29"/>
              <p:cNvSpPr/>
              <p:nvPr/>
            </p:nvSpPr>
            <p:spPr>
              <a:xfrm flipH="false" flipV="false" rot="0">
                <a:off x="0" y="0"/>
                <a:ext cx="2198092" cy="149213"/>
              </a:xfrm>
              <a:custGeom>
                <a:avLst/>
                <a:gdLst/>
                <a:ahLst/>
                <a:cxnLst/>
                <a:rect r="r" b="b" t="t" l="l"/>
                <a:pathLst>
                  <a:path h="149213" w="2198092">
                    <a:moveTo>
                      <a:pt x="33792" y="0"/>
                    </a:moveTo>
                    <a:lnTo>
                      <a:pt x="2164299" y="0"/>
                    </a:lnTo>
                    <a:cubicBezTo>
                      <a:pt x="2173262" y="0"/>
                      <a:pt x="2181857" y="3560"/>
                      <a:pt x="2188194" y="9898"/>
                    </a:cubicBezTo>
                    <a:cubicBezTo>
                      <a:pt x="2194531" y="16235"/>
                      <a:pt x="2198092" y="24830"/>
                      <a:pt x="2198092" y="33792"/>
                    </a:cubicBezTo>
                    <a:lnTo>
                      <a:pt x="2198092" y="115420"/>
                    </a:lnTo>
                    <a:cubicBezTo>
                      <a:pt x="2198092" y="124383"/>
                      <a:pt x="2194531" y="132978"/>
                      <a:pt x="2188194" y="139315"/>
                    </a:cubicBezTo>
                    <a:cubicBezTo>
                      <a:pt x="2181857" y="145653"/>
                      <a:pt x="2173262" y="149213"/>
                      <a:pt x="2164299" y="149213"/>
                    </a:cubicBezTo>
                    <a:lnTo>
                      <a:pt x="33792" y="149213"/>
                    </a:lnTo>
                    <a:cubicBezTo>
                      <a:pt x="24830" y="149213"/>
                      <a:pt x="16235" y="145653"/>
                      <a:pt x="9898" y="139315"/>
                    </a:cubicBezTo>
                    <a:cubicBezTo>
                      <a:pt x="3560" y="132978"/>
                      <a:pt x="0" y="124383"/>
                      <a:pt x="0" y="115420"/>
                    </a:cubicBezTo>
                    <a:lnTo>
                      <a:pt x="0" y="33792"/>
                    </a:lnTo>
                    <a:cubicBezTo>
                      <a:pt x="0" y="24830"/>
                      <a:pt x="3560" y="16235"/>
                      <a:pt x="9898" y="9898"/>
                    </a:cubicBezTo>
                    <a:cubicBezTo>
                      <a:pt x="16235" y="3560"/>
                      <a:pt x="24830" y="0"/>
                      <a:pt x="33792" y="0"/>
                    </a:cubicBezTo>
                    <a:close/>
                  </a:path>
                </a:pathLst>
              </a:custGeom>
              <a:solidFill>
                <a:srgbClr val="FFFFFF"/>
              </a:solidFill>
            </p:spPr>
          </p:sp>
          <p:sp>
            <p:nvSpPr>
              <p:cNvPr name="TextBox 30" id="30"/>
              <p:cNvSpPr txBox="true"/>
              <p:nvPr/>
            </p:nvSpPr>
            <p:spPr>
              <a:xfrm>
                <a:off x="0" y="-38100"/>
                <a:ext cx="2198092" cy="187313"/>
              </a:xfrm>
              <a:prstGeom prst="rect">
                <a:avLst/>
              </a:prstGeom>
            </p:spPr>
            <p:txBody>
              <a:bodyPr anchor="ctr" rtlCol="false" tIns="50800" lIns="50800" bIns="50800" rIns="50800"/>
              <a:lstStyle/>
              <a:p>
                <a:pPr algn="ctr">
                  <a:lnSpc>
                    <a:spcPts val="4549"/>
                  </a:lnSpc>
                </a:pPr>
                <a:r>
                  <a:rPr lang="en-US" b="true" sz="3499">
                    <a:solidFill>
                      <a:srgbClr val="000001"/>
                    </a:solidFill>
                    <a:latin typeface="Klein Bold"/>
                    <a:ea typeface="Klein Bold"/>
                    <a:cs typeface="Klein Bold"/>
                    <a:sym typeface="Klein Bold"/>
                  </a:rPr>
                  <a:t>Geoprocessing: Buffer &amp; Overlay</a:t>
                </a:r>
              </a:p>
            </p:txBody>
          </p:sp>
        </p:grpSp>
      </p:gr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39059"/>
        </a:solidFill>
      </p:bgPr>
    </p:bg>
    <p:spTree>
      <p:nvGrpSpPr>
        <p:cNvPr id="1" name=""/>
        <p:cNvGrpSpPr/>
        <p:nvPr/>
      </p:nvGrpSpPr>
      <p:grpSpPr>
        <a:xfrm>
          <a:off x="0" y="0"/>
          <a:ext cx="0" cy="0"/>
          <a:chOff x="0" y="0"/>
          <a:chExt cx="0" cy="0"/>
        </a:xfrm>
      </p:grpSpPr>
      <p:grpSp>
        <p:nvGrpSpPr>
          <p:cNvPr name="Group 2" id="2"/>
          <p:cNvGrpSpPr/>
          <p:nvPr/>
        </p:nvGrpSpPr>
        <p:grpSpPr>
          <a:xfrm rot="0">
            <a:off x="-476250" y="-190500"/>
            <a:ext cx="19240500" cy="2381250"/>
            <a:chOff x="0" y="0"/>
            <a:chExt cx="25654000" cy="3175000"/>
          </a:xfrm>
        </p:grpSpPr>
        <p:grpSp>
          <p:nvGrpSpPr>
            <p:cNvPr name="Group 3" id="3"/>
            <p:cNvGrpSpPr/>
            <p:nvPr/>
          </p:nvGrpSpPr>
          <p:grpSpPr>
            <a:xfrm rot="0">
              <a:off x="0" y="0"/>
              <a:ext cx="25654000" cy="2984500"/>
              <a:chOff x="0" y="0"/>
              <a:chExt cx="5067457" cy="589531"/>
            </a:xfrm>
          </p:grpSpPr>
          <p:sp>
            <p:nvSpPr>
              <p:cNvPr name="Freeform 4" id="4"/>
              <p:cNvSpPr/>
              <p:nvPr/>
            </p:nvSpPr>
            <p:spPr>
              <a:xfrm flipH="false" flipV="false" rot="0">
                <a:off x="0" y="0"/>
                <a:ext cx="5067457" cy="589531"/>
              </a:xfrm>
              <a:custGeom>
                <a:avLst/>
                <a:gdLst/>
                <a:ahLst/>
                <a:cxnLst/>
                <a:rect r="r" b="b" t="t" l="l"/>
                <a:pathLst>
                  <a:path h="589531" w="5067457">
                    <a:moveTo>
                      <a:pt x="0" y="0"/>
                    </a:moveTo>
                    <a:lnTo>
                      <a:pt x="5067457" y="0"/>
                    </a:lnTo>
                    <a:lnTo>
                      <a:pt x="5067457" y="589531"/>
                    </a:lnTo>
                    <a:lnTo>
                      <a:pt x="0" y="589531"/>
                    </a:lnTo>
                    <a:close/>
                  </a:path>
                </a:pathLst>
              </a:custGeom>
              <a:solidFill>
                <a:srgbClr val="97D4E8"/>
              </a:solidFill>
              <a:ln cap="sq">
                <a:noFill/>
                <a:prstDash val="solid"/>
                <a:miter/>
              </a:ln>
            </p:spPr>
          </p:sp>
          <p:sp>
            <p:nvSpPr>
              <p:cNvPr name="TextBox 5" id="5"/>
              <p:cNvSpPr txBox="true"/>
              <p:nvPr/>
            </p:nvSpPr>
            <p:spPr>
              <a:xfrm>
                <a:off x="0" y="-19050"/>
                <a:ext cx="5067457" cy="608581"/>
              </a:xfrm>
              <a:prstGeom prst="rect">
                <a:avLst/>
              </a:prstGeom>
            </p:spPr>
            <p:txBody>
              <a:bodyPr anchor="ctr" rtlCol="false" tIns="50800" lIns="50800" bIns="50800" rIns="50800"/>
              <a:lstStyle/>
              <a:p>
                <a:pPr algn="ctr" marL="0" indent="0" lvl="0">
                  <a:lnSpc>
                    <a:spcPts val="2080"/>
                  </a:lnSpc>
                  <a:spcBef>
                    <a:spcPct val="0"/>
                  </a:spcBef>
                </a:pPr>
              </a:p>
            </p:txBody>
          </p:sp>
        </p:grpSp>
        <p:grpSp>
          <p:nvGrpSpPr>
            <p:cNvPr name="Group 6" id="6"/>
            <p:cNvGrpSpPr/>
            <p:nvPr/>
          </p:nvGrpSpPr>
          <p:grpSpPr>
            <a:xfrm rot="0">
              <a:off x="0" y="2921000"/>
              <a:ext cx="25654000" cy="254000"/>
              <a:chOff x="0" y="0"/>
              <a:chExt cx="5067457" cy="50173"/>
            </a:xfrm>
          </p:grpSpPr>
          <p:sp>
            <p:nvSpPr>
              <p:cNvPr name="Freeform 7" id="7"/>
              <p:cNvSpPr/>
              <p:nvPr/>
            </p:nvSpPr>
            <p:spPr>
              <a:xfrm flipH="false" flipV="false" rot="0">
                <a:off x="0" y="0"/>
                <a:ext cx="5067457" cy="50173"/>
              </a:xfrm>
              <a:custGeom>
                <a:avLst/>
                <a:gdLst/>
                <a:ahLst/>
                <a:cxnLst/>
                <a:rect r="r" b="b" t="t" l="l"/>
                <a:pathLst>
                  <a:path h="50173" w="5067457">
                    <a:moveTo>
                      <a:pt x="0" y="0"/>
                    </a:moveTo>
                    <a:lnTo>
                      <a:pt x="5067457" y="0"/>
                    </a:lnTo>
                    <a:lnTo>
                      <a:pt x="5067457" y="50173"/>
                    </a:lnTo>
                    <a:lnTo>
                      <a:pt x="0" y="50173"/>
                    </a:lnTo>
                    <a:close/>
                  </a:path>
                </a:pathLst>
              </a:custGeom>
              <a:solidFill>
                <a:srgbClr val="CC7E3E"/>
              </a:solidFill>
              <a:ln cap="sq">
                <a:noFill/>
                <a:prstDash val="solid"/>
                <a:miter/>
              </a:ln>
            </p:spPr>
          </p:sp>
          <p:sp>
            <p:nvSpPr>
              <p:cNvPr name="TextBox 8" id="8"/>
              <p:cNvSpPr txBox="true"/>
              <p:nvPr/>
            </p:nvSpPr>
            <p:spPr>
              <a:xfrm>
                <a:off x="0" y="-19050"/>
                <a:ext cx="5067457" cy="69223"/>
              </a:xfrm>
              <a:prstGeom prst="rect">
                <a:avLst/>
              </a:prstGeom>
            </p:spPr>
            <p:txBody>
              <a:bodyPr anchor="ctr" rtlCol="false" tIns="50800" lIns="50800" bIns="50800" rIns="50800"/>
              <a:lstStyle/>
              <a:p>
                <a:pPr algn="ctr" marL="0" indent="0" lvl="0">
                  <a:lnSpc>
                    <a:spcPts val="2080"/>
                  </a:lnSpc>
                  <a:spcBef>
                    <a:spcPct val="0"/>
                  </a:spcBef>
                </a:pPr>
              </a:p>
            </p:txBody>
          </p:sp>
        </p:grpSp>
      </p:grpSp>
      <p:grpSp>
        <p:nvGrpSpPr>
          <p:cNvPr name="Group 9" id="9"/>
          <p:cNvGrpSpPr/>
          <p:nvPr/>
        </p:nvGrpSpPr>
        <p:grpSpPr>
          <a:xfrm rot="0">
            <a:off x="3222670" y="569939"/>
            <a:ext cx="11842660" cy="917522"/>
            <a:chOff x="0" y="0"/>
            <a:chExt cx="15790214" cy="1223363"/>
          </a:xfrm>
        </p:grpSpPr>
        <p:grpSp>
          <p:nvGrpSpPr>
            <p:cNvPr name="Group 10" id="10"/>
            <p:cNvGrpSpPr/>
            <p:nvPr/>
          </p:nvGrpSpPr>
          <p:grpSpPr>
            <a:xfrm rot="0">
              <a:off x="211240" y="207363"/>
              <a:ext cx="15578974" cy="1016000"/>
              <a:chOff x="0" y="0"/>
              <a:chExt cx="2198092" cy="143351"/>
            </a:xfrm>
          </p:grpSpPr>
          <p:sp>
            <p:nvSpPr>
              <p:cNvPr name="Freeform 11" id="11"/>
              <p:cNvSpPr/>
              <p:nvPr/>
            </p:nvSpPr>
            <p:spPr>
              <a:xfrm flipH="false" flipV="false" rot="0">
                <a:off x="0" y="0"/>
                <a:ext cx="2198092" cy="143351"/>
              </a:xfrm>
              <a:custGeom>
                <a:avLst/>
                <a:gdLst/>
                <a:ahLst/>
                <a:cxnLst/>
                <a:rect r="r" b="b" t="t" l="l"/>
                <a:pathLst>
                  <a:path h="143351" w="2198092">
                    <a:moveTo>
                      <a:pt x="33792" y="0"/>
                    </a:moveTo>
                    <a:lnTo>
                      <a:pt x="2164299" y="0"/>
                    </a:lnTo>
                    <a:cubicBezTo>
                      <a:pt x="2173262" y="0"/>
                      <a:pt x="2181857" y="3560"/>
                      <a:pt x="2188194" y="9898"/>
                    </a:cubicBezTo>
                    <a:cubicBezTo>
                      <a:pt x="2194531" y="16235"/>
                      <a:pt x="2198092" y="24830"/>
                      <a:pt x="2198092" y="33792"/>
                    </a:cubicBezTo>
                    <a:lnTo>
                      <a:pt x="2198092" y="109559"/>
                    </a:lnTo>
                    <a:cubicBezTo>
                      <a:pt x="2198092" y="118521"/>
                      <a:pt x="2194531" y="127116"/>
                      <a:pt x="2188194" y="133453"/>
                    </a:cubicBezTo>
                    <a:cubicBezTo>
                      <a:pt x="2181857" y="139791"/>
                      <a:pt x="2173262" y="143351"/>
                      <a:pt x="2164299" y="143351"/>
                    </a:cubicBezTo>
                    <a:lnTo>
                      <a:pt x="33792" y="143351"/>
                    </a:lnTo>
                    <a:cubicBezTo>
                      <a:pt x="24830" y="143351"/>
                      <a:pt x="16235" y="139791"/>
                      <a:pt x="9898" y="133453"/>
                    </a:cubicBezTo>
                    <a:cubicBezTo>
                      <a:pt x="3560" y="127116"/>
                      <a:pt x="0" y="118521"/>
                      <a:pt x="0" y="109559"/>
                    </a:cubicBezTo>
                    <a:lnTo>
                      <a:pt x="0" y="33792"/>
                    </a:lnTo>
                    <a:cubicBezTo>
                      <a:pt x="0" y="24830"/>
                      <a:pt x="3560" y="16235"/>
                      <a:pt x="9898" y="9898"/>
                    </a:cubicBezTo>
                    <a:cubicBezTo>
                      <a:pt x="16235" y="3560"/>
                      <a:pt x="24830" y="0"/>
                      <a:pt x="33792" y="0"/>
                    </a:cubicBezTo>
                    <a:close/>
                  </a:path>
                </a:pathLst>
              </a:custGeom>
              <a:solidFill>
                <a:srgbClr val="38ABD1"/>
              </a:solidFill>
              <a:ln cap="rnd">
                <a:noFill/>
                <a:prstDash val="solid"/>
                <a:round/>
              </a:ln>
            </p:spPr>
          </p:sp>
          <p:sp>
            <p:nvSpPr>
              <p:cNvPr name="TextBox 12" id="12"/>
              <p:cNvSpPr txBox="true"/>
              <p:nvPr/>
            </p:nvSpPr>
            <p:spPr>
              <a:xfrm>
                <a:off x="0" y="-19050"/>
                <a:ext cx="2198092" cy="162401"/>
              </a:xfrm>
              <a:prstGeom prst="rect">
                <a:avLst/>
              </a:prstGeom>
            </p:spPr>
            <p:txBody>
              <a:bodyPr anchor="ctr" rtlCol="false" tIns="50800" lIns="50800" bIns="50800" rIns="50800"/>
              <a:lstStyle/>
              <a:p>
                <a:pPr algn="ctr" marL="0" indent="0" lvl="0">
                  <a:lnSpc>
                    <a:spcPts val="2080"/>
                  </a:lnSpc>
                  <a:spcBef>
                    <a:spcPct val="0"/>
                  </a:spcBef>
                </a:pPr>
              </a:p>
            </p:txBody>
          </p:sp>
        </p:grpSp>
        <p:grpSp>
          <p:nvGrpSpPr>
            <p:cNvPr name="Group 13" id="13"/>
            <p:cNvGrpSpPr/>
            <p:nvPr/>
          </p:nvGrpSpPr>
          <p:grpSpPr>
            <a:xfrm rot="0">
              <a:off x="0" y="0"/>
              <a:ext cx="15578974" cy="1057546"/>
              <a:chOff x="0" y="0"/>
              <a:chExt cx="2198092" cy="149213"/>
            </a:xfrm>
          </p:grpSpPr>
          <p:sp>
            <p:nvSpPr>
              <p:cNvPr name="Freeform 14" id="14"/>
              <p:cNvSpPr/>
              <p:nvPr/>
            </p:nvSpPr>
            <p:spPr>
              <a:xfrm flipH="false" flipV="false" rot="0">
                <a:off x="0" y="0"/>
                <a:ext cx="2198092" cy="149213"/>
              </a:xfrm>
              <a:custGeom>
                <a:avLst/>
                <a:gdLst/>
                <a:ahLst/>
                <a:cxnLst/>
                <a:rect r="r" b="b" t="t" l="l"/>
                <a:pathLst>
                  <a:path h="149213" w="2198092">
                    <a:moveTo>
                      <a:pt x="33792" y="0"/>
                    </a:moveTo>
                    <a:lnTo>
                      <a:pt x="2164299" y="0"/>
                    </a:lnTo>
                    <a:cubicBezTo>
                      <a:pt x="2173262" y="0"/>
                      <a:pt x="2181857" y="3560"/>
                      <a:pt x="2188194" y="9898"/>
                    </a:cubicBezTo>
                    <a:cubicBezTo>
                      <a:pt x="2194531" y="16235"/>
                      <a:pt x="2198092" y="24830"/>
                      <a:pt x="2198092" y="33792"/>
                    </a:cubicBezTo>
                    <a:lnTo>
                      <a:pt x="2198092" y="115420"/>
                    </a:lnTo>
                    <a:cubicBezTo>
                      <a:pt x="2198092" y="124383"/>
                      <a:pt x="2194531" y="132978"/>
                      <a:pt x="2188194" y="139315"/>
                    </a:cubicBezTo>
                    <a:cubicBezTo>
                      <a:pt x="2181857" y="145653"/>
                      <a:pt x="2173262" y="149213"/>
                      <a:pt x="2164299" y="149213"/>
                    </a:cubicBezTo>
                    <a:lnTo>
                      <a:pt x="33792" y="149213"/>
                    </a:lnTo>
                    <a:cubicBezTo>
                      <a:pt x="24830" y="149213"/>
                      <a:pt x="16235" y="145653"/>
                      <a:pt x="9898" y="139315"/>
                    </a:cubicBezTo>
                    <a:cubicBezTo>
                      <a:pt x="3560" y="132978"/>
                      <a:pt x="0" y="124383"/>
                      <a:pt x="0" y="115420"/>
                    </a:cubicBezTo>
                    <a:lnTo>
                      <a:pt x="0" y="33792"/>
                    </a:lnTo>
                    <a:cubicBezTo>
                      <a:pt x="0" y="24830"/>
                      <a:pt x="3560" y="16235"/>
                      <a:pt x="9898" y="9898"/>
                    </a:cubicBezTo>
                    <a:cubicBezTo>
                      <a:pt x="16235" y="3560"/>
                      <a:pt x="24830" y="0"/>
                      <a:pt x="33792" y="0"/>
                    </a:cubicBezTo>
                    <a:close/>
                  </a:path>
                </a:pathLst>
              </a:custGeom>
              <a:solidFill>
                <a:srgbClr val="FFFFFF"/>
              </a:solidFill>
            </p:spPr>
          </p:sp>
          <p:sp>
            <p:nvSpPr>
              <p:cNvPr name="TextBox 15" id="15"/>
              <p:cNvSpPr txBox="true"/>
              <p:nvPr/>
            </p:nvSpPr>
            <p:spPr>
              <a:xfrm>
                <a:off x="0" y="-38100"/>
                <a:ext cx="2198092" cy="187313"/>
              </a:xfrm>
              <a:prstGeom prst="rect">
                <a:avLst/>
              </a:prstGeom>
            </p:spPr>
            <p:txBody>
              <a:bodyPr anchor="ctr" rtlCol="false" tIns="50800" lIns="50800" bIns="50800" rIns="50800"/>
              <a:lstStyle/>
              <a:p>
                <a:pPr algn="ctr">
                  <a:lnSpc>
                    <a:spcPts val="4549"/>
                  </a:lnSpc>
                </a:pPr>
                <a:r>
                  <a:rPr lang="en-US" b="true" sz="3499">
                    <a:solidFill>
                      <a:srgbClr val="000001"/>
                    </a:solidFill>
                    <a:latin typeface="Klein Bold"/>
                    <a:ea typeface="Klein Bold"/>
                    <a:cs typeface="Klein Bold"/>
                    <a:sym typeface="Klein Bold"/>
                  </a:rPr>
                  <a:t>Ce</a:t>
                </a:r>
                <a:r>
                  <a:rPr lang="en-US" b="true" sz="3499">
                    <a:solidFill>
                      <a:srgbClr val="000001"/>
                    </a:solidFill>
                    <a:latin typeface="Klein Bold"/>
                    <a:ea typeface="Klein Bold"/>
                    <a:cs typeface="Klein Bold"/>
                    <a:sym typeface="Klein Bold"/>
                  </a:rPr>
                  <a:t>ntrographic Statistics</a:t>
                </a:r>
              </a:p>
            </p:txBody>
          </p:sp>
        </p:grpSp>
      </p:grpSp>
      <p:sp>
        <p:nvSpPr>
          <p:cNvPr name="Freeform 16" id="16"/>
          <p:cNvSpPr/>
          <p:nvPr/>
        </p:nvSpPr>
        <p:spPr>
          <a:xfrm flipH="false" flipV="false" rot="0">
            <a:off x="1028700" y="3235015"/>
            <a:ext cx="7734300" cy="5413858"/>
          </a:xfrm>
          <a:custGeom>
            <a:avLst/>
            <a:gdLst/>
            <a:ahLst/>
            <a:cxnLst/>
            <a:rect r="r" b="b" t="t" l="l"/>
            <a:pathLst>
              <a:path h="5413858" w="7734300">
                <a:moveTo>
                  <a:pt x="0" y="0"/>
                </a:moveTo>
                <a:lnTo>
                  <a:pt x="7734300" y="0"/>
                </a:lnTo>
                <a:lnTo>
                  <a:pt x="7734300" y="5413858"/>
                </a:lnTo>
                <a:lnTo>
                  <a:pt x="0" y="5413858"/>
                </a:lnTo>
                <a:lnTo>
                  <a:pt x="0" y="0"/>
                </a:lnTo>
                <a:close/>
              </a:path>
            </a:pathLst>
          </a:custGeom>
          <a:blipFill>
            <a:blip r:embed="rId2"/>
            <a:stretch>
              <a:fillRect l="-22803" t="0" r="0" b="0"/>
            </a:stretch>
          </a:blipFill>
        </p:spPr>
      </p:sp>
      <p:sp>
        <p:nvSpPr>
          <p:cNvPr name="TextBox 17" id="17"/>
          <p:cNvSpPr txBox="true"/>
          <p:nvPr/>
        </p:nvSpPr>
        <p:spPr>
          <a:xfrm rot="0">
            <a:off x="9525000" y="2940121"/>
            <a:ext cx="7953365" cy="5927445"/>
          </a:xfrm>
          <a:prstGeom prst="rect">
            <a:avLst/>
          </a:prstGeom>
        </p:spPr>
        <p:txBody>
          <a:bodyPr anchor="t" rtlCol="false" tIns="0" lIns="0" bIns="0" rIns="0">
            <a:spAutoFit/>
          </a:bodyPr>
          <a:lstStyle/>
          <a:p>
            <a:pPr algn="just" marL="402573" indent="-201287" lvl="1">
              <a:lnSpc>
                <a:spcPts val="2964"/>
              </a:lnSpc>
              <a:buAutoNum type="arabicPeriod" startAt="1"/>
            </a:pPr>
            <a:r>
              <a:rPr lang="en-US" sz="1864" spc="156">
                <a:solidFill>
                  <a:srgbClr val="000000"/>
                </a:solidFill>
                <a:latin typeface="Klein"/>
                <a:ea typeface="Klein"/>
                <a:cs typeface="Klein"/>
                <a:sym typeface="Klein"/>
              </a:rPr>
              <a:t>Mean Center titik banjir berada di Jakarta Pusat (≈ 106,83 BT ; −6,20 LS)</a:t>
            </a:r>
          </a:p>
          <a:p>
            <a:pPr algn="just" marL="402573" indent="-201287" lvl="1">
              <a:lnSpc>
                <a:spcPts val="2964"/>
              </a:lnSpc>
              <a:buAutoNum type="arabicPeriod" startAt="1"/>
            </a:pPr>
            <a:r>
              <a:rPr lang="en-US" sz="1864" spc="156">
                <a:solidFill>
                  <a:srgbClr val="000000"/>
                </a:solidFill>
                <a:latin typeface="Klein"/>
                <a:ea typeface="Klein"/>
                <a:cs typeface="Klein"/>
                <a:sym typeface="Klein"/>
              </a:rPr>
              <a:t>Standard Distance menunjukkan sebaran utama banjir dalam radius ±9 km dari pusat.</a:t>
            </a:r>
          </a:p>
          <a:p>
            <a:pPr algn="just" marL="402573" indent="-201287" lvl="1">
              <a:lnSpc>
                <a:spcPts val="2964"/>
              </a:lnSpc>
              <a:buAutoNum type="arabicPeriod" startAt="1"/>
            </a:pPr>
            <a:r>
              <a:rPr lang="en-US" sz="1864" spc="156">
                <a:solidFill>
                  <a:srgbClr val="000000"/>
                </a:solidFill>
                <a:latin typeface="Klein"/>
                <a:ea typeface="Klein"/>
                <a:cs typeface="Klein"/>
                <a:sym typeface="Klein"/>
              </a:rPr>
              <a:t>Standard Deviational Ellipse memanjang Barat Laut – Tenggara.</a:t>
            </a:r>
          </a:p>
          <a:p>
            <a:pPr algn="just" marL="402573" indent="-201287" lvl="1">
              <a:lnSpc>
                <a:spcPts val="2964"/>
              </a:lnSpc>
              <a:buAutoNum type="arabicPeriod" startAt="1"/>
            </a:pPr>
            <a:r>
              <a:rPr lang="en-US" sz="1864" spc="156">
                <a:solidFill>
                  <a:srgbClr val="000000"/>
                </a:solidFill>
                <a:latin typeface="Klein"/>
                <a:ea typeface="Klein"/>
                <a:cs typeface="Klein"/>
                <a:sym typeface="Klein"/>
              </a:rPr>
              <a:t>Arah elips menunjukkan konsentrasi banjir dari Jakarta Barat → Jakarta Timur.</a:t>
            </a:r>
          </a:p>
          <a:p>
            <a:pPr algn="just" marL="402573" indent="-201287" lvl="1">
              <a:lnSpc>
                <a:spcPts val="2964"/>
              </a:lnSpc>
              <a:buAutoNum type="arabicPeriod" startAt="1"/>
            </a:pPr>
            <a:r>
              <a:rPr lang="en-US" sz="1864" spc="156">
                <a:solidFill>
                  <a:srgbClr val="000000"/>
                </a:solidFill>
                <a:latin typeface="Klein"/>
                <a:ea typeface="Klein"/>
                <a:cs typeface="Klein"/>
                <a:sym typeface="Klein"/>
              </a:rPr>
              <a:t>Sebaran titik tidak simetris, lebih padat di wilayah pusat–timur.</a:t>
            </a:r>
          </a:p>
          <a:p>
            <a:pPr algn="just" marL="402573" indent="-201287" lvl="1">
              <a:lnSpc>
                <a:spcPts val="2964"/>
              </a:lnSpc>
              <a:buAutoNum type="arabicPeriod" startAt="1"/>
            </a:pPr>
            <a:r>
              <a:rPr lang="en-US" sz="1864" spc="156">
                <a:solidFill>
                  <a:srgbClr val="000000"/>
                </a:solidFill>
                <a:latin typeface="Klein"/>
                <a:ea typeface="Klein"/>
                <a:cs typeface="Klein"/>
                <a:sym typeface="Klein"/>
              </a:rPr>
              <a:t>Jakarta Pusat menjadi titik konsentrasi spasial kejadian banjir.</a:t>
            </a:r>
          </a:p>
          <a:p>
            <a:pPr algn="just" marL="402573" indent="-201287" lvl="1">
              <a:lnSpc>
                <a:spcPts val="2964"/>
              </a:lnSpc>
              <a:buAutoNum type="arabicPeriod" startAt="1"/>
            </a:pPr>
            <a:r>
              <a:rPr lang="en-US" sz="1864" spc="156">
                <a:solidFill>
                  <a:srgbClr val="000000"/>
                </a:solidFill>
                <a:latin typeface="Klein"/>
                <a:ea typeface="Klein"/>
                <a:cs typeface="Klein"/>
                <a:sym typeface="Klein"/>
              </a:rPr>
              <a:t>Wilayah di luar lingkaran standar menunjukkan kejadian banjir yang menyebar (outlier).</a:t>
            </a:r>
          </a:p>
          <a:p>
            <a:pPr algn="just" marL="402573" indent="-201287" lvl="1">
              <a:lnSpc>
                <a:spcPts val="2964"/>
              </a:lnSpc>
              <a:buAutoNum type="arabicPeriod" startAt="1"/>
            </a:pPr>
            <a:r>
              <a:rPr lang="en-US" sz="1864" spc="156">
                <a:solidFill>
                  <a:srgbClr val="000000"/>
                </a:solidFill>
                <a:latin typeface="Klein"/>
                <a:ea typeface="Klein"/>
                <a:cs typeface="Klein"/>
                <a:sym typeface="Klein"/>
              </a:rPr>
              <a:t>Pola ini mengindikasikan banjir terkonsentrasi secara spasial, bukan acak.</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39059"/>
        </a:solidFill>
      </p:bgPr>
    </p:bg>
    <p:spTree>
      <p:nvGrpSpPr>
        <p:cNvPr id="1" name=""/>
        <p:cNvGrpSpPr/>
        <p:nvPr/>
      </p:nvGrpSpPr>
      <p:grpSpPr>
        <a:xfrm>
          <a:off x="0" y="0"/>
          <a:ext cx="0" cy="0"/>
          <a:chOff x="0" y="0"/>
          <a:chExt cx="0" cy="0"/>
        </a:xfrm>
      </p:grpSpPr>
      <p:grpSp>
        <p:nvGrpSpPr>
          <p:cNvPr name="Group 2" id="2"/>
          <p:cNvGrpSpPr/>
          <p:nvPr/>
        </p:nvGrpSpPr>
        <p:grpSpPr>
          <a:xfrm rot="0">
            <a:off x="-476250" y="-190500"/>
            <a:ext cx="19240500" cy="2381250"/>
            <a:chOff x="0" y="0"/>
            <a:chExt cx="25654000" cy="3175000"/>
          </a:xfrm>
        </p:grpSpPr>
        <p:grpSp>
          <p:nvGrpSpPr>
            <p:cNvPr name="Group 3" id="3"/>
            <p:cNvGrpSpPr/>
            <p:nvPr/>
          </p:nvGrpSpPr>
          <p:grpSpPr>
            <a:xfrm rot="0">
              <a:off x="0" y="0"/>
              <a:ext cx="25654000" cy="2984500"/>
              <a:chOff x="0" y="0"/>
              <a:chExt cx="5067457" cy="589531"/>
            </a:xfrm>
          </p:grpSpPr>
          <p:sp>
            <p:nvSpPr>
              <p:cNvPr name="Freeform 4" id="4"/>
              <p:cNvSpPr/>
              <p:nvPr/>
            </p:nvSpPr>
            <p:spPr>
              <a:xfrm flipH="false" flipV="false" rot="0">
                <a:off x="0" y="0"/>
                <a:ext cx="5067457" cy="589531"/>
              </a:xfrm>
              <a:custGeom>
                <a:avLst/>
                <a:gdLst/>
                <a:ahLst/>
                <a:cxnLst/>
                <a:rect r="r" b="b" t="t" l="l"/>
                <a:pathLst>
                  <a:path h="589531" w="5067457">
                    <a:moveTo>
                      <a:pt x="0" y="0"/>
                    </a:moveTo>
                    <a:lnTo>
                      <a:pt x="5067457" y="0"/>
                    </a:lnTo>
                    <a:lnTo>
                      <a:pt x="5067457" y="589531"/>
                    </a:lnTo>
                    <a:lnTo>
                      <a:pt x="0" y="589531"/>
                    </a:lnTo>
                    <a:close/>
                  </a:path>
                </a:pathLst>
              </a:custGeom>
              <a:solidFill>
                <a:srgbClr val="97D4E8"/>
              </a:solidFill>
              <a:ln cap="sq">
                <a:noFill/>
                <a:prstDash val="solid"/>
                <a:miter/>
              </a:ln>
            </p:spPr>
          </p:sp>
          <p:sp>
            <p:nvSpPr>
              <p:cNvPr name="TextBox 5" id="5"/>
              <p:cNvSpPr txBox="true"/>
              <p:nvPr/>
            </p:nvSpPr>
            <p:spPr>
              <a:xfrm>
                <a:off x="0" y="-19050"/>
                <a:ext cx="5067457" cy="608581"/>
              </a:xfrm>
              <a:prstGeom prst="rect">
                <a:avLst/>
              </a:prstGeom>
            </p:spPr>
            <p:txBody>
              <a:bodyPr anchor="ctr" rtlCol="false" tIns="50800" lIns="50800" bIns="50800" rIns="50800"/>
              <a:lstStyle/>
              <a:p>
                <a:pPr algn="ctr" marL="0" indent="0" lvl="0">
                  <a:lnSpc>
                    <a:spcPts val="2080"/>
                  </a:lnSpc>
                  <a:spcBef>
                    <a:spcPct val="0"/>
                  </a:spcBef>
                </a:pPr>
              </a:p>
            </p:txBody>
          </p:sp>
        </p:grpSp>
        <p:grpSp>
          <p:nvGrpSpPr>
            <p:cNvPr name="Group 6" id="6"/>
            <p:cNvGrpSpPr/>
            <p:nvPr/>
          </p:nvGrpSpPr>
          <p:grpSpPr>
            <a:xfrm rot="0">
              <a:off x="0" y="2921000"/>
              <a:ext cx="25654000" cy="254000"/>
              <a:chOff x="0" y="0"/>
              <a:chExt cx="5067457" cy="50173"/>
            </a:xfrm>
          </p:grpSpPr>
          <p:sp>
            <p:nvSpPr>
              <p:cNvPr name="Freeform 7" id="7"/>
              <p:cNvSpPr/>
              <p:nvPr/>
            </p:nvSpPr>
            <p:spPr>
              <a:xfrm flipH="false" flipV="false" rot="0">
                <a:off x="0" y="0"/>
                <a:ext cx="5067457" cy="50173"/>
              </a:xfrm>
              <a:custGeom>
                <a:avLst/>
                <a:gdLst/>
                <a:ahLst/>
                <a:cxnLst/>
                <a:rect r="r" b="b" t="t" l="l"/>
                <a:pathLst>
                  <a:path h="50173" w="5067457">
                    <a:moveTo>
                      <a:pt x="0" y="0"/>
                    </a:moveTo>
                    <a:lnTo>
                      <a:pt x="5067457" y="0"/>
                    </a:lnTo>
                    <a:lnTo>
                      <a:pt x="5067457" y="50173"/>
                    </a:lnTo>
                    <a:lnTo>
                      <a:pt x="0" y="50173"/>
                    </a:lnTo>
                    <a:close/>
                  </a:path>
                </a:pathLst>
              </a:custGeom>
              <a:solidFill>
                <a:srgbClr val="CC7E3E"/>
              </a:solidFill>
              <a:ln cap="sq">
                <a:noFill/>
                <a:prstDash val="solid"/>
                <a:miter/>
              </a:ln>
            </p:spPr>
          </p:sp>
          <p:sp>
            <p:nvSpPr>
              <p:cNvPr name="TextBox 8" id="8"/>
              <p:cNvSpPr txBox="true"/>
              <p:nvPr/>
            </p:nvSpPr>
            <p:spPr>
              <a:xfrm>
                <a:off x="0" y="-19050"/>
                <a:ext cx="5067457" cy="69223"/>
              </a:xfrm>
              <a:prstGeom prst="rect">
                <a:avLst/>
              </a:prstGeom>
            </p:spPr>
            <p:txBody>
              <a:bodyPr anchor="ctr" rtlCol="false" tIns="50800" lIns="50800" bIns="50800" rIns="50800"/>
              <a:lstStyle/>
              <a:p>
                <a:pPr algn="ctr" marL="0" indent="0" lvl="0">
                  <a:lnSpc>
                    <a:spcPts val="2080"/>
                  </a:lnSpc>
                  <a:spcBef>
                    <a:spcPct val="0"/>
                  </a:spcBef>
                </a:pPr>
              </a:p>
            </p:txBody>
          </p:sp>
        </p:grpSp>
      </p:grpSp>
      <p:grpSp>
        <p:nvGrpSpPr>
          <p:cNvPr name="Group 9" id="9"/>
          <p:cNvGrpSpPr/>
          <p:nvPr/>
        </p:nvGrpSpPr>
        <p:grpSpPr>
          <a:xfrm rot="0">
            <a:off x="2515713" y="694302"/>
            <a:ext cx="13415004" cy="793159"/>
            <a:chOff x="0" y="0"/>
            <a:chExt cx="17886672" cy="1057546"/>
          </a:xfrm>
        </p:grpSpPr>
        <p:grpSp>
          <p:nvGrpSpPr>
            <p:cNvPr name="Group 10" id="10"/>
            <p:cNvGrpSpPr/>
            <p:nvPr/>
          </p:nvGrpSpPr>
          <p:grpSpPr>
            <a:xfrm rot="0">
              <a:off x="1153849" y="41546"/>
              <a:ext cx="15578974" cy="1016000"/>
              <a:chOff x="0" y="0"/>
              <a:chExt cx="2198092" cy="143351"/>
            </a:xfrm>
          </p:grpSpPr>
          <p:sp>
            <p:nvSpPr>
              <p:cNvPr name="Freeform 11" id="11"/>
              <p:cNvSpPr/>
              <p:nvPr/>
            </p:nvSpPr>
            <p:spPr>
              <a:xfrm flipH="false" flipV="false" rot="0">
                <a:off x="0" y="0"/>
                <a:ext cx="2198092" cy="143351"/>
              </a:xfrm>
              <a:custGeom>
                <a:avLst/>
                <a:gdLst/>
                <a:ahLst/>
                <a:cxnLst/>
                <a:rect r="r" b="b" t="t" l="l"/>
                <a:pathLst>
                  <a:path h="143351" w="2198092">
                    <a:moveTo>
                      <a:pt x="33792" y="0"/>
                    </a:moveTo>
                    <a:lnTo>
                      <a:pt x="2164299" y="0"/>
                    </a:lnTo>
                    <a:cubicBezTo>
                      <a:pt x="2173262" y="0"/>
                      <a:pt x="2181857" y="3560"/>
                      <a:pt x="2188194" y="9898"/>
                    </a:cubicBezTo>
                    <a:cubicBezTo>
                      <a:pt x="2194531" y="16235"/>
                      <a:pt x="2198092" y="24830"/>
                      <a:pt x="2198092" y="33792"/>
                    </a:cubicBezTo>
                    <a:lnTo>
                      <a:pt x="2198092" y="109559"/>
                    </a:lnTo>
                    <a:cubicBezTo>
                      <a:pt x="2198092" y="118521"/>
                      <a:pt x="2194531" y="127116"/>
                      <a:pt x="2188194" y="133453"/>
                    </a:cubicBezTo>
                    <a:cubicBezTo>
                      <a:pt x="2181857" y="139791"/>
                      <a:pt x="2173262" y="143351"/>
                      <a:pt x="2164299" y="143351"/>
                    </a:cubicBezTo>
                    <a:lnTo>
                      <a:pt x="33792" y="143351"/>
                    </a:lnTo>
                    <a:cubicBezTo>
                      <a:pt x="24830" y="143351"/>
                      <a:pt x="16235" y="139791"/>
                      <a:pt x="9898" y="133453"/>
                    </a:cubicBezTo>
                    <a:cubicBezTo>
                      <a:pt x="3560" y="127116"/>
                      <a:pt x="0" y="118521"/>
                      <a:pt x="0" y="109559"/>
                    </a:cubicBezTo>
                    <a:lnTo>
                      <a:pt x="0" y="33792"/>
                    </a:lnTo>
                    <a:cubicBezTo>
                      <a:pt x="0" y="24830"/>
                      <a:pt x="3560" y="16235"/>
                      <a:pt x="9898" y="9898"/>
                    </a:cubicBezTo>
                    <a:cubicBezTo>
                      <a:pt x="16235" y="3560"/>
                      <a:pt x="24830" y="0"/>
                      <a:pt x="33792" y="0"/>
                    </a:cubicBezTo>
                    <a:close/>
                  </a:path>
                </a:pathLst>
              </a:custGeom>
              <a:solidFill>
                <a:srgbClr val="38ABD1"/>
              </a:solidFill>
              <a:ln cap="rnd">
                <a:noFill/>
                <a:prstDash val="solid"/>
                <a:round/>
              </a:ln>
            </p:spPr>
          </p:sp>
          <p:sp>
            <p:nvSpPr>
              <p:cNvPr name="TextBox 12" id="12"/>
              <p:cNvSpPr txBox="true"/>
              <p:nvPr/>
            </p:nvSpPr>
            <p:spPr>
              <a:xfrm>
                <a:off x="0" y="-19050"/>
                <a:ext cx="2198092" cy="162401"/>
              </a:xfrm>
              <a:prstGeom prst="rect">
                <a:avLst/>
              </a:prstGeom>
            </p:spPr>
            <p:txBody>
              <a:bodyPr anchor="ctr" rtlCol="false" tIns="50800" lIns="50800" bIns="50800" rIns="50800"/>
              <a:lstStyle/>
              <a:p>
                <a:pPr algn="ctr" marL="0" indent="0" lvl="0">
                  <a:lnSpc>
                    <a:spcPts val="2080"/>
                  </a:lnSpc>
                  <a:spcBef>
                    <a:spcPct val="0"/>
                  </a:spcBef>
                </a:pPr>
              </a:p>
            </p:txBody>
          </p:sp>
        </p:grpSp>
        <p:grpSp>
          <p:nvGrpSpPr>
            <p:cNvPr name="Group 13" id="13"/>
            <p:cNvGrpSpPr/>
            <p:nvPr/>
          </p:nvGrpSpPr>
          <p:grpSpPr>
            <a:xfrm rot="0">
              <a:off x="0" y="0"/>
              <a:ext cx="17886672" cy="1057546"/>
              <a:chOff x="0" y="0"/>
              <a:chExt cx="2523693" cy="149213"/>
            </a:xfrm>
          </p:grpSpPr>
          <p:sp>
            <p:nvSpPr>
              <p:cNvPr name="Freeform 14" id="14"/>
              <p:cNvSpPr/>
              <p:nvPr/>
            </p:nvSpPr>
            <p:spPr>
              <a:xfrm flipH="false" flipV="false" rot="0">
                <a:off x="0" y="0"/>
                <a:ext cx="2523693" cy="149213"/>
              </a:xfrm>
              <a:custGeom>
                <a:avLst/>
                <a:gdLst/>
                <a:ahLst/>
                <a:cxnLst/>
                <a:rect r="r" b="b" t="t" l="l"/>
                <a:pathLst>
                  <a:path h="149213" w="2523693">
                    <a:moveTo>
                      <a:pt x="29433" y="0"/>
                    </a:moveTo>
                    <a:lnTo>
                      <a:pt x="2494260" y="0"/>
                    </a:lnTo>
                    <a:cubicBezTo>
                      <a:pt x="2510515" y="0"/>
                      <a:pt x="2523693" y="13177"/>
                      <a:pt x="2523693" y="29433"/>
                    </a:cubicBezTo>
                    <a:lnTo>
                      <a:pt x="2523693" y="119780"/>
                    </a:lnTo>
                    <a:cubicBezTo>
                      <a:pt x="2523693" y="127586"/>
                      <a:pt x="2520592" y="135073"/>
                      <a:pt x="2515072" y="140592"/>
                    </a:cubicBezTo>
                    <a:cubicBezTo>
                      <a:pt x="2509552" y="146112"/>
                      <a:pt x="2502066" y="149213"/>
                      <a:pt x="2494260" y="149213"/>
                    </a:cubicBezTo>
                    <a:lnTo>
                      <a:pt x="29433" y="149213"/>
                    </a:lnTo>
                    <a:cubicBezTo>
                      <a:pt x="13177" y="149213"/>
                      <a:pt x="0" y="136035"/>
                      <a:pt x="0" y="119780"/>
                    </a:cubicBezTo>
                    <a:lnTo>
                      <a:pt x="0" y="29433"/>
                    </a:lnTo>
                    <a:cubicBezTo>
                      <a:pt x="0" y="13177"/>
                      <a:pt x="13177" y="0"/>
                      <a:pt x="29433" y="0"/>
                    </a:cubicBezTo>
                    <a:close/>
                  </a:path>
                </a:pathLst>
              </a:custGeom>
              <a:solidFill>
                <a:srgbClr val="FFFFFF"/>
              </a:solidFill>
            </p:spPr>
          </p:sp>
          <p:sp>
            <p:nvSpPr>
              <p:cNvPr name="TextBox 15" id="15"/>
              <p:cNvSpPr txBox="true"/>
              <p:nvPr/>
            </p:nvSpPr>
            <p:spPr>
              <a:xfrm>
                <a:off x="0" y="-38100"/>
                <a:ext cx="2523693" cy="187313"/>
              </a:xfrm>
              <a:prstGeom prst="rect">
                <a:avLst/>
              </a:prstGeom>
            </p:spPr>
            <p:txBody>
              <a:bodyPr anchor="ctr" rtlCol="false" tIns="50800" lIns="50800" bIns="50800" rIns="50800"/>
              <a:lstStyle/>
              <a:p>
                <a:pPr algn="ctr">
                  <a:lnSpc>
                    <a:spcPts val="4549"/>
                  </a:lnSpc>
                </a:pPr>
                <a:r>
                  <a:rPr lang="en-US" b="true" sz="3499">
                    <a:solidFill>
                      <a:srgbClr val="000001"/>
                    </a:solidFill>
                    <a:latin typeface="Klein Bold"/>
                    <a:ea typeface="Klein Bold"/>
                    <a:cs typeface="Klein Bold"/>
                    <a:sym typeface="Klein Bold"/>
                  </a:rPr>
                  <a:t>Point Pattern Analysis (Nearest Neighbor Analysis /</a:t>
                </a:r>
                <a:r>
                  <a:rPr lang="en-US" b="true" sz="3499">
                    <a:solidFill>
                      <a:srgbClr val="000001"/>
                    </a:solidFill>
                    <a:latin typeface="Klein Bold"/>
                    <a:ea typeface="Klein Bold"/>
                    <a:cs typeface="Klein Bold"/>
                    <a:sym typeface="Klein Bold"/>
                  </a:rPr>
                  <a:t> NNA)</a:t>
                </a:r>
              </a:p>
            </p:txBody>
          </p:sp>
        </p:grpSp>
      </p:grpSp>
      <p:sp>
        <p:nvSpPr>
          <p:cNvPr name="Freeform 16" id="16"/>
          <p:cNvSpPr/>
          <p:nvPr/>
        </p:nvSpPr>
        <p:spPr>
          <a:xfrm flipH="false" flipV="false" rot="0">
            <a:off x="1333500" y="3052864"/>
            <a:ext cx="6205436" cy="6205436"/>
          </a:xfrm>
          <a:custGeom>
            <a:avLst/>
            <a:gdLst/>
            <a:ahLst/>
            <a:cxnLst/>
            <a:rect r="r" b="b" t="t" l="l"/>
            <a:pathLst>
              <a:path h="6205436" w="6205436">
                <a:moveTo>
                  <a:pt x="0" y="0"/>
                </a:moveTo>
                <a:lnTo>
                  <a:pt x="6205436" y="0"/>
                </a:lnTo>
                <a:lnTo>
                  <a:pt x="6205436" y="6205436"/>
                </a:lnTo>
                <a:lnTo>
                  <a:pt x="0" y="6205436"/>
                </a:lnTo>
                <a:lnTo>
                  <a:pt x="0" y="0"/>
                </a:lnTo>
                <a:close/>
              </a:path>
            </a:pathLst>
          </a:custGeom>
          <a:blipFill>
            <a:blip r:embed="rId2"/>
            <a:stretch>
              <a:fillRect l="-72386" t="-29410" r="-84871" b="-6936"/>
            </a:stretch>
          </a:blipFill>
        </p:spPr>
      </p:sp>
      <p:sp>
        <p:nvSpPr>
          <p:cNvPr name="TextBox 17" id="17"/>
          <p:cNvSpPr txBox="true"/>
          <p:nvPr/>
        </p:nvSpPr>
        <p:spPr>
          <a:xfrm rot="0">
            <a:off x="8037997" y="3061862"/>
            <a:ext cx="9537876" cy="5920740"/>
          </a:xfrm>
          <a:prstGeom prst="rect">
            <a:avLst/>
          </a:prstGeom>
        </p:spPr>
        <p:txBody>
          <a:bodyPr anchor="t" rtlCol="false" tIns="0" lIns="0" bIns="0" rIns="0">
            <a:spAutoFit/>
          </a:bodyPr>
          <a:lstStyle/>
          <a:p>
            <a:pPr algn="just" marL="453390" indent="-226695" lvl="1">
              <a:lnSpc>
                <a:spcPts val="5250"/>
              </a:lnSpc>
              <a:buAutoNum type="arabicPeriod" startAt="1"/>
            </a:pPr>
            <a:r>
              <a:rPr lang="en-US" sz="2100" spc="176">
                <a:solidFill>
                  <a:srgbClr val="000000"/>
                </a:solidFill>
                <a:latin typeface="Klein"/>
                <a:ea typeface="Klein"/>
                <a:cs typeface="Klein"/>
                <a:sym typeface="Klein"/>
              </a:rPr>
              <a:t>Juml</a:t>
            </a:r>
            <a:r>
              <a:rPr lang="en-US" sz="2100" spc="176">
                <a:solidFill>
                  <a:srgbClr val="000000"/>
                </a:solidFill>
                <a:latin typeface="Klein"/>
                <a:ea typeface="Klein"/>
                <a:cs typeface="Klein"/>
                <a:sym typeface="Klein"/>
              </a:rPr>
              <a:t>ah titik banjir: 154 titik</a:t>
            </a:r>
          </a:p>
          <a:p>
            <a:pPr algn="just" marL="453390" indent="-226695" lvl="1">
              <a:lnSpc>
                <a:spcPts val="5250"/>
              </a:lnSpc>
              <a:buAutoNum type="arabicPeriod" startAt="1"/>
            </a:pPr>
            <a:r>
              <a:rPr lang="en-US" sz="2100" spc="176">
                <a:solidFill>
                  <a:srgbClr val="000000"/>
                </a:solidFill>
                <a:latin typeface="Klein"/>
                <a:ea typeface="Klein"/>
                <a:cs typeface="Klein"/>
                <a:sym typeface="Klein"/>
              </a:rPr>
              <a:t>Observed mean distance: 735,07 meter</a:t>
            </a:r>
          </a:p>
          <a:p>
            <a:pPr algn="just" marL="453390" indent="-226695" lvl="1">
              <a:lnSpc>
                <a:spcPts val="5250"/>
              </a:lnSpc>
              <a:buAutoNum type="arabicPeriod" startAt="1"/>
            </a:pPr>
            <a:r>
              <a:rPr lang="en-US" sz="2100" spc="176">
                <a:solidFill>
                  <a:srgbClr val="000000"/>
                </a:solidFill>
                <a:latin typeface="Klein"/>
                <a:ea typeface="Klein"/>
                <a:cs typeface="Klein"/>
                <a:sym typeface="Klein"/>
              </a:rPr>
              <a:t>Expected mean distance: 1.107,83 meter</a:t>
            </a:r>
          </a:p>
          <a:p>
            <a:pPr algn="just" marL="453390" indent="-226695" lvl="1">
              <a:lnSpc>
                <a:spcPts val="5250"/>
              </a:lnSpc>
              <a:buAutoNum type="arabicPeriod" startAt="1"/>
            </a:pPr>
            <a:r>
              <a:rPr lang="en-US" sz="2100" spc="176">
                <a:solidFill>
                  <a:srgbClr val="000000"/>
                </a:solidFill>
                <a:latin typeface="Klein"/>
                <a:ea typeface="Klein"/>
                <a:cs typeface="Klein"/>
                <a:sym typeface="Klein"/>
              </a:rPr>
              <a:t>Nearest Neighbor Index (NNI): 0,66</a:t>
            </a:r>
          </a:p>
          <a:p>
            <a:pPr algn="just" marL="453390" indent="-226695" lvl="1">
              <a:lnSpc>
                <a:spcPts val="5250"/>
              </a:lnSpc>
              <a:buAutoNum type="arabicPeriod" startAt="1"/>
            </a:pPr>
            <a:r>
              <a:rPr lang="en-US" sz="2100" spc="176">
                <a:solidFill>
                  <a:srgbClr val="000000"/>
                </a:solidFill>
                <a:latin typeface="Klein"/>
                <a:ea typeface="Klein"/>
                <a:cs typeface="Klein"/>
                <a:sym typeface="Klein"/>
              </a:rPr>
              <a:t>Z-score: −7,99</a:t>
            </a:r>
          </a:p>
          <a:p>
            <a:pPr algn="just" marL="453390" indent="-226695" lvl="1">
              <a:lnSpc>
                <a:spcPts val="5250"/>
              </a:lnSpc>
              <a:buAutoNum type="arabicPeriod" startAt="1"/>
            </a:pPr>
            <a:r>
              <a:rPr lang="en-US" sz="2100" spc="176">
                <a:solidFill>
                  <a:srgbClr val="000000"/>
                </a:solidFill>
                <a:latin typeface="Klein"/>
                <a:ea typeface="Klein"/>
                <a:cs typeface="Klein"/>
                <a:sym typeface="Klein"/>
              </a:rPr>
              <a:t>p-value: &lt; 0,01 (sangat signifikan)</a:t>
            </a:r>
          </a:p>
          <a:p>
            <a:pPr algn="just" marL="453390" indent="-226695" lvl="1">
              <a:lnSpc>
                <a:spcPts val="5250"/>
              </a:lnSpc>
              <a:buAutoNum type="arabicPeriod" startAt="1"/>
            </a:pPr>
            <a:r>
              <a:rPr lang="en-US" sz="2100" spc="176">
                <a:solidFill>
                  <a:srgbClr val="000000"/>
                </a:solidFill>
                <a:latin typeface="Klein"/>
                <a:ea typeface="Klein"/>
                <a:cs typeface="Klein"/>
                <a:sym typeface="Klein"/>
              </a:rPr>
              <a:t>Pola spasial: Mengelompok (clustered)</a:t>
            </a:r>
          </a:p>
          <a:p>
            <a:pPr algn="just" marL="453390" indent="-226695" lvl="1">
              <a:lnSpc>
                <a:spcPts val="5250"/>
              </a:lnSpc>
              <a:buAutoNum type="arabicPeriod" startAt="1"/>
            </a:pPr>
            <a:r>
              <a:rPr lang="en-US" sz="2100" spc="176">
                <a:solidFill>
                  <a:srgbClr val="000000"/>
                </a:solidFill>
                <a:latin typeface="Klein"/>
                <a:ea typeface="Klein"/>
                <a:cs typeface="Klein"/>
                <a:sym typeface="Klein"/>
              </a:rPr>
              <a:t>Kesimpulan: Sebaran titik banjir tidak acak dan membentuk klaster signifikan di wilayah tertentu Jakarta</a:t>
            </a: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D39059"/>
        </a:solidFill>
      </p:bgPr>
    </p:bg>
    <p:spTree>
      <p:nvGrpSpPr>
        <p:cNvPr id="1" name=""/>
        <p:cNvGrpSpPr/>
        <p:nvPr/>
      </p:nvGrpSpPr>
      <p:grpSpPr>
        <a:xfrm>
          <a:off x="0" y="0"/>
          <a:ext cx="0" cy="0"/>
          <a:chOff x="0" y="0"/>
          <a:chExt cx="0" cy="0"/>
        </a:xfrm>
      </p:grpSpPr>
      <p:grpSp>
        <p:nvGrpSpPr>
          <p:cNvPr name="Group 2" id="2"/>
          <p:cNvGrpSpPr/>
          <p:nvPr/>
        </p:nvGrpSpPr>
        <p:grpSpPr>
          <a:xfrm rot="0">
            <a:off x="-476250" y="-190500"/>
            <a:ext cx="19240500" cy="2381250"/>
            <a:chOff x="0" y="0"/>
            <a:chExt cx="25654000" cy="3175000"/>
          </a:xfrm>
        </p:grpSpPr>
        <p:grpSp>
          <p:nvGrpSpPr>
            <p:cNvPr name="Group 3" id="3"/>
            <p:cNvGrpSpPr/>
            <p:nvPr/>
          </p:nvGrpSpPr>
          <p:grpSpPr>
            <a:xfrm rot="0">
              <a:off x="0" y="0"/>
              <a:ext cx="25654000" cy="2984500"/>
              <a:chOff x="0" y="0"/>
              <a:chExt cx="5067457" cy="589531"/>
            </a:xfrm>
          </p:grpSpPr>
          <p:sp>
            <p:nvSpPr>
              <p:cNvPr name="Freeform 4" id="4"/>
              <p:cNvSpPr/>
              <p:nvPr/>
            </p:nvSpPr>
            <p:spPr>
              <a:xfrm flipH="false" flipV="false" rot="0">
                <a:off x="0" y="0"/>
                <a:ext cx="5067457" cy="589531"/>
              </a:xfrm>
              <a:custGeom>
                <a:avLst/>
                <a:gdLst/>
                <a:ahLst/>
                <a:cxnLst/>
                <a:rect r="r" b="b" t="t" l="l"/>
                <a:pathLst>
                  <a:path h="589531" w="5067457">
                    <a:moveTo>
                      <a:pt x="0" y="0"/>
                    </a:moveTo>
                    <a:lnTo>
                      <a:pt x="5067457" y="0"/>
                    </a:lnTo>
                    <a:lnTo>
                      <a:pt x="5067457" y="589531"/>
                    </a:lnTo>
                    <a:lnTo>
                      <a:pt x="0" y="589531"/>
                    </a:lnTo>
                    <a:close/>
                  </a:path>
                </a:pathLst>
              </a:custGeom>
              <a:solidFill>
                <a:srgbClr val="97D4E8"/>
              </a:solidFill>
              <a:ln cap="sq">
                <a:noFill/>
                <a:prstDash val="solid"/>
                <a:miter/>
              </a:ln>
            </p:spPr>
          </p:sp>
          <p:sp>
            <p:nvSpPr>
              <p:cNvPr name="TextBox 5" id="5"/>
              <p:cNvSpPr txBox="true"/>
              <p:nvPr/>
            </p:nvSpPr>
            <p:spPr>
              <a:xfrm>
                <a:off x="0" y="-19050"/>
                <a:ext cx="5067457" cy="608581"/>
              </a:xfrm>
              <a:prstGeom prst="rect">
                <a:avLst/>
              </a:prstGeom>
            </p:spPr>
            <p:txBody>
              <a:bodyPr anchor="ctr" rtlCol="false" tIns="50800" lIns="50800" bIns="50800" rIns="50800"/>
              <a:lstStyle/>
              <a:p>
                <a:pPr algn="ctr" marL="0" indent="0" lvl="0">
                  <a:lnSpc>
                    <a:spcPts val="2080"/>
                  </a:lnSpc>
                  <a:spcBef>
                    <a:spcPct val="0"/>
                  </a:spcBef>
                </a:pPr>
              </a:p>
            </p:txBody>
          </p:sp>
        </p:grpSp>
        <p:grpSp>
          <p:nvGrpSpPr>
            <p:cNvPr name="Group 6" id="6"/>
            <p:cNvGrpSpPr/>
            <p:nvPr/>
          </p:nvGrpSpPr>
          <p:grpSpPr>
            <a:xfrm rot="0">
              <a:off x="0" y="2921000"/>
              <a:ext cx="25654000" cy="254000"/>
              <a:chOff x="0" y="0"/>
              <a:chExt cx="5067457" cy="50173"/>
            </a:xfrm>
          </p:grpSpPr>
          <p:sp>
            <p:nvSpPr>
              <p:cNvPr name="Freeform 7" id="7"/>
              <p:cNvSpPr/>
              <p:nvPr/>
            </p:nvSpPr>
            <p:spPr>
              <a:xfrm flipH="false" flipV="false" rot="0">
                <a:off x="0" y="0"/>
                <a:ext cx="5067457" cy="50173"/>
              </a:xfrm>
              <a:custGeom>
                <a:avLst/>
                <a:gdLst/>
                <a:ahLst/>
                <a:cxnLst/>
                <a:rect r="r" b="b" t="t" l="l"/>
                <a:pathLst>
                  <a:path h="50173" w="5067457">
                    <a:moveTo>
                      <a:pt x="0" y="0"/>
                    </a:moveTo>
                    <a:lnTo>
                      <a:pt x="5067457" y="0"/>
                    </a:lnTo>
                    <a:lnTo>
                      <a:pt x="5067457" y="50173"/>
                    </a:lnTo>
                    <a:lnTo>
                      <a:pt x="0" y="50173"/>
                    </a:lnTo>
                    <a:close/>
                  </a:path>
                </a:pathLst>
              </a:custGeom>
              <a:solidFill>
                <a:srgbClr val="CC7E3E"/>
              </a:solidFill>
              <a:ln cap="sq">
                <a:noFill/>
                <a:prstDash val="solid"/>
                <a:miter/>
              </a:ln>
            </p:spPr>
          </p:sp>
          <p:sp>
            <p:nvSpPr>
              <p:cNvPr name="TextBox 8" id="8"/>
              <p:cNvSpPr txBox="true"/>
              <p:nvPr/>
            </p:nvSpPr>
            <p:spPr>
              <a:xfrm>
                <a:off x="0" y="-19050"/>
                <a:ext cx="5067457" cy="69223"/>
              </a:xfrm>
              <a:prstGeom prst="rect">
                <a:avLst/>
              </a:prstGeom>
            </p:spPr>
            <p:txBody>
              <a:bodyPr anchor="ctr" rtlCol="false" tIns="50800" lIns="50800" bIns="50800" rIns="50800"/>
              <a:lstStyle/>
              <a:p>
                <a:pPr algn="ctr" marL="0" indent="0" lvl="0">
                  <a:lnSpc>
                    <a:spcPts val="2080"/>
                  </a:lnSpc>
                  <a:spcBef>
                    <a:spcPct val="0"/>
                  </a:spcBef>
                </a:pPr>
              </a:p>
            </p:txBody>
          </p:sp>
        </p:grpSp>
      </p:grpSp>
      <p:grpSp>
        <p:nvGrpSpPr>
          <p:cNvPr name="Group 9" id="9"/>
          <p:cNvGrpSpPr/>
          <p:nvPr/>
        </p:nvGrpSpPr>
        <p:grpSpPr>
          <a:xfrm rot="0">
            <a:off x="1261024" y="2704596"/>
            <a:ext cx="7635964" cy="6977321"/>
            <a:chOff x="0" y="0"/>
            <a:chExt cx="1151266" cy="1051963"/>
          </a:xfrm>
        </p:grpSpPr>
        <p:sp>
          <p:nvSpPr>
            <p:cNvPr name="Freeform 10" id="10"/>
            <p:cNvSpPr/>
            <p:nvPr/>
          </p:nvSpPr>
          <p:spPr>
            <a:xfrm flipH="false" flipV="false" rot="0">
              <a:off x="0" y="0"/>
              <a:ext cx="1151266" cy="1051963"/>
            </a:xfrm>
            <a:custGeom>
              <a:avLst/>
              <a:gdLst/>
              <a:ahLst/>
              <a:cxnLst/>
              <a:rect r="r" b="b" t="t" l="l"/>
              <a:pathLst>
                <a:path h="1051963" w="1151266">
                  <a:moveTo>
                    <a:pt x="50694" y="0"/>
                  </a:moveTo>
                  <a:lnTo>
                    <a:pt x="1100572" y="0"/>
                  </a:lnTo>
                  <a:cubicBezTo>
                    <a:pt x="1114017" y="0"/>
                    <a:pt x="1126911" y="5341"/>
                    <a:pt x="1136418" y="14848"/>
                  </a:cubicBezTo>
                  <a:cubicBezTo>
                    <a:pt x="1145925" y="24355"/>
                    <a:pt x="1151266" y="37249"/>
                    <a:pt x="1151266" y="50694"/>
                  </a:cubicBezTo>
                  <a:lnTo>
                    <a:pt x="1151266" y="1001269"/>
                  </a:lnTo>
                  <a:cubicBezTo>
                    <a:pt x="1151266" y="1029267"/>
                    <a:pt x="1128570" y="1051963"/>
                    <a:pt x="1100572" y="1051963"/>
                  </a:cubicBezTo>
                  <a:lnTo>
                    <a:pt x="50694" y="1051963"/>
                  </a:lnTo>
                  <a:cubicBezTo>
                    <a:pt x="37249" y="1051963"/>
                    <a:pt x="24355" y="1046622"/>
                    <a:pt x="14848" y="1037115"/>
                  </a:cubicBezTo>
                  <a:cubicBezTo>
                    <a:pt x="5341" y="1027608"/>
                    <a:pt x="0" y="1014714"/>
                    <a:pt x="0" y="1001269"/>
                  </a:cubicBezTo>
                  <a:lnTo>
                    <a:pt x="0" y="50694"/>
                  </a:lnTo>
                  <a:cubicBezTo>
                    <a:pt x="0" y="37249"/>
                    <a:pt x="5341" y="24355"/>
                    <a:pt x="14848" y="14848"/>
                  </a:cubicBezTo>
                  <a:cubicBezTo>
                    <a:pt x="24355" y="5341"/>
                    <a:pt x="37249" y="0"/>
                    <a:pt x="50694" y="0"/>
                  </a:cubicBezTo>
                  <a:close/>
                </a:path>
              </a:pathLst>
            </a:custGeom>
            <a:solidFill>
              <a:srgbClr val="CC7E3E"/>
            </a:solidFill>
            <a:ln cap="rnd">
              <a:noFill/>
              <a:prstDash val="solid"/>
              <a:round/>
            </a:ln>
          </p:spPr>
        </p:sp>
        <p:sp>
          <p:nvSpPr>
            <p:cNvPr name="TextBox 11" id="11"/>
            <p:cNvSpPr txBox="true"/>
            <p:nvPr/>
          </p:nvSpPr>
          <p:spPr>
            <a:xfrm>
              <a:off x="0" y="-38100"/>
              <a:ext cx="1151266" cy="1090063"/>
            </a:xfrm>
            <a:prstGeom prst="rect">
              <a:avLst/>
            </a:prstGeom>
          </p:spPr>
          <p:txBody>
            <a:bodyPr anchor="ctr" rtlCol="false" tIns="316933" lIns="316933" bIns="316933" rIns="316933"/>
            <a:lstStyle/>
            <a:p>
              <a:pPr algn="ctr" marL="0" indent="0" lvl="0">
                <a:lnSpc>
                  <a:spcPts val="3380"/>
                </a:lnSpc>
                <a:spcBef>
                  <a:spcPct val="0"/>
                </a:spcBef>
              </a:pPr>
            </a:p>
          </p:txBody>
        </p:sp>
      </p:grpSp>
      <p:grpSp>
        <p:nvGrpSpPr>
          <p:cNvPr name="Group 12" id="12"/>
          <p:cNvGrpSpPr/>
          <p:nvPr/>
        </p:nvGrpSpPr>
        <p:grpSpPr>
          <a:xfrm rot="0">
            <a:off x="550191" y="2545115"/>
            <a:ext cx="8172260" cy="6977321"/>
            <a:chOff x="0" y="0"/>
            <a:chExt cx="1232123" cy="1051963"/>
          </a:xfrm>
        </p:grpSpPr>
        <p:sp>
          <p:nvSpPr>
            <p:cNvPr name="Freeform 13" id="13"/>
            <p:cNvSpPr/>
            <p:nvPr/>
          </p:nvSpPr>
          <p:spPr>
            <a:xfrm flipH="false" flipV="false" rot="0">
              <a:off x="0" y="0"/>
              <a:ext cx="1232123" cy="1051963"/>
            </a:xfrm>
            <a:custGeom>
              <a:avLst/>
              <a:gdLst/>
              <a:ahLst/>
              <a:cxnLst/>
              <a:rect r="r" b="b" t="t" l="l"/>
              <a:pathLst>
                <a:path h="1051963" w="1232123">
                  <a:moveTo>
                    <a:pt x="47367" y="0"/>
                  </a:moveTo>
                  <a:lnTo>
                    <a:pt x="1184756" y="0"/>
                  </a:lnTo>
                  <a:cubicBezTo>
                    <a:pt x="1197318" y="0"/>
                    <a:pt x="1209366" y="4990"/>
                    <a:pt x="1218249" y="13873"/>
                  </a:cubicBezTo>
                  <a:cubicBezTo>
                    <a:pt x="1227132" y="22757"/>
                    <a:pt x="1232123" y="34805"/>
                    <a:pt x="1232123" y="47367"/>
                  </a:cubicBezTo>
                  <a:lnTo>
                    <a:pt x="1232123" y="1004596"/>
                  </a:lnTo>
                  <a:cubicBezTo>
                    <a:pt x="1232123" y="1030756"/>
                    <a:pt x="1210916" y="1051963"/>
                    <a:pt x="1184756" y="1051963"/>
                  </a:cubicBezTo>
                  <a:lnTo>
                    <a:pt x="47367" y="1051963"/>
                  </a:lnTo>
                  <a:cubicBezTo>
                    <a:pt x="34805" y="1051963"/>
                    <a:pt x="22757" y="1046973"/>
                    <a:pt x="13873" y="1038090"/>
                  </a:cubicBezTo>
                  <a:cubicBezTo>
                    <a:pt x="4990" y="1029207"/>
                    <a:pt x="0" y="1017159"/>
                    <a:pt x="0" y="1004596"/>
                  </a:cubicBezTo>
                  <a:lnTo>
                    <a:pt x="0" y="47367"/>
                  </a:lnTo>
                  <a:cubicBezTo>
                    <a:pt x="0" y="21207"/>
                    <a:pt x="21207" y="0"/>
                    <a:pt x="47367" y="0"/>
                  </a:cubicBezTo>
                  <a:close/>
                </a:path>
              </a:pathLst>
            </a:custGeom>
            <a:solidFill>
              <a:srgbClr val="FFFFFF"/>
            </a:solidFill>
          </p:spPr>
        </p:sp>
        <p:sp>
          <p:nvSpPr>
            <p:cNvPr name="TextBox 14" id="14"/>
            <p:cNvSpPr txBox="true"/>
            <p:nvPr/>
          </p:nvSpPr>
          <p:spPr>
            <a:xfrm>
              <a:off x="0" y="-38100"/>
              <a:ext cx="1232123" cy="1090063"/>
            </a:xfrm>
            <a:prstGeom prst="rect">
              <a:avLst/>
            </a:prstGeom>
          </p:spPr>
          <p:txBody>
            <a:bodyPr anchor="ctr" rtlCol="false" tIns="316933" lIns="316933" bIns="316933" rIns="316933"/>
            <a:lstStyle/>
            <a:p>
              <a:pPr algn="ctr">
                <a:lnSpc>
                  <a:spcPts val="3380"/>
                </a:lnSpc>
              </a:pPr>
            </a:p>
          </p:txBody>
        </p:sp>
      </p:grpSp>
      <p:grpSp>
        <p:nvGrpSpPr>
          <p:cNvPr name="Group 15" id="15"/>
          <p:cNvGrpSpPr/>
          <p:nvPr/>
        </p:nvGrpSpPr>
        <p:grpSpPr>
          <a:xfrm rot="0">
            <a:off x="9525000" y="2545115"/>
            <a:ext cx="8115300" cy="7136802"/>
            <a:chOff x="0" y="0"/>
            <a:chExt cx="10820400" cy="9515736"/>
          </a:xfrm>
        </p:grpSpPr>
        <p:grpSp>
          <p:nvGrpSpPr>
            <p:cNvPr name="Group 16" id="16"/>
            <p:cNvGrpSpPr/>
            <p:nvPr/>
          </p:nvGrpSpPr>
          <p:grpSpPr>
            <a:xfrm rot="0">
              <a:off x="248745" y="551637"/>
              <a:ext cx="10571655" cy="8964099"/>
              <a:chOff x="0" y="0"/>
              <a:chExt cx="1491592" cy="1264776"/>
            </a:xfrm>
          </p:grpSpPr>
          <p:sp>
            <p:nvSpPr>
              <p:cNvPr name="Freeform 17" id="17"/>
              <p:cNvSpPr/>
              <p:nvPr/>
            </p:nvSpPr>
            <p:spPr>
              <a:xfrm flipH="false" flipV="false" rot="0">
                <a:off x="0" y="0"/>
                <a:ext cx="1491592" cy="1264776"/>
              </a:xfrm>
              <a:custGeom>
                <a:avLst/>
                <a:gdLst/>
                <a:ahLst/>
                <a:cxnLst/>
                <a:rect r="r" b="b" t="t" l="l"/>
                <a:pathLst>
                  <a:path h="1264776" w="1491592">
                    <a:moveTo>
                      <a:pt x="48822" y="0"/>
                    </a:moveTo>
                    <a:lnTo>
                      <a:pt x="1442770" y="0"/>
                    </a:lnTo>
                    <a:cubicBezTo>
                      <a:pt x="1469733" y="0"/>
                      <a:pt x="1491592" y="21858"/>
                      <a:pt x="1491592" y="48822"/>
                    </a:cubicBezTo>
                    <a:lnTo>
                      <a:pt x="1491592" y="1215954"/>
                    </a:lnTo>
                    <a:cubicBezTo>
                      <a:pt x="1491592" y="1228902"/>
                      <a:pt x="1486448" y="1241320"/>
                      <a:pt x="1477292" y="1250476"/>
                    </a:cubicBezTo>
                    <a:cubicBezTo>
                      <a:pt x="1468136" y="1259632"/>
                      <a:pt x="1455718" y="1264776"/>
                      <a:pt x="1442770" y="1264776"/>
                    </a:cubicBezTo>
                    <a:lnTo>
                      <a:pt x="48822" y="1264776"/>
                    </a:lnTo>
                    <a:cubicBezTo>
                      <a:pt x="35874" y="1264776"/>
                      <a:pt x="23455" y="1259632"/>
                      <a:pt x="14300" y="1250476"/>
                    </a:cubicBezTo>
                    <a:cubicBezTo>
                      <a:pt x="5144" y="1241320"/>
                      <a:pt x="0" y="1228902"/>
                      <a:pt x="0" y="1215954"/>
                    </a:cubicBezTo>
                    <a:lnTo>
                      <a:pt x="0" y="48822"/>
                    </a:lnTo>
                    <a:cubicBezTo>
                      <a:pt x="0" y="35874"/>
                      <a:pt x="5144" y="23455"/>
                      <a:pt x="14300" y="14300"/>
                    </a:cubicBezTo>
                    <a:cubicBezTo>
                      <a:pt x="23455" y="5144"/>
                      <a:pt x="35874" y="0"/>
                      <a:pt x="48822" y="0"/>
                    </a:cubicBezTo>
                    <a:close/>
                  </a:path>
                </a:pathLst>
              </a:custGeom>
              <a:solidFill>
                <a:srgbClr val="CC7E3E"/>
              </a:solidFill>
              <a:ln cap="rnd">
                <a:noFill/>
                <a:prstDash val="solid"/>
                <a:round/>
              </a:ln>
            </p:spPr>
          </p:sp>
          <p:sp>
            <p:nvSpPr>
              <p:cNvPr name="TextBox 18" id="18"/>
              <p:cNvSpPr txBox="true"/>
              <p:nvPr/>
            </p:nvSpPr>
            <p:spPr>
              <a:xfrm>
                <a:off x="0" y="-180975"/>
                <a:ext cx="1491592" cy="1445751"/>
              </a:xfrm>
              <a:prstGeom prst="rect">
                <a:avLst/>
              </a:prstGeom>
            </p:spPr>
            <p:txBody>
              <a:bodyPr anchor="ctr" rtlCol="false" tIns="254000" lIns="254000" bIns="254000" rIns="254000"/>
              <a:lstStyle/>
              <a:p>
                <a:pPr algn="just" marL="0" indent="0" lvl="0">
                  <a:lnSpc>
                    <a:spcPts val="4888"/>
                  </a:lnSpc>
                </a:pPr>
              </a:p>
            </p:txBody>
          </p:sp>
        </p:grpSp>
        <p:grpSp>
          <p:nvGrpSpPr>
            <p:cNvPr name="Group 19" id="19"/>
            <p:cNvGrpSpPr/>
            <p:nvPr/>
          </p:nvGrpSpPr>
          <p:grpSpPr>
            <a:xfrm rot="0">
              <a:off x="0" y="0"/>
              <a:ext cx="10820400" cy="9191619"/>
              <a:chOff x="0" y="0"/>
              <a:chExt cx="1526688" cy="1296877"/>
            </a:xfrm>
          </p:grpSpPr>
          <p:sp>
            <p:nvSpPr>
              <p:cNvPr name="Freeform 20" id="20"/>
              <p:cNvSpPr/>
              <p:nvPr/>
            </p:nvSpPr>
            <p:spPr>
              <a:xfrm flipH="false" flipV="false" rot="0">
                <a:off x="0" y="0"/>
                <a:ext cx="1526688" cy="1296877"/>
              </a:xfrm>
              <a:custGeom>
                <a:avLst/>
                <a:gdLst/>
                <a:ahLst/>
                <a:cxnLst/>
                <a:rect r="r" b="b" t="t" l="l"/>
                <a:pathLst>
                  <a:path h="1296877" w="1526688">
                    <a:moveTo>
                      <a:pt x="47700" y="0"/>
                    </a:moveTo>
                    <a:lnTo>
                      <a:pt x="1478988" y="0"/>
                    </a:lnTo>
                    <a:cubicBezTo>
                      <a:pt x="1491639" y="0"/>
                      <a:pt x="1503772" y="5025"/>
                      <a:pt x="1512717" y="13971"/>
                    </a:cubicBezTo>
                    <a:cubicBezTo>
                      <a:pt x="1521662" y="22916"/>
                      <a:pt x="1526688" y="35049"/>
                      <a:pt x="1526688" y="47700"/>
                    </a:cubicBezTo>
                    <a:lnTo>
                      <a:pt x="1526688" y="1249178"/>
                    </a:lnTo>
                    <a:cubicBezTo>
                      <a:pt x="1526688" y="1261829"/>
                      <a:pt x="1521662" y="1273961"/>
                      <a:pt x="1512717" y="1282907"/>
                    </a:cubicBezTo>
                    <a:cubicBezTo>
                      <a:pt x="1503772" y="1291852"/>
                      <a:pt x="1491639" y="1296877"/>
                      <a:pt x="1478988" y="1296877"/>
                    </a:cubicBezTo>
                    <a:lnTo>
                      <a:pt x="47700" y="1296877"/>
                    </a:lnTo>
                    <a:cubicBezTo>
                      <a:pt x="35049" y="1296877"/>
                      <a:pt x="22916" y="1291852"/>
                      <a:pt x="13971" y="1282907"/>
                    </a:cubicBezTo>
                    <a:cubicBezTo>
                      <a:pt x="5025" y="1273961"/>
                      <a:pt x="0" y="1261829"/>
                      <a:pt x="0" y="1249178"/>
                    </a:cubicBezTo>
                    <a:lnTo>
                      <a:pt x="0" y="47700"/>
                    </a:lnTo>
                    <a:cubicBezTo>
                      <a:pt x="0" y="35049"/>
                      <a:pt x="5025" y="22916"/>
                      <a:pt x="13971" y="13971"/>
                    </a:cubicBezTo>
                    <a:cubicBezTo>
                      <a:pt x="22916" y="5025"/>
                      <a:pt x="35049" y="0"/>
                      <a:pt x="47700" y="0"/>
                    </a:cubicBezTo>
                    <a:close/>
                  </a:path>
                </a:pathLst>
              </a:custGeom>
              <a:solidFill>
                <a:srgbClr val="FFFFFF"/>
              </a:solidFill>
            </p:spPr>
          </p:sp>
          <p:sp>
            <p:nvSpPr>
              <p:cNvPr name="TextBox 21" id="21"/>
              <p:cNvSpPr txBox="true"/>
              <p:nvPr/>
            </p:nvSpPr>
            <p:spPr>
              <a:xfrm>
                <a:off x="0" y="-142875"/>
                <a:ext cx="1526688" cy="1439752"/>
              </a:xfrm>
              <a:prstGeom prst="rect">
                <a:avLst/>
              </a:prstGeom>
            </p:spPr>
            <p:txBody>
              <a:bodyPr anchor="ctr" rtlCol="false" tIns="254000" lIns="254000" bIns="254000" rIns="254000"/>
              <a:lstStyle/>
              <a:p>
                <a:pPr algn="just" marL="431796" indent="-215898" lvl="1">
                  <a:lnSpc>
                    <a:spcPts val="3759"/>
                  </a:lnSpc>
                  <a:buAutoNum type="arabicPeriod" startAt="1"/>
                </a:pPr>
                <a:r>
                  <a:rPr lang="en-US" sz="1999" spc="209">
                    <a:solidFill>
                      <a:srgbClr val="000001"/>
                    </a:solidFill>
                    <a:latin typeface="Klein"/>
                    <a:ea typeface="Klein"/>
                    <a:cs typeface="Klein"/>
                    <a:sym typeface="Klein"/>
                  </a:rPr>
                  <a:t>Grid: 5 km × 5 km (overlay pada wilayah DKI Jakarta)</a:t>
                </a:r>
              </a:p>
              <a:p>
                <a:pPr algn="just" marL="431796" indent="-215898" lvl="1">
                  <a:lnSpc>
                    <a:spcPts val="3759"/>
                  </a:lnSpc>
                  <a:buAutoNum type="arabicPeriod" startAt="1"/>
                </a:pPr>
                <a:r>
                  <a:rPr lang="en-US" sz="1999" spc="209">
                    <a:solidFill>
                      <a:srgbClr val="000001"/>
                    </a:solidFill>
                    <a:latin typeface="Klein"/>
                    <a:ea typeface="Klein"/>
                    <a:cs typeface="Klein"/>
                    <a:sym typeface="Klein"/>
                  </a:rPr>
                  <a:t>Jumlah titik banjir per grid: 0 – 33 titik</a:t>
                </a:r>
              </a:p>
              <a:p>
                <a:pPr algn="just" marL="431796" indent="-215898" lvl="1">
                  <a:lnSpc>
                    <a:spcPts val="3759"/>
                  </a:lnSpc>
                  <a:buAutoNum type="arabicPeriod" startAt="1"/>
                </a:pPr>
                <a:r>
                  <a:rPr lang="en-US" sz="1999" spc="209">
                    <a:solidFill>
                      <a:srgbClr val="000001"/>
                    </a:solidFill>
                    <a:latin typeface="Klein"/>
                    <a:ea typeface="Klein"/>
                    <a:cs typeface="Klein"/>
                    <a:sym typeface="Klein"/>
                  </a:rPr>
                  <a:t>Mean (rata-rata) titik per grid: 3,14</a:t>
                </a:r>
              </a:p>
              <a:p>
                <a:pPr algn="just" marL="431796" indent="-215898" lvl="1">
                  <a:lnSpc>
                    <a:spcPts val="3759"/>
                  </a:lnSpc>
                  <a:buAutoNum type="arabicPeriod" startAt="1"/>
                </a:pPr>
                <a:r>
                  <a:rPr lang="en-US" sz="1999" spc="209">
                    <a:solidFill>
                      <a:srgbClr val="000001"/>
                    </a:solidFill>
                    <a:latin typeface="Klein"/>
                    <a:ea typeface="Klein"/>
                    <a:cs typeface="Klein"/>
                    <a:sym typeface="Klein"/>
                  </a:rPr>
                  <a:t>Variance Mean Ratio (VMR): 11,48</a:t>
                </a:r>
              </a:p>
              <a:p>
                <a:pPr algn="just" marL="431796" indent="-215898" lvl="1">
                  <a:lnSpc>
                    <a:spcPts val="3759"/>
                  </a:lnSpc>
                  <a:buAutoNum type="arabicPeriod" startAt="1"/>
                </a:pPr>
                <a:r>
                  <a:rPr lang="en-US" sz="1999" spc="209">
                    <a:solidFill>
                      <a:srgbClr val="000001"/>
                    </a:solidFill>
                    <a:latin typeface="Klein"/>
                    <a:ea typeface="Klein"/>
                    <a:cs typeface="Klein"/>
                    <a:sym typeface="Klein"/>
                  </a:rPr>
                  <a:t>VMR &gt; 1 → pola mengelompok (clustered)</a:t>
                </a:r>
              </a:p>
              <a:p>
                <a:pPr algn="just" marL="431796" indent="-215898" lvl="1">
                  <a:lnSpc>
                    <a:spcPts val="3759"/>
                  </a:lnSpc>
                  <a:buAutoNum type="arabicPeriod" startAt="1"/>
                </a:pPr>
                <a:r>
                  <a:rPr lang="en-US" sz="1999" spc="209">
                    <a:solidFill>
                      <a:srgbClr val="000001"/>
                    </a:solidFill>
                    <a:latin typeface="Klein"/>
                    <a:ea typeface="Klein"/>
                    <a:cs typeface="Klein"/>
                    <a:sym typeface="Klein"/>
                  </a:rPr>
                  <a:t>Histogram menunjukkan banyak grid kosong dan sedikit grid dengan nilai sangat tinggi</a:t>
                </a:r>
              </a:p>
              <a:p>
                <a:pPr algn="just" marL="431796" indent="-215898" lvl="1">
                  <a:lnSpc>
                    <a:spcPts val="3759"/>
                  </a:lnSpc>
                  <a:buAutoNum type="arabicPeriod" startAt="1"/>
                </a:pPr>
                <a:r>
                  <a:rPr lang="en-US" sz="1999" spc="209">
                    <a:solidFill>
                      <a:srgbClr val="000001"/>
                    </a:solidFill>
                    <a:latin typeface="Klein"/>
                    <a:ea typeface="Klein"/>
                    <a:cs typeface="Klein"/>
                    <a:sym typeface="Klein"/>
                  </a:rPr>
                  <a:t>Peta intensitas memperlihatkan konsentrasi titik banjir pada grid tertentu</a:t>
                </a:r>
              </a:p>
              <a:p>
                <a:pPr algn="just" marL="431796" indent="-215898" lvl="1">
                  <a:lnSpc>
                    <a:spcPts val="3759"/>
                  </a:lnSpc>
                  <a:buAutoNum type="arabicPeriod" startAt="1"/>
                </a:pPr>
                <a:r>
                  <a:rPr lang="en-US" sz="1999" spc="209">
                    <a:solidFill>
                      <a:srgbClr val="000001"/>
                    </a:solidFill>
                    <a:latin typeface="Klein"/>
                    <a:ea typeface="Klein"/>
                    <a:cs typeface="Klein"/>
                    <a:sym typeface="Klein"/>
                  </a:rPr>
                  <a:t>Kesimpulan: Sebaran titik banjir tidak acak, tetapi terklaster kuat</a:t>
                </a:r>
              </a:p>
            </p:txBody>
          </p:sp>
        </p:grpSp>
      </p:grpSp>
      <p:grpSp>
        <p:nvGrpSpPr>
          <p:cNvPr name="Group 22" id="22"/>
          <p:cNvGrpSpPr/>
          <p:nvPr/>
        </p:nvGrpSpPr>
        <p:grpSpPr>
          <a:xfrm rot="0">
            <a:off x="3222670" y="569939"/>
            <a:ext cx="11842660" cy="917522"/>
            <a:chOff x="0" y="0"/>
            <a:chExt cx="15790214" cy="1223363"/>
          </a:xfrm>
        </p:grpSpPr>
        <p:grpSp>
          <p:nvGrpSpPr>
            <p:cNvPr name="Group 23" id="23"/>
            <p:cNvGrpSpPr/>
            <p:nvPr/>
          </p:nvGrpSpPr>
          <p:grpSpPr>
            <a:xfrm rot="0">
              <a:off x="211240" y="207363"/>
              <a:ext cx="15578974" cy="1016000"/>
              <a:chOff x="0" y="0"/>
              <a:chExt cx="2198092" cy="143351"/>
            </a:xfrm>
          </p:grpSpPr>
          <p:sp>
            <p:nvSpPr>
              <p:cNvPr name="Freeform 24" id="24"/>
              <p:cNvSpPr/>
              <p:nvPr/>
            </p:nvSpPr>
            <p:spPr>
              <a:xfrm flipH="false" flipV="false" rot="0">
                <a:off x="0" y="0"/>
                <a:ext cx="2198092" cy="143351"/>
              </a:xfrm>
              <a:custGeom>
                <a:avLst/>
                <a:gdLst/>
                <a:ahLst/>
                <a:cxnLst/>
                <a:rect r="r" b="b" t="t" l="l"/>
                <a:pathLst>
                  <a:path h="143351" w="2198092">
                    <a:moveTo>
                      <a:pt x="33792" y="0"/>
                    </a:moveTo>
                    <a:lnTo>
                      <a:pt x="2164299" y="0"/>
                    </a:lnTo>
                    <a:cubicBezTo>
                      <a:pt x="2173262" y="0"/>
                      <a:pt x="2181857" y="3560"/>
                      <a:pt x="2188194" y="9898"/>
                    </a:cubicBezTo>
                    <a:cubicBezTo>
                      <a:pt x="2194531" y="16235"/>
                      <a:pt x="2198092" y="24830"/>
                      <a:pt x="2198092" y="33792"/>
                    </a:cubicBezTo>
                    <a:lnTo>
                      <a:pt x="2198092" y="109559"/>
                    </a:lnTo>
                    <a:cubicBezTo>
                      <a:pt x="2198092" y="118521"/>
                      <a:pt x="2194531" y="127116"/>
                      <a:pt x="2188194" y="133453"/>
                    </a:cubicBezTo>
                    <a:cubicBezTo>
                      <a:pt x="2181857" y="139791"/>
                      <a:pt x="2173262" y="143351"/>
                      <a:pt x="2164299" y="143351"/>
                    </a:cubicBezTo>
                    <a:lnTo>
                      <a:pt x="33792" y="143351"/>
                    </a:lnTo>
                    <a:cubicBezTo>
                      <a:pt x="24830" y="143351"/>
                      <a:pt x="16235" y="139791"/>
                      <a:pt x="9898" y="133453"/>
                    </a:cubicBezTo>
                    <a:cubicBezTo>
                      <a:pt x="3560" y="127116"/>
                      <a:pt x="0" y="118521"/>
                      <a:pt x="0" y="109559"/>
                    </a:cubicBezTo>
                    <a:lnTo>
                      <a:pt x="0" y="33792"/>
                    </a:lnTo>
                    <a:cubicBezTo>
                      <a:pt x="0" y="24830"/>
                      <a:pt x="3560" y="16235"/>
                      <a:pt x="9898" y="9898"/>
                    </a:cubicBezTo>
                    <a:cubicBezTo>
                      <a:pt x="16235" y="3560"/>
                      <a:pt x="24830" y="0"/>
                      <a:pt x="33792" y="0"/>
                    </a:cubicBezTo>
                    <a:close/>
                  </a:path>
                </a:pathLst>
              </a:custGeom>
              <a:solidFill>
                <a:srgbClr val="38ABD1"/>
              </a:solidFill>
              <a:ln cap="rnd">
                <a:noFill/>
                <a:prstDash val="solid"/>
                <a:round/>
              </a:ln>
            </p:spPr>
          </p:sp>
          <p:sp>
            <p:nvSpPr>
              <p:cNvPr name="TextBox 25" id="25"/>
              <p:cNvSpPr txBox="true"/>
              <p:nvPr/>
            </p:nvSpPr>
            <p:spPr>
              <a:xfrm>
                <a:off x="0" y="-19050"/>
                <a:ext cx="2198092" cy="162401"/>
              </a:xfrm>
              <a:prstGeom prst="rect">
                <a:avLst/>
              </a:prstGeom>
            </p:spPr>
            <p:txBody>
              <a:bodyPr anchor="ctr" rtlCol="false" tIns="50800" lIns="50800" bIns="50800" rIns="50800"/>
              <a:lstStyle/>
              <a:p>
                <a:pPr algn="ctr" marL="0" indent="0" lvl="0">
                  <a:lnSpc>
                    <a:spcPts val="2080"/>
                  </a:lnSpc>
                  <a:spcBef>
                    <a:spcPct val="0"/>
                  </a:spcBef>
                </a:pPr>
              </a:p>
            </p:txBody>
          </p:sp>
        </p:grpSp>
        <p:grpSp>
          <p:nvGrpSpPr>
            <p:cNvPr name="Group 26" id="26"/>
            <p:cNvGrpSpPr/>
            <p:nvPr/>
          </p:nvGrpSpPr>
          <p:grpSpPr>
            <a:xfrm rot="0">
              <a:off x="0" y="0"/>
              <a:ext cx="15578974" cy="1057546"/>
              <a:chOff x="0" y="0"/>
              <a:chExt cx="2198092" cy="149213"/>
            </a:xfrm>
          </p:grpSpPr>
          <p:sp>
            <p:nvSpPr>
              <p:cNvPr name="Freeform 27" id="27"/>
              <p:cNvSpPr/>
              <p:nvPr/>
            </p:nvSpPr>
            <p:spPr>
              <a:xfrm flipH="false" flipV="false" rot="0">
                <a:off x="0" y="0"/>
                <a:ext cx="2198092" cy="149213"/>
              </a:xfrm>
              <a:custGeom>
                <a:avLst/>
                <a:gdLst/>
                <a:ahLst/>
                <a:cxnLst/>
                <a:rect r="r" b="b" t="t" l="l"/>
                <a:pathLst>
                  <a:path h="149213" w="2198092">
                    <a:moveTo>
                      <a:pt x="33792" y="0"/>
                    </a:moveTo>
                    <a:lnTo>
                      <a:pt x="2164299" y="0"/>
                    </a:lnTo>
                    <a:cubicBezTo>
                      <a:pt x="2173262" y="0"/>
                      <a:pt x="2181857" y="3560"/>
                      <a:pt x="2188194" y="9898"/>
                    </a:cubicBezTo>
                    <a:cubicBezTo>
                      <a:pt x="2194531" y="16235"/>
                      <a:pt x="2198092" y="24830"/>
                      <a:pt x="2198092" y="33792"/>
                    </a:cubicBezTo>
                    <a:lnTo>
                      <a:pt x="2198092" y="115420"/>
                    </a:lnTo>
                    <a:cubicBezTo>
                      <a:pt x="2198092" y="124383"/>
                      <a:pt x="2194531" y="132978"/>
                      <a:pt x="2188194" y="139315"/>
                    </a:cubicBezTo>
                    <a:cubicBezTo>
                      <a:pt x="2181857" y="145653"/>
                      <a:pt x="2173262" y="149213"/>
                      <a:pt x="2164299" y="149213"/>
                    </a:cubicBezTo>
                    <a:lnTo>
                      <a:pt x="33792" y="149213"/>
                    </a:lnTo>
                    <a:cubicBezTo>
                      <a:pt x="24830" y="149213"/>
                      <a:pt x="16235" y="145653"/>
                      <a:pt x="9898" y="139315"/>
                    </a:cubicBezTo>
                    <a:cubicBezTo>
                      <a:pt x="3560" y="132978"/>
                      <a:pt x="0" y="124383"/>
                      <a:pt x="0" y="115420"/>
                    </a:cubicBezTo>
                    <a:lnTo>
                      <a:pt x="0" y="33792"/>
                    </a:lnTo>
                    <a:cubicBezTo>
                      <a:pt x="0" y="24830"/>
                      <a:pt x="3560" y="16235"/>
                      <a:pt x="9898" y="9898"/>
                    </a:cubicBezTo>
                    <a:cubicBezTo>
                      <a:pt x="16235" y="3560"/>
                      <a:pt x="24830" y="0"/>
                      <a:pt x="33792" y="0"/>
                    </a:cubicBezTo>
                    <a:close/>
                  </a:path>
                </a:pathLst>
              </a:custGeom>
              <a:solidFill>
                <a:srgbClr val="FFFFFF"/>
              </a:solidFill>
            </p:spPr>
          </p:sp>
          <p:sp>
            <p:nvSpPr>
              <p:cNvPr name="TextBox 28" id="28"/>
              <p:cNvSpPr txBox="true"/>
              <p:nvPr/>
            </p:nvSpPr>
            <p:spPr>
              <a:xfrm>
                <a:off x="0" y="-38100"/>
                <a:ext cx="2198092" cy="187313"/>
              </a:xfrm>
              <a:prstGeom prst="rect">
                <a:avLst/>
              </a:prstGeom>
            </p:spPr>
            <p:txBody>
              <a:bodyPr anchor="ctr" rtlCol="false" tIns="50800" lIns="50800" bIns="50800" rIns="50800"/>
              <a:lstStyle/>
              <a:p>
                <a:pPr algn="ctr">
                  <a:lnSpc>
                    <a:spcPts val="4549"/>
                  </a:lnSpc>
                </a:pPr>
                <a:r>
                  <a:rPr lang="en-US" b="true" sz="3499">
                    <a:solidFill>
                      <a:srgbClr val="000001"/>
                    </a:solidFill>
                    <a:latin typeface="Klein Bold"/>
                    <a:ea typeface="Klein Bold"/>
                    <a:cs typeface="Klein Bold"/>
                    <a:sym typeface="Klein Bold"/>
                  </a:rPr>
                  <a:t>Q</a:t>
                </a:r>
                <a:r>
                  <a:rPr lang="en-US" b="true" sz="3499">
                    <a:solidFill>
                      <a:srgbClr val="000001"/>
                    </a:solidFill>
                    <a:latin typeface="Klein Bold"/>
                    <a:ea typeface="Klein Bold"/>
                    <a:cs typeface="Klein Bold"/>
                    <a:sym typeface="Klein Bold"/>
                  </a:rPr>
                  <a:t>uadrat Analysis</a:t>
                </a:r>
              </a:p>
            </p:txBody>
          </p:sp>
        </p:grpSp>
      </p:grpSp>
      <p:sp>
        <p:nvSpPr>
          <p:cNvPr name="Freeform 29" id="29"/>
          <p:cNvSpPr/>
          <p:nvPr/>
        </p:nvSpPr>
        <p:spPr>
          <a:xfrm flipH="false" flipV="false" rot="0">
            <a:off x="748060" y="3000846"/>
            <a:ext cx="7724080" cy="6024953"/>
          </a:xfrm>
          <a:custGeom>
            <a:avLst/>
            <a:gdLst/>
            <a:ahLst/>
            <a:cxnLst/>
            <a:rect r="r" b="b" t="t" l="l"/>
            <a:pathLst>
              <a:path h="6024953" w="7724080">
                <a:moveTo>
                  <a:pt x="0" y="0"/>
                </a:moveTo>
                <a:lnTo>
                  <a:pt x="7724081" y="0"/>
                </a:lnTo>
                <a:lnTo>
                  <a:pt x="7724081" y="6024952"/>
                </a:lnTo>
                <a:lnTo>
                  <a:pt x="0" y="6024952"/>
                </a:lnTo>
                <a:lnTo>
                  <a:pt x="0" y="0"/>
                </a:lnTo>
                <a:close/>
              </a:path>
            </a:pathLst>
          </a:custGeom>
          <a:blipFill>
            <a:blip r:embed="rId2"/>
            <a:stretch>
              <a:fillRect l="-16872" t="0" r="-19973" b="0"/>
            </a:stretch>
          </a:blipFill>
        </p:spPr>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D39059"/>
        </a:solidFill>
      </p:bgPr>
    </p:bg>
    <p:spTree>
      <p:nvGrpSpPr>
        <p:cNvPr id="1" name=""/>
        <p:cNvGrpSpPr/>
        <p:nvPr/>
      </p:nvGrpSpPr>
      <p:grpSpPr>
        <a:xfrm>
          <a:off x="0" y="0"/>
          <a:ext cx="0" cy="0"/>
          <a:chOff x="0" y="0"/>
          <a:chExt cx="0" cy="0"/>
        </a:xfrm>
      </p:grpSpPr>
      <p:grpSp>
        <p:nvGrpSpPr>
          <p:cNvPr name="Group 2" id="2"/>
          <p:cNvGrpSpPr/>
          <p:nvPr/>
        </p:nvGrpSpPr>
        <p:grpSpPr>
          <a:xfrm rot="0">
            <a:off x="-476250" y="-190500"/>
            <a:ext cx="19240500" cy="2381250"/>
            <a:chOff x="0" y="0"/>
            <a:chExt cx="25654000" cy="3175000"/>
          </a:xfrm>
        </p:grpSpPr>
        <p:grpSp>
          <p:nvGrpSpPr>
            <p:cNvPr name="Group 3" id="3"/>
            <p:cNvGrpSpPr/>
            <p:nvPr/>
          </p:nvGrpSpPr>
          <p:grpSpPr>
            <a:xfrm rot="0">
              <a:off x="0" y="0"/>
              <a:ext cx="25654000" cy="2984500"/>
              <a:chOff x="0" y="0"/>
              <a:chExt cx="5067457" cy="589531"/>
            </a:xfrm>
          </p:grpSpPr>
          <p:sp>
            <p:nvSpPr>
              <p:cNvPr name="Freeform 4" id="4"/>
              <p:cNvSpPr/>
              <p:nvPr/>
            </p:nvSpPr>
            <p:spPr>
              <a:xfrm flipH="false" flipV="false" rot="0">
                <a:off x="0" y="0"/>
                <a:ext cx="5067457" cy="589531"/>
              </a:xfrm>
              <a:custGeom>
                <a:avLst/>
                <a:gdLst/>
                <a:ahLst/>
                <a:cxnLst/>
                <a:rect r="r" b="b" t="t" l="l"/>
                <a:pathLst>
                  <a:path h="589531" w="5067457">
                    <a:moveTo>
                      <a:pt x="0" y="0"/>
                    </a:moveTo>
                    <a:lnTo>
                      <a:pt x="5067457" y="0"/>
                    </a:lnTo>
                    <a:lnTo>
                      <a:pt x="5067457" y="589531"/>
                    </a:lnTo>
                    <a:lnTo>
                      <a:pt x="0" y="589531"/>
                    </a:lnTo>
                    <a:close/>
                  </a:path>
                </a:pathLst>
              </a:custGeom>
              <a:solidFill>
                <a:srgbClr val="97D4E8"/>
              </a:solidFill>
              <a:ln cap="sq">
                <a:noFill/>
                <a:prstDash val="solid"/>
                <a:miter/>
              </a:ln>
            </p:spPr>
          </p:sp>
          <p:sp>
            <p:nvSpPr>
              <p:cNvPr name="TextBox 5" id="5"/>
              <p:cNvSpPr txBox="true"/>
              <p:nvPr/>
            </p:nvSpPr>
            <p:spPr>
              <a:xfrm>
                <a:off x="0" y="-19050"/>
                <a:ext cx="5067457" cy="608581"/>
              </a:xfrm>
              <a:prstGeom prst="rect">
                <a:avLst/>
              </a:prstGeom>
            </p:spPr>
            <p:txBody>
              <a:bodyPr anchor="ctr" rtlCol="false" tIns="50800" lIns="50800" bIns="50800" rIns="50800"/>
              <a:lstStyle/>
              <a:p>
                <a:pPr algn="ctr" marL="0" indent="0" lvl="0">
                  <a:lnSpc>
                    <a:spcPts val="2080"/>
                  </a:lnSpc>
                  <a:spcBef>
                    <a:spcPct val="0"/>
                  </a:spcBef>
                </a:pPr>
              </a:p>
            </p:txBody>
          </p:sp>
        </p:grpSp>
        <p:grpSp>
          <p:nvGrpSpPr>
            <p:cNvPr name="Group 6" id="6"/>
            <p:cNvGrpSpPr/>
            <p:nvPr/>
          </p:nvGrpSpPr>
          <p:grpSpPr>
            <a:xfrm rot="0">
              <a:off x="0" y="2921000"/>
              <a:ext cx="25654000" cy="254000"/>
              <a:chOff x="0" y="0"/>
              <a:chExt cx="5067457" cy="50173"/>
            </a:xfrm>
          </p:grpSpPr>
          <p:sp>
            <p:nvSpPr>
              <p:cNvPr name="Freeform 7" id="7"/>
              <p:cNvSpPr/>
              <p:nvPr/>
            </p:nvSpPr>
            <p:spPr>
              <a:xfrm flipH="false" flipV="false" rot="0">
                <a:off x="0" y="0"/>
                <a:ext cx="5067457" cy="50173"/>
              </a:xfrm>
              <a:custGeom>
                <a:avLst/>
                <a:gdLst/>
                <a:ahLst/>
                <a:cxnLst/>
                <a:rect r="r" b="b" t="t" l="l"/>
                <a:pathLst>
                  <a:path h="50173" w="5067457">
                    <a:moveTo>
                      <a:pt x="0" y="0"/>
                    </a:moveTo>
                    <a:lnTo>
                      <a:pt x="5067457" y="0"/>
                    </a:lnTo>
                    <a:lnTo>
                      <a:pt x="5067457" y="50173"/>
                    </a:lnTo>
                    <a:lnTo>
                      <a:pt x="0" y="50173"/>
                    </a:lnTo>
                    <a:close/>
                  </a:path>
                </a:pathLst>
              </a:custGeom>
              <a:solidFill>
                <a:srgbClr val="CC7E3E"/>
              </a:solidFill>
              <a:ln cap="sq">
                <a:noFill/>
                <a:prstDash val="solid"/>
                <a:miter/>
              </a:ln>
            </p:spPr>
          </p:sp>
          <p:sp>
            <p:nvSpPr>
              <p:cNvPr name="TextBox 8" id="8"/>
              <p:cNvSpPr txBox="true"/>
              <p:nvPr/>
            </p:nvSpPr>
            <p:spPr>
              <a:xfrm>
                <a:off x="0" y="-19050"/>
                <a:ext cx="5067457" cy="69223"/>
              </a:xfrm>
              <a:prstGeom prst="rect">
                <a:avLst/>
              </a:prstGeom>
            </p:spPr>
            <p:txBody>
              <a:bodyPr anchor="ctr" rtlCol="false" tIns="50800" lIns="50800" bIns="50800" rIns="50800"/>
              <a:lstStyle/>
              <a:p>
                <a:pPr algn="ctr" marL="0" indent="0" lvl="0">
                  <a:lnSpc>
                    <a:spcPts val="2080"/>
                  </a:lnSpc>
                  <a:spcBef>
                    <a:spcPct val="0"/>
                  </a:spcBef>
                </a:pPr>
              </a:p>
            </p:txBody>
          </p:sp>
        </p:grpSp>
      </p:grpSp>
      <p:grpSp>
        <p:nvGrpSpPr>
          <p:cNvPr name="Group 9" id="9"/>
          <p:cNvGrpSpPr/>
          <p:nvPr/>
        </p:nvGrpSpPr>
        <p:grpSpPr>
          <a:xfrm rot="0">
            <a:off x="1261024" y="2704596"/>
            <a:ext cx="7635964" cy="6977321"/>
            <a:chOff x="0" y="0"/>
            <a:chExt cx="1151266" cy="1051963"/>
          </a:xfrm>
        </p:grpSpPr>
        <p:sp>
          <p:nvSpPr>
            <p:cNvPr name="Freeform 10" id="10"/>
            <p:cNvSpPr/>
            <p:nvPr/>
          </p:nvSpPr>
          <p:spPr>
            <a:xfrm flipH="false" flipV="false" rot="0">
              <a:off x="0" y="0"/>
              <a:ext cx="1151266" cy="1051963"/>
            </a:xfrm>
            <a:custGeom>
              <a:avLst/>
              <a:gdLst/>
              <a:ahLst/>
              <a:cxnLst/>
              <a:rect r="r" b="b" t="t" l="l"/>
              <a:pathLst>
                <a:path h="1051963" w="1151266">
                  <a:moveTo>
                    <a:pt x="50694" y="0"/>
                  </a:moveTo>
                  <a:lnTo>
                    <a:pt x="1100572" y="0"/>
                  </a:lnTo>
                  <a:cubicBezTo>
                    <a:pt x="1114017" y="0"/>
                    <a:pt x="1126911" y="5341"/>
                    <a:pt x="1136418" y="14848"/>
                  </a:cubicBezTo>
                  <a:cubicBezTo>
                    <a:pt x="1145925" y="24355"/>
                    <a:pt x="1151266" y="37249"/>
                    <a:pt x="1151266" y="50694"/>
                  </a:cubicBezTo>
                  <a:lnTo>
                    <a:pt x="1151266" y="1001269"/>
                  </a:lnTo>
                  <a:cubicBezTo>
                    <a:pt x="1151266" y="1029267"/>
                    <a:pt x="1128570" y="1051963"/>
                    <a:pt x="1100572" y="1051963"/>
                  </a:cubicBezTo>
                  <a:lnTo>
                    <a:pt x="50694" y="1051963"/>
                  </a:lnTo>
                  <a:cubicBezTo>
                    <a:pt x="37249" y="1051963"/>
                    <a:pt x="24355" y="1046622"/>
                    <a:pt x="14848" y="1037115"/>
                  </a:cubicBezTo>
                  <a:cubicBezTo>
                    <a:pt x="5341" y="1027608"/>
                    <a:pt x="0" y="1014714"/>
                    <a:pt x="0" y="1001269"/>
                  </a:cubicBezTo>
                  <a:lnTo>
                    <a:pt x="0" y="50694"/>
                  </a:lnTo>
                  <a:cubicBezTo>
                    <a:pt x="0" y="37249"/>
                    <a:pt x="5341" y="24355"/>
                    <a:pt x="14848" y="14848"/>
                  </a:cubicBezTo>
                  <a:cubicBezTo>
                    <a:pt x="24355" y="5341"/>
                    <a:pt x="37249" y="0"/>
                    <a:pt x="50694" y="0"/>
                  </a:cubicBezTo>
                  <a:close/>
                </a:path>
              </a:pathLst>
            </a:custGeom>
            <a:solidFill>
              <a:srgbClr val="CC7E3E"/>
            </a:solidFill>
            <a:ln cap="rnd">
              <a:noFill/>
              <a:prstDash val="solid"/>
              <a:round/>
            </a:ln>
          </p:spPr>
        </p:sp>
        <p:sp>
          <p:nvSpPr>
            <p:cNvPr name="TextBox 11" id="11"/>
            <p:cNvSpPr txBox="true"/>
            <p:nvPr/>
          </p:nvSpPr>
          <p:spPr>
            <a:xfrm>
              <a:off x="0" y="-38100"/>
              <a:ext cx="1151266" cy="1090063"/>
            </a:xfrm>
            <a:prstGeom prst="rect">
              <a:avLst/>
            </a:prstGeom>
          </p:spPr>
          <p:txBody>
            <a:bodyPr anchor="ctr" rtlCol="false" tIns="316933" lIns="316933" bIns="316933" rIns="316933"/>
            <a:lstStyle/>
            <a:p>
              <a:pPr algn="ctr" marL="0" indent="0" lvl="0">
                <a:lnSpc>
                  <a:spcPts val="3380"/>
                </a:lnSpc>
                <a:spcBef>
                  <a:spcPct val="0"/>
                </a:spcBef>
              </a:pPr>
            </a:p>
          </p:txBody>
        </p:sp>
      </p:grpSp>
      <p:grpSp>
        <p:nvGrpSpPr>
          <p:cNvPr name="Group 12" id="12"/>
          <p:cNvGrpSpPr/>
          <p:nvPr/>
        </p:nvGrpSpPr>
        <p:grpSpPr>
          <a:xfrm rot="0">
            <a:off x="550191" y="2545115"/>
            <a:ext cx="8172260" cy="6977321"/>
            <a:chOff x="0" y="0"/>
            <a:chExt cx="1232123" cy="1051963"/>
          </a:xfrm>
        </p:grpSpPr>
        <p:sp>
          <p:nvSpPr>
            <p:cNvPr name="Freeform 13" id="13"/>
            <p:cNvSpPr/>
            <p:nvPr/>
          </p:nvSpPr>
          <p:spPr>
            <a:xfrm flipH="false" flipV="false" rot="0">
              <a:off x="0" y="0"/>
              <a:ext cx="1232123" cy="1051963"/>
            </a:xfrm>
            <a:custGeom>
              <a:avLst/>
              <a:gdLst/>
              <a:ahLst/>
              <a:cxnLst/>
              <a:rect r="r" b="b" t="t" l="l"/>
              <a:pathLst>
                <a:path h="1051963" w="1232123">
                  <a:moveTo>
                    <a:pt x="47367" y="0"/>
                  </a:moveTo>
                  <a:lnTo>
                    <a:pt x="1184756" y="0"/>
                  </a:lnTo>
                  <a:cubicBezTo>
                    <a:pt x="1197318" y="0"/>
                    <a:pt x="1209366" y="4990"/>
                    <a:pt x="1218249" y="13873"/>
                  </a:cubicBezTo>
                  <a:cubicBezTo>
                    <a:pt x="1227132" y="22757"/>
                    <a:pt x="1232123" y="34805"/>
                    <a:pt x="1232123" y="47367"/>
                  </a:cubicBezTo>
                  <a:lnTo>
                    <a:pt x="1232123" y="1004596"/>
                  </a:lnTo>
                  <a:cubicBezTo>
                    <a:pt x="1232123" y="1030756"/>
                    <a:pt x="1210916" y="1051963"/>
                    <a:pt x="1184756" y="1051963"/>
                  </a:cubicBezTo>
                  <a:lnTo>
                    <a:pt x="47367" y="1051963"/>
                  </a:lnTo>
                  <a:cubicBezTo>
                    <a:pt x="34805" y="1051963"/>
                    <a:pt x="22757" y="1046973"/>
                    <a:pt x="13873" y="1038090"/>
                  </a:cubicBezTo>
                  <a:cubicBezTo>
                    <a:pt x="4990" y="1029207"/>
                    <a:pt x="0" y="1017159"/>
                    <a:pt x="0" y="1004596"/>
                  </a:cubicBezTo>
                  <a:lnTo>
                    <a:pt x="0" y="47367"/>
                  </a:lnTo>
                  <a:cubicBezTo>
                    <a:pt x="0" y="21207"/>
                    <a:pt x="21207" y="0"/>
                    <a:pt x="47367" y="0"/>
                  </a:cubicBezTo>
                  <a:close/>
                </a:path>
              </a:pathLst>
            </a:custGeom>
            <a:solidFill>
              <a:srgbClr val="FFFFFF"/>
            </a:solidFill>
          </p:spPr>
        </p:sp>
        <p:sp>
          <p:nvSpPr>
            <p:cNvPr name="TextBox 14" id="14"/>
            <p:cNvSpPr txBox="true"/>
            <p:nvPr/>
          </p:nvSpPr>
          <p:spPr>
            <a:xfrm>
              <a:off x="0" y="-38100"/>
              <a:ext cx="1232123" cy="1090063"/>
            </a:xfrm>
            <a:prstGeom prst="rect">
              <a:avLst/>
            </a:prstGeom>
          </p:spPr>
          <p:txBody>
            <a:bodyPr anchor="ctr" rtlCol="false" tIns="316933" lIns="316933" bIns="316933" rIns="316933"/>
            <a:lstStyle/>
            <a:p>
              <a:pPr algn="ctr">
                <a:lnSpc>
                  <a:spcPts val="3380"/>
                </a:lnSpc>
              </a:pPr>
            </a:p>
          </p:txBody>
        </p:sp>
      </p:grpSp>
      <p:grpSp>
        <p:nvGrpSpPr>
          <p:cNvPr name="Group 15" id="15"/>
          <p:cNvGrpSpPr/>
          <p:nvPr/>
        </p:nvGrpSpPr>
        <p:grpSpPr>
          <a:xfrm rot="0">
            <a:off x="9525000" y="2545115"/>
            <a:ext cx="8115300" cy="7460551"/>
            <a:chOff x="0" y="0"/>
            <a:chExt cx="10820400" cy="9947402"/>
          </a:xfrm>
        </p:grpSpPr>
        <p:grpSp>
          <p:nvGrpSpPr>
            <p:cNvPr name="Group 16" id="16"/>
            <p:cNvGrpSpPr/>
            <p:nvPr/>
          </p:nvGrpSpPr>
          <p:grpSpPr>
            <a:xfrm rot="0">
              <a:off x="248745" y="551637"/>
              <a:ext cx="10571655" cy="8964099"/>
              <a:chOff x="0" y="0"/>
              <a:chExt cx="1491592" cy="1264776"/>
            </a:xfrm>
          </p:grpSpPr>
          <p:sp>
            <p:nvSpPr>
              <p:cNvPr name="Freeform 17" id="17"/>
              <p:cNvSpPr/>
              <p:nvPr/>
            </p:nvSpPr>
            <p:spPr>
              <a:xfrm flipH="false" flipV="false" rot="0">
                <a:off x="0" y="0"/>
                <a:ext cx="1491592" cy="1264776"/>
              </a:xfrm>
              <a:custGeom>
                <a:avLst/>
                <a:gdLst/>
                <a:ahLst/>
                <a:cxnLst/>
                <a:rect r="r" b="b" t="t" l="l"/>
                <a:pathLst>
                  <a:path h="1264776" w="1491592">
                    <a:moveTo>
                      <a:pt x="48822" y="0"/>
                    </a:moveTo>
                    <a:lnTo>
                      <a:pt x="1442770" y="0"/>
                    </a:lnTo>
                    <a:cubicBezTo>
                      <a:pt x="1469733" y="0"/>
                      <a:pt x="1491592" y="21858"/>
                      <a:pt x="1491592" y="48822"/>
                    </a:cubicBezTo>
                    <a:lnTo>
                      <a:pt x="1491592" y="1215954"/>
                    </a:lnTo>
                    <a:cubicBezTo>
                      <a:pt x="1491592" y="1228902"/>
                      <a:pt x="1486448" y="1241320"/>
                      <a:pt x="1477292" y="1250476"/>
                    </a:cubicBezTo>
                    <a:cubicBezTo>
                      <a:pt x="1468136" y="1259632"/>
                      <a:pt x="1455718" y="1264776"/>
                      <a:pt x="1442770" y="1264776"/>
                    </a:cubicBezTo>
                    <a:lnTo>
                      <a:pt x="48822" y="1264776"/>
                    </a:lnTo>
                    <a:cubicBezTo>
                      <a:pt x="35874" y="1264776"/>
                      <a:pt x="23455" y="1259632"/>
                      <a:pt x="14300" y="1250476"/>
                    </a:cubicBezTo>
                    <a:cubicBezTo>
                      <a:pt x="5144" y="1241320"/>
                      <a:pt x="0" y="1228902"/>
                      <a:pt x="0" y="1215954"/>
                    </a:cubicBezTo>
                    <a:lnTo>
                      <a:pt x="0" y="48822"/>
                    </a:lnTo>
                    <a:cubicBezTo>
                      <a:pt x="0" y="35874"/>
                      <a:pt x="5144" y="23455"/>
                      <a:pt x="14300" y="14300"/>
                    </a:cubicBezTo>
                    <a:cubicBezTo>
                      <a:pt x="23455" y="5144"/>
                      <a:pt x="35874" y="0"/>
                      <a:pt x="48822" y="0"/>
                    </a:cubicBezTo>
                    <a:close/>
                  </a:path>
                </a:pathLst>
              </a:custGeom>
              <a:solidFill>
                <a:srgbClr val="CC7E3E"/>
              </a:solidFill>
              <a:ln cap="rnd">
                <a:noFill/>
                <a:prstDash val="solid"/>
                <a:round/>
              </a:ln>
            </p:spPr>
          </p:sp>
          <p:sp>
            <p:nvSpPr>
              <p:cNvPr name="TextBox 18" id="18"/>
              <p:cNvSpPr txBox="true"/>
              <p:nvPr/>
            </p:nvSpPr>
            <p:spPr>
              <a:xfrm>
                <a:off x="0" y="-180975"/>
                <a:ext cx="1491592" cy="1445751"/>
              </a:xfrm>
              <a:prstGeom prst="rect">
                <a:avLst/>
              </a:prstGeom>
            </p:spPr>
            <p:txBody>
              <a:bodyPr anchor="ctr" rtlCol="false" tIns="254000" lIns="254000" bIns="254000" rIns="254000"/>
              <a:lstStyle/>
              <a:p>
                <a:pPr algn="just" marL="0" indent="0" lvl="0">
                  <a:lnSpc>
                    <a:spcPts val="4888"/>
                  </a:lnSpc>
                </a:pPr>
              </a:p>
            </p:txBody>
          </p:sp>
        </p:grpSp>
        <p:grpSp>
          <p:nvGrpSpPr>
            <p:cNvPr name="Group 19" id="19"/>
            <p:cNvGrpSpPr/>
            <p:nvPr/>
          </p:nvGrpSpPr>
          <p:grpSpPr>
            <a:xfrm rot="0">
              <a:off x="0" y="0"/>
              <a:ext cx="10820400" cy="9947402"/>
              <a:chOff x="0" y="0"/>
              <a:chExt cx="1526688" cy="1403513"/>
            </a:xfrm>
          </p:grpSpPr>
          <p:sp>
            <p:nvSpPr>
              <p:cNvPr name="Freeform 20" id="20"/>
              <p:cNvSpPr/>
              <p:nvPr/>
            </p:nvSpPr>
            <p:spPr>
              <a:xfrm flipH="false" flipV="false" rot="0">
                <a:off x="0" y="0"/>
                <a:ext cx="1526688" cy="1403513"/>
              </a:xfrm>
              <a:custGeom>
                <a:avLst/>
                <a:gdLst/>
                <a:ahLst/>
                <a:cxnLst/>
                <a:rect r="r" b="b" t="t" l="l"/>
                <a:pathLst>
                  <a:path h="1403513" w="1526688">
                    <a:moveTo>
                      <a:pt x="47700" y="0"/>
                    </a:moveTo>
                    <a:lnTo>
                      <a:pt x="1478988" y="0"/>
                    </a:lnTo>
                    <a:cubicBezTo>
                      <a:pt x="1491639" y="0"/>
                      <a:pt x="1503772" y="5025"/>
                      <a:pt x="1512717" y="13971"/>
                    </a:cubicBezTo>
                    <a:cubicBezTo>
                      <a:pt x="1521662" y="22916"/>
                      <a:pt x="1526688" y="35049"/>
                      <a:pt x="1526688" y="47700"/>
                    </a:cubicBezTo>
                    <a:lnTo>
                      <a:pt x="1526688" y="1355814"/>
                    </a:lnTo>
                    <a:cubicBezTo>
                      <a:pt x="1526688" y="1368465"/>
                      <a:pt x="1521662" y="1380597"/>
                      <a:pt x="1512717" y="1389543"/>
                    </a:cubicBezTo>
                    <a:cubicBezTo>
                      <a:pt x="1503772" y="1398488"/>
                      <a:pt x="1491639" y="1403513"/>
                      <a:pt x="1478988" y="1403513"/>
                    </a:cubicBezTo>
                    <a:lnTo>
                      <a:pt x="47700" y="1403513"/>
                    </a:lnTo>
                    <a:cubicBezTo>
                      <a:pt x="35049" y="1403513"/>
                      <a:pt x="22916" y="1398488"/>
                      <a:pt x="13971" y="1389543"/>
                    </a:cubicBezTo>
                    <a:cubicBezTo>
                      <a:pt x="5025" y="1380597"/>
                      <a:pt x="0" y="1368465"/>
                      <a:pt x="0" y="1355814"/>
                    </a:cubicBezTo>
                    <a:lnTo>
                      <a:pt x="0" y="47700"/>
                    </a:lnTo>
                    <a:cubicBezTo>
                      <a:pt x="0" y="35049"/>
                      <a:pt x="5025" y="22916"/>
                      <a:pt x="13971" y="13971"/>
                    </a:cubicBezTo>
                    <a:cubicBezTo>
                      <a:pt x="22916" y="5025"/>
                      <a:pt x="35049" y="0"/>
                      <a:pt x="47700" y="0"/>
                    </a:cubicBezTo>
                    <a:close/>
                  </a:path>
                </a:pathLst>
              </a:custGeom>
              <a:solidFill>
                <a:srgbClr val="FFFFFF"/>
              </a:solidFill>
            </p:spPr>
          </p:sp>
          <p:sp>
            <p:nvSpPr>
              <p:cNvPr name="TextBox 21" id="21"/>
              <p:cNvSpPr txBox="true"/>
              <p:nvPr/>
            </p:nvSpPr>
            <p:spPr>
              <a:xfrm>
                <a:off x="0" y="-142875"/>
                <a:ext cx="1526688" cy="1546388"/>
              </a:xfrm>
              <a:prstGeom prst="rect">
                <a:avLst/>
              </a:prstGeom>
            </p:spPr>
            <p:txBody>
              <a:bodyPr anchor="ctr" rtlCol="false" tIns="254000" lIns="254000" bIns="254000" rIns="254000"/>
              <a:lstStyle/>
              <a:p>
                <a:pPr algn="just" marL="431796" indent="-215898" lvl="1">
                  <a:lnSpc>
                    <a:spcPts val="3759"/>
                  </a:lnSpc>
                  <a:buAutoNum type="arabicPeriod" startAt="1"/>
                </a:pPr>
                <a:r>
                  <a:rPr lang="en-US" sz="1999" spc="209">
                    <a:solidFill>
                      <a:srgbClr val="000001"/>
                    </a:solidFill>
                    <a:latin typeface="Klein"/>
                    <a:ea typeface="Klein"/>
                    <a:cs typeface="Klein"/>
                    <a:sym typeface="Klein"/>
                  </a:rPr>
                  <a:t>Kurva L-observed berada di atas L-teoritis (CSR) pada seluruh jarak r</a:t>
                </a:r>
              </a:p>
              <a:p>
                <a:pPr algn="just" marL="431796" indent="-215898" lvl="1">
                  <a:lnSpc>
                    <a:spcPts val="3759"/>
                  </a:lnSpc>
                  <a:buAutoNum type="arabicPeriod" startAt="1"/>
                </a:pPr>
                <a:r>
                  <a:rPr lang="en-US" sz="1999" spc="209">
                    <a:solidFill>
                      <a:srgbClr val="000001"/>
                    </a:solidFill>
                    <a:latin typeface="Klein"/>
                    <a:ea typeface="Klein"/>
                    <a:cs typeface="Klein"/>
                    <a:sym typeface="Klein"/>
                  </a:rPr>
                  <a:t>Menunjukkan pola clustered (mengelompok), bukan acak</a:t>
                </a:r>
              </a:p>
              <a:p>
                <a:pPr algn="just" marL="431796" indent="-215898" lvl="1">
                  <a:lnSpc>
                    <a:spcPts val="3759"/>
                  </a:lnSpc>
                  <a:buAutoNum type="arabicPeriod" startAt="1"/>
                </a:pPr>
                <a:r>
                  <a:rPr lang="en-US" sz="1999" spc="209">
                    <a:solidFill>
                      <a:srgbClr val="000001"/>
                    </a:solidFill>
                    <a:latin typeface="Klein"/>
                    <a:ea typeface="Klein"/>
                    <a:cs typeface="Klein"/>
                    <a:sym typeface="Klein"/>
                  </a:rPr>
                  <a:t>Pengelompokan terjadi pada multi-skala jarak, bukan hanya jarak dekat</a:t>
                </a:r>
              </a:p>
              <a:p>
                <a:pPr algn="just" marL="431796" indent="-215898" lvl="1">
                  <a:lnSpc>
                    <a:spcPts val="3759"/>
                  </a:lnSpc>
                  <a:buAutoNum type="arabicPeriod" startAt="1"/>
                </a:pPr>
                <a:r>
                  <a:rPr lang="en-US" sz="1999" spc="209">
                    <a:solidFill>
                      <a:srgbClr val="000001"/>
                    </a:solidFill>
                    <a:latin typeface="Klein"/>
                    <a:ea typeface="Klein"/>
                    <a:cs typeface="Klein"/>
                    <a:sym typeface="Klein"/>
                  </a:rPr>
                  <a:t>Tidak ada indikasi pola random atau dispersed</a:t>
                </a:r>
              </a:p>
              <a:p>
                <a:pPr algn="just" marL="431796" indent="-215898" lvl="1">
                  <a:lnSpc>
                    <a:spcPts val="3759"/>
                  </a:lnSpc>
                  <a:buAutoNum type="arabicPeriod" startAt="1"/>
                </a:pPr>
                <a:r>
                  <a:rPr lang="en-US" sz="1999" spc="209">
                    <a:solidFill>
                      <a:srgbClr val="000001"/>
                    </a:solidFill>
                    <a:latin typeface="Klein"/>
                    <a:ea typeface="Klein"/>
                    <a:cs typeface="Klein"/>
                    <a:sym typeface="Klein"/>
                  </a:rPr>
                  <a:t>Hasil konsisten dengan Nearest Neighbor Analysis</a:t>
                </a:r>
              </a:p>
              <a:p>
                <a:pPr algn="just" marL="431796" indent="-215898" lvl="1">
                  <a:lnSpc>
                    <a:spcPts val="3759"/>
                  </a:lnSpc>
                  <a:buAutoNum type="arabicPeriod" startAt="1"/>
                </a:pPr>
                <a:r>
                  <a:rPr lang="en-US" sz="1999" spc="209">
                    <a:solidFill>
                      <a:srgbClr val="000001"/>
                    </a:solidFill>
                    <a:latin typeface="Klein"/>
                    <a:ea typeface="Klein"/>
                    <a:cs typeface="Klein"/>
                    <a:sym typeface="Klein"/>
                  </a:rPr>
                  <a:t>NNI = 0,66 (&lt; 1) → pola mengelompok</a:t>
                </a:r>
              </a:p>
              <a:p>
                <a:pPr algn="just" marL="431796" indent="-215898" lvl="1">
                  <a:lnSpc>
                    <a:spcPts val="3759"/>
                  </a:lnSpc>
                  <a:buAutoNum type="arabicPeriod" startAt="1"/>
                </a:pPr>
                <a:r>
                  <a:rPr lang="en-US" sz="1999" spc="209">
                    <a:solidFill>
                      <a:srgbClr val="000001"/>
                    </a:solidFill>
                    <a:latin typeface="Klein"/>
                    <a:ea typeface="Klein"/>
                    <a:cs typeface="Klein"/>
                    <a:sym typeface="Klein"/>
                  </a:rPr>
                  <a:t>Z-score = −7,99 → signifikan secara statistik</a:t>
                </a:r>
              </a:p>
              <a:p>
                <a:pPr algn="just" marL="431796" indent="-215898" lvl="1">
                  <a:lnSpc>
                    <a:spcPts val="3759"/>
                  </a:lnSpc>
                  <a:buAutoNum type="arabicPeriod" startAt="1"/>
                </a:pPr>
                <a:r>
                  <a:rPr lang="en-US" sz="1999" spc="209">
                    <a:solidFill>
                      <a:srgbClr val="000001"/>
                    </a:solidFill>
                    <a:latin typeface="Klein"/>
                    <a:ea typeface="Klein"/>
                    <a:cs typeface="Klein"/>
                    <a:sym typeface="Klein"/>
                  </a:rPr>
                  <a:t>Kesimpulan: Titik banjir di DKI Jakarta membentuk klaster spasial yang kuat dan signifikan</a:t>
                </a:r>
              </a:p>
            </p:txBody>
          </p:sp>
        </p:grpSp>
      </p:grpSp>
      <p:grpSp>
        <p:nvGrpSpPr>
          <p:cNvPr name="Group 22" id="22"/>
          <p:cNvGrpSpPr/>
          <p:nvPr/>
        </p:nvGrpSpPr>
        <p:grpSpPr>
          <a:xfrm rot="0">
            <a:off x="3222670" y="569939"/>
            <a:ext cx="11842660" cy="917522"/>
            <a:chOff x="0" y="0"/>
            <a:chExt cx="15790214" cy="1223363"/>
          </a:xfrm>
        </p:grpSpPr>
        <p:grpSp>
          <p:nvGrpSpPr>
            <p:cNvPr name="Group 23" id="23"/>
            <p:cNvGrpSpPr/>
            <p:nvPr/>
          </p:nvGrpSpPr>
          <p:grpSpPr>
            <a:xfrm rot="0">
              <a:off x="211240" y="207363"/>
              <a:ext cx="15578974" cy="1016000"/>
              <a:chOff x="0" y="0"/>
              <a:chExt cx="2198092" cy="143351"/>
            </a:xfrm>
          </p:grpSpPr>
          <p:sp>
            <p:nvSpPr>
              <p:cNvPr name="Freeform 24" id="24"/>
              <p:cNvSpPr/>
              <p:nvPr/>
            </p:nvSpPr>
            <p:spPr>
              <a:xfrm flipH="false" flipV="false" rot="0">
                <a:off x="0" y="0"/>
                <a:ext cx="2198092" cy="143351"/>
              </a:xfrm>
              <a:custGeom>
                <a:avLst/>
                <a:gdLst/>
                <a:ahLst/>
                <a:cxnLst/>
                <a:rect r="r" b="b" t="t" l="l"/>
                <a:pathLst>
                  <a:path h="143351" w="2198092">
                    <a:moveTo>
                      <a:pt x="33792" y="0"/>
                    </a:moveTo>
                    <a:lnTo>
                      <a:pt x="2164299" y="0"/>
                    </a:lnTo>
                    <a:cubicBezTo>
                      <a:pt x="2173262" y="0"/>
                      <a:pt x="2181857" y="3560"/>
                      <a:pt x="2188194" y="9898"/>
                    </a:cubicBezTo>
                    <a:cubicBezTo>
                      <a:pt x="2194531" y="16235"/>
                      <a:pt x="2198092" y="24830"/>
                      <a:pt x="2198092" y="33792"/>
                    </a:cubicBezTo>
                    <a:lnTo>
                      <a:pt x="2198092" y="109559"/>
                    </a:lnTo>
                    <a:cubicBezTo>
                      <a:pt x="2198092" y="118521"/>
                      <a:pt x="2194531" y="127116"/>
                      <a:pt x="2188194" y="133453"/>
                    </a:cubicBezTo>
                    <a:cubicBezTo>
                      <a:pt x="2181857" y="139791"/>
                      <a:pt x="2173262" y="143351"/>
                      <a:pt x="2164299" y="143351"/>
                    </a:cubicBezTo>
                    <a:lnTo>
                      <a:pt x="33792" y="143351"/>
                    </a:lnTo>
                    <a:cubicBezTo>
                      <a:pt x="24830" y="143351"/>
                      <a:pt x="16235" y="139791"/>
                      <a:pt x="9898" y="133453"/>
                    </a:cubicBezTo>
                    <a:cubicBezTo>
                      <a:pt x="3560" y="127116"/>
                      <a:pt x="0" y="118521"/>
                      <a:pt x="0" y="109559"/>
                    </a:cubicBezTo>
                    <a:lnTo>
                      <a:pt x="0" y="33792"/>
                    </a:lnTo>
                    <a:cubicBezTo>
                      <a:pt x="0" y="24830"/>
                      <a:pt x="3560" y="16235"/>
                      <a:pt x="9898" y="9898"/>
                    </a:cubicBezTo>
                    <a:cubicBezTo>
                      <a:pt x="16235" y="3560"/>
                      <a:pt x="24830" y="0"/>
                      <a:pt x="33792" y="0"/>
                    </a:cubicBezTo>
                    <a:close/>
                  </a:path>
                </a:pathLst>
              </a:custGeom>
              <a:solidFill>
                <a:srgbClr val="38ABD1"/>
              </a:solidFill>
              <a:ln cap="rnd">
                <a:noFill/>
                <a:prstDash val="solid"/>
                <a:round/>
              </a:ln>
            </p:spPr>
          </p:sp>
          <p:sp>
            <p:nvSpPr>
              <p:cNvPr name="TextBox 25" id="25"/>
              <p:cNvSpPr txBox="true"/>
              <p:nvPr/>
            </p:nvSpPr>
            <p:spPr>
              <a:xfrm>
                <a:off x="0" y="-19050"/>
                <a:ext cx="2198092" cy="162401"/>
              </a:xfrm>
              <a:prstGeom prst="rect">
                <a:avLst/>
              </a:prstGeom>
            </p:spPr>
            <p:txBody>
              <a:bodyPr anchor="ctr" rtlCol="false" tIns="50800" lIns="50800" bIns="50800" rIns="50800"/>
              <a:lstStyle/>
              <a:p>
                <a:pPr algn="ctr" marL="0" indent="0" lvl="0">
                  <a:lnSpc>
                    <a:spcPts val="2080"/>
                  </a:lnSpc>
                  <a:spcBef>
                    <a:spcPct val="0"/>
                  </a:spcBef>
                </a:pPr>
              </a:p>
            </p:txBody>
          </p:sp>
        </p:grpSp>
        <p:grpSp>
          <p:nvGrpSpPr>
            <p:cNvPr name="Group 26" id="26"/>
            <p:cNvGrpSpPr/>
            <p:nvPr/>
          </p:nvGrpSpPr>
          <p:grpSpPr>
            <a:xfrm rot="0">
              <a:off x="0" y="0"/>
              <a:ext cx="15578974" cy="1057546"/>
              <a:chOff x="0" y="0"/>
              <a:chExt cx="2198092" cy="149213"/>
            </a:xfrm>
          </p:grpSpPr>
          <p:sp>
            <p:nvSpPr>
              <p:cNvPr name="Freeform 27" id="27"/>
              <p:cNvSpPr/>
              <p:nvPr/>
            </p:nvSpPr>
            <p:spPr>
              <a:xfrm flipH="false" flipV="false" rot="0">
                <a:off x="0" y="0"/>
                <a:ext cx="2198092" cy="149213"/>
              </a:xfrm>
              <a:custGeom>
                <a:avLst/>
                <a:gdLst/>
                <a:ahLst/>
                <a:cxnLst/>
                <a:rect r="r" b="b" t="t" l="l"/>
                <a:pathLst>
                  <a:path h="149213" w="2198092">
                    <a:moveTo>
                      <a:pt x="33792" y="0"/>
                    </a:moveTo>
                    <a:lnTo>
                      <a:pt x="2164299" y="0"/>
                    </a:lnTo>
                    <a:cubicBezTo>
                      <a:pt x="2173262" y="0"/>
                      <a:pt x="2181857" y="3560"/>
                      <a:pt x="2188194" y="9898"/>
                    </a:cubicBezTo>
                    <a:cubicBezTo>
                      <a:pt x="2194531" y="16235"/>
                      <a:pt x="2198092" y="24830"/>
                      <a:pt x="2198092" y="33792"/>
                    </a:cubicBezTo>
                    <a:lnTo>
                      <a:pt x="2198092" y="115420"/>
                    </a:lnTo>
                    <a:cubicBezTo>
                      <a:pt x="2198092" y="124383"/>
                      <a:pt x="2194531" y="132978"/>
                      <a:pt x="2188194" y="139315"/>
                    </a:cubicBezTo>
                    <a:cubicBezTo>
                      <a:pt x="2181857" y="145653"/>
                      <a:pt x="2173262" y="149213"/>
                      <a:pt x="2164299" y="149213"/>
                    </a:cubicBezTo>
                    <a:lnTo>
                      <a:pt x="33792" y="149213"/>
                    </a:lnTo>
                    <a:cubicBezTo>
                      <a:pt x="24830" y="149213"/>
                      <a:pt x="16235" y="145653"/>
                      <a:pt x="9898" y="139315"/>
                    </a:cubicBezTo>
                    <a:cubicBezTo>
                      <a:pt x="3560" y="132978"/>
                      <a:pt x="0" y="124383"/>
                      <a:pt x="0" y="115420"/>
                    </a:cubicBezTo>
                    <a:lnTo>
                      <a:pt x="0" y="33792"/>
                    </a:lnTo>
                    <a:cubicBezTo>
                      <a:pt x="0" y="24830"/>
                      <a:pt x="3560" y="16235"/>
                      <a:pt x="9898" y="9898"/>
                    </a:cubicBezTo>
                    <a:cubicBezTo>
                      <a:pt x="16235" y="3560"/>
                      <a:pt x="24830" y="0"/>
                      <a:pt x="33792" y="0"/>
                    </a:cubicBezTo>
                    <a:close/>
                  </a:path>
                </a:pathLst>
              </a:custGeom>
              <a:solidFill>
                <a:srgbClr val="FFFFFF"/>
              </a:solidFill>
            </p:spPr>
          </p:sp>
          <p:sp>
            <p:nvSpPr>
              <p:cNvPr name="TextBox 28" id="28"/>
              <p:cNvSpPr txBox="true"/>
              <p:nvPr/>
            </p:nvSpPr>
            <p:spPr>
              <a:xfrm>
                <a:off x="0" y="-38100"/>
                <a:ext cx="2198092" cy="187313"/>
              </a:xfrm>
              <a:prstGeom prst="rect">
                <a:avLst/>
              </a:prstGeom>
            </p:spPr>
            <p:txBody>
              <a:bodyPr anchor="ctr" rtlCol="false" tIns="50800" lIns="50800" bIns="50800" rIns="50800"/>
              <a:lstStyle/>
              <a:p>
                <a:pPr algn="ctr">
                  <a:lnSpc>
                    <a:spcPts val="4549"/>
                  </a:lnSpc>
                </a:pPr>
                <a:r>
                  <a:rPr lang="en-US" b="true" sz="3499">
                    <a:solidFill>
                      <a:srgbClr val="000001"/>
                    </a:solidFill>
                    <a:latin typeface="Klein Bold"/>
                    <a:ea typeface="Klein Bold"/>
                    <a:cs typeface="Klein Bold"/>
                    <a:sym typeface="Klein Bold"/>
                  </a:rPr>
                  <a:t>Rip</a:t>
                </a:r>
                <a:r>
                  <a:rPr lang="en-US" b="true" sz="3499">
                    <a:solidFill>
                      <a:srgbClr val="000001"/>
                    </a:solidFill>
                    <a:latin typeface="Klein Bold"/>
                    <a:ea typeface="Klein Bold"/>
                    <a:cs typeface="Klein Bold"/>
                    <a:sym typeface="Klein Bold"/>
                  </a:rPr>
                  <a:t>ley’s K / L Function</a:t>
                </a:r>
              </a:p>
            </p:txBody>
          </p:sp>
        </p:grpSp>
      </p:grpSp>
      <p:sp>
        <p:nvSpPr>
          <p:cNvPr name="Freeform 29" id="29"/>
          <p:cNvSpPr/>
          <p:nvPr/>
        </p:nvSpPr>
        <p:spPr>
          <a:xfrm flipH="false" flipV="false" rot="0">
            <a:off x="795099" y="3844278"/>
            <a:ext cx="7682445" cy="4378994"/>
          </a:xfrm>
          <a:custGeom>
            <a:avLst/>
            <a:gdLst/>
            <a:ahLst/>
            <a:cxnLst/>
            <a:rect r="r" b="b" t="t" l="l"/>
            <a:pathLst>
              <a:path h="4378994" w="7682445">
                <a:moveTo>
                  <a:pt x="0" y="0"/>
                </a:moveTo>
                <a:lnTo>
                  <a:pt x="7682445" y="0"/>
                </a:lnTo>
                <a:lnTo>
                  <a:pt x="7682445" y="4378994"/>
                </a:lnTo>
                <a:lnTo>
                  <a:pt x="0" y="4378994"/>
                </a:lnTo>
                <a:lnTo>
                  <a:pt x="0" y="0"/>
                </a:lnTo>
                <a:close/>
              </a:path>
            </a:pathLst>
          </a:custGeom>
          <a:blipFill>
            <a:blip r:embed="rId2"/>
            <a:stretch>
              <a:fillRect l="0" t="0" r="0" b="0"/>
            </a:stretch>
          </a:blipFill>
        </p:spPr>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D39059"/>
        </a:solidFill>
      </p:bgPr>
    </p:bg>
    <p:spTree>
      <p:nvGrpSpPr>
        <p:cNvPr id="1" name=""/>
        <p:cNvGrpSpPr/>
        <p:nvPr/>
      </p:nvGrpSpPr>
      <p:grpSpPr>
        <a:xfrm>
          <a:off x="0" y="0"/>
          <a:ext cx="0" cy="0"/>
          <a:chOff x="0" y="0"/>
          <a:chExt cx="0" cy="0"/>
        </a:xfrm>
      </p:grpSpPr>
      <p:grpSp>
        <p:nvGrpSpPr>
          <p:cNvPr name="Group 2" id="2"/>
          <p:cNvGrpSpPr/>
          <p:nvPr/>
        </p:nvGrpSpPr>
        <p:grpSpPr>
          <a:xfrm rot="0">
            <a:off x="-476250" y="-190500"/>
            <a:ext cx="19240500" cy="2381250"/>
            <a:chOff x="0" y="0"/>
            <a:chExt cx="25654000" cy="3175000"/>
          </a:xfrm>
        </p:grpSpPr>
        <p:grpSp>
          <p:nvGrpSpPr>
            <p:cNvPr name="Group 3" id="3"/>
            <p:cNvGrpSpPr/>
            <p:nvPr/>
          </p:nvGrpSpPr>
          <p:grpSpPr>
            <a:xfrm rot="0">
              <a:off x="0" y="0"/>
              <a:ext cx="25654000" cy="2984500"/>
              <a:chOff x="0" y="0"/>
              <a:chExt cx="5067457" cy="589531"/>
            </a:xfrm>
          </p:grpSpPr>
          <p:sp>
            <p:nvSpPr>
              <p:cNvPr name="Freeform 4" id="4"/>
              <p:cNvSpPr/>
              <p:nvPr/>
            </p:nvSpPr>
            <p:spPr>
              <a:xfrm flipH="false" flipV="false" rot="0">
                <a:off x="0" y="0"/>
                <a:ext cx="5067457" cy="589531"/>
              </a:xfrm>
              <a:custGeom>
                <a:avLst/>
                <a:gdLst/>
                <a:ahLst/>
                <a:cxnLst/>
                <a:rect r="r" b="b" t="t" l="l"/>
                <a:pathLst>
                  <a:path h="589531" w="5067457">
                    <a:moveTo>
                      <a:pt x="0" y="0"/>
                    </a:moveTo>
                    <a:lnTo>
                      <a:pt x="5067457" y="0"/>
                    </a:lnTo>
                    <a:lnTo>
                      <a:pt x="5067457" y="589531"/>
                    </a:lnTo>
                    <a:lnTo>
                      <a:pt x="0" y="589531"/>
                    </a:lnTo>
                    <a:close/>
                  </a:path>
                </a:pathLst>
              </a:custGeom>
              <a:solidFill>
                <a:srgbClr val="97D4E8"/>
              </a:solidFill>
              <a:ln cap="sq">
                <a:noFill/>
                <a:prstDash val="solid"/>
                <a:miter/>
              </a:ln>
            </p:spPr>
          </p:sp>
          <p:sp>
            <p:nvSpPr>
              <p:cNvPr name="TextBox 5" id="5"/>
              <p:cNvSpPr txBox="true"/>
              <p:nvPr/>
            </p:nvSpPr>
            <p:spPr>
              <a:xfrm>
                <a:off x="0" y="-19050"/>
                <a:ext cx="5067457" cy="608581"/>
              </a:xfrm>
              <a:prstGeom prst="rect">
                <a:avLst/>
              </a:prstGeom>
            </p:spPr>
            <p:txBody>
              <a:bodyPr anchor="ctr" rtlCol="false" tIns="50800" lIns="50800" bIns="50800" rIns="50800"/>
              <a:lstStyle/>
              <a:p>
                <a:pPr algn="ctr" marL="0" indent="0" lvl="0">
                  <a:lnSpc>
                    <a:spcPts val="2080"/>
                  </a:lnSpc>
                  <a:spcBef>
                    <a:spcPct val="0"/>
                  </a:spcBef>
                </a:pPr>
              </a:p>
            </p:txBody>
          </p:sp>
        </p:grpSp>
        <p:grpSp>
          <p:nvGrpSpPr>
            <p:cNvPr name="Group 6" id="6"/>
            <p:cNvGrpSpPr/>
            <p:nvPr/>
          </p:nvGrpSpPr>
          <p:grpSpPr>
            <a:xfrm rot="0">
              <a:off x="0" y="2921000"/>
              <a:ext cx="25654000" cy="254000"/>
              <a:chOff x="0" y="0"/>
              <a:chExt cx="5067457" cy="50173"/>
            </a:xfrm>
          </p:grpSpPr>
          <p:sp>
            <p:nvSpPr>
              <p:cNvPr name="Freeform 7" id="7"/>
              <p:cNvSpPr/>
              <p:nvPr/>
            </p:nvSpPr>
            <p:spPr>
              <a:xfrm flipH="false" flipV="false" rot="0">
                <a:off x="0" y="0"/>
                <a:ext cx="5067457" cy="50173"/>
              </a:xfrm>
              <a:custGeom>
                <a:avLst/>
                <a:gdLst/>
                <a:ahLst/>
                <a:cxnLst/>
                <a:rect r="r" b="b" t="t" l="l"/>
                <a:pathLst>
                  <a:path h="50173" w="5067457">
                    <a:moveTo>
                      <a:pt x="0" y="0"/>
                    </a:moveTo>
                    <a:lnTo>
                      <a:pt x="5067457" y="0"/>
                    </a:lnTo>
                    <a:lnTo>
                      <a:pt x="5067457" y="50173"/>
                    </a:lnTo>
                    <a:lnTo>
                      <a:pt x="0" y="50173"/>
                    </a:lnTo>
                    <a:close/>
                  </a:path>
                </a:pathLst>
              </a:custGeom>
              <a:solidFill>
                <a:srgbClr val="CC7E3E"/>
              </a:solidFill>
              <a:ln cap="sq">
                <a:noFill/>
                <a:prstDash val="solid"/>
                <a:miter/>
              </a:ln>
            </p:spPr>
          </p:sp>
          <p:sp>
            <p:nvSpPr>
              <p:cNvPr name="TextBox 8" id="8"/>
              <p:cNvSpPr txBox="true"/>
              <p:nvPr/>
            </p:nvSpPr>
            <p:spPr>
              <a:xfrm>
                <a:off x="0" y="-19050"/>
                <a:ext cx="5067457" cy="69223"/>
              </a:xfrm>
              <a:prstGeom prst="rect">
                <a:avLst/>
              </a:prstGeom>
            </p:spPr>
            <p:txBody>
              <a:bodyPr anchor="ctr" rtlCol="false" tIns="50800" lIns="50800" bIns="50800" rIns="50800"/>
              <a:lstStyle/>
              <a:p>
                <a:pPr algn="ctr" marL="0" indent="0" lvl="0">
                  <a:lnSpc>
                    <a:spcPts val="2080"/>
                  </a:lnSpc>
                  <a:spcBef>
                    <a:spcPct val="0"/>
                  </a:spcBef>
                </a:pPr>
              </a:p>
            </p:txBody>
          </p:sp>
        </p:grpSp>
      </p:grpSp>
      <p:grpSp>
        <p:nvGrpSpPr>
          <p:cNvPr name="Group 9" id="9"/>
          <p:cNvGrpSpPr/>
          <p:nvPr/>
        </p:nvGrpSpPr>
        <p:grpSpPr>
          <a:xfrm rot="0">
            <a:off x="2515713" y="694302"/>
            <a:ext cx="13415004" cy="793159"/>
            <a:chOff x="0" y="0"/>
            <a:chExt cx="17886672" cy="1057546"/>
          </a:xfrm>
        </p:grpSpPr>
        <p:grpSp>
          <p:nvGrpSpPr>
            <p:cNvPr name="Group 10" id="10"/>
            <p:cNvGrpSpPr/>
            <p:nvPr/>
          </p:nvGrpSpPr>
          <p:grpSpPr>
            <a:xfrm rot="0">
              <a:off x="1153849" y="41546"/>
              <a:ext cx="15578974" cy="1016000"/>
              <a:chOff x="0" y="0"/>
              <a:chExt cx="2198092" cy="143351"/>
            </a:xfrm>
          </p:grpSpPr>
          <p:sp>
            <p:nvSpPr>
              <p:cNvPr name="Freeform 11" id="11"/>
              <p:cNvSpPr/>
              <p:nvPr/>
            </p:nvSpPr>
            <p:spPr>
              <a:xfrm flipH="false" flipV="false" rot="0">
                <a:off x="0" y="0"/>
                <a:ext cx="2198092" cy="143351"/>
              </a:xfrm>
              <a:custGeom>
                <a:avLst/>
                <a:gdLst/>
                <a:ahLst/>
                <a:cxnLst/>
                <a:rect r="r" b="b" t="t" l="l"/>
                <a:pathLst>
                  <a:path h="143351" w="2198092">
                    <a:moveTo>
                      <a:pt x="33792" y="0"/>
                    </a:moveTo>
                    <a:lnTo>
                      <a:pt x="2164299" y="0"/>
                    </a:lnTo>
                    <a:cubicBezTo>
                      <a:pt x="2173262" y="0"/>
                      <a:pt x="2181857" y="3560"/>
                      <a:pt x="2188194" y="9898"/>
                    </a:cubicBezTo>
                    <a:cubicBezTo>
                      <a:pt x="2194531" y="16235"/>
                      <a:pt x="2198092" y="24830"/>
                      <a:pt x="2198092" y="33792"/>
                    </a:cubicBezTo>
                    <a:lnTo>
                      <a:pt x="2198092" y="109559"/>
                    </a:lnTo>
                    <a:cubicBezTo>
                      <a:pt x="2198092" y="118521"/>
                      <a:pt x="2194531" y="127116"/>
                      <a:pt x="2188194" y="133453"/>
                    </a:cubicBezTo>
                    <a:cubicBezTo>
                      <a:pt x="2181857" y="139791"/>
                      <a:pt x="2173262" y="143351"/>
                      <a:pt x="2164299" y="143351"/>
                    </a:cubicBezTo>
                    <a:lnTo>
                      <a:pt x="33792" y="143351"/>
                    </a:lnTo>
                    <a:cubicBezTo>
                      <a:pt x="24830" y="143351"/>
                      <a:pt x="16235" y="139791"/>
                      <a:pt x="9898" y="133453"/>
                    </a:cubicBezTo>
                    <a:cubicBezTo>
                      <a:pt x="3560" y="127116"/>
                      <a:pt x="0" y="118521"/>
                      <a:pt x="0" y="109559"/>
                    </a:cubicBezTo>
                    <a:lnTo>
                      <a:pt x="0" y="33792"/>
                    </a:lnTo>
                    <a:cubicBezTo>
                      <a:pt x="0" y="24830"/>
                      <a:pt x="3560" y="16235"/>
                      <a:pt x="9898" y="9898"/>
                    </a:cubicBezTo>
                    <a:cubicBezTo>
                      <a:pt x="16235" y="3560"/>
                      <a:pt x="24830" y="0"/>
                      <a:pt x="33792" y="0"/>
                    </a:cubicBezTo>
                    <a:close/>
                  </a:path>
                </a:pathLst>
              </a:custGeom>
              <a:solidFill>
                <a:srgbClr val="38ABD1"/>
              </a:solidFill>
              <a:ln cap="rnd">
                <a:noFill/>
                <a:prstDash val="solid"/>
                <a:round/>
              </a:ln>
            </p:spPr>
          </p:sp>
          <p:sp>
            <p:nvSpPr>
              <p:cNvPr name="TextBox 12" id="12"/>
              <p:cNvSpPr txBox="true"/>
              <p:nvPr/>
            </p:nvSpPr>
            <p:spPr>
              <a:xfrm>
                <a:off x="0" y="-19050"/>
                <a:ext cx="2198092" cy="162401"/>
              </a:xfrm>
              <a:prstGeom prst="rect">
                <a:avLst/>
              </a:prstGeom>
            </p:spPr>
            <p:txBody>
              <a:bodyPr anchor="ctr" rtlCol="false" tIns="50800" lIns="50800" bIns="50800" rIns="50800"/>
              <a:lstStyle/>
              <a:p>
                <a:pPr algn="ctr" marL="0" indent="0" lvl="0">
                  <a:lnSpc>
                    <a:spcPts val="2080"/>
                  </a:lnSpc>
                  <a:spcBef>
                    <a:spcPct val="0"/>
                  </a:spcBef>
                </a:pPr>
              </a:p>
            </p:txBody>
          </p:sp>
        </p:grpSp>
        <p:grpSp>
          <p:nvGrpSpPr>
            <p:cNvPr name="Group 13" id="13"/>
            <p:cNvGrpSpPr/>
            <p:nvPr/>
          </p:nvGrpSpPr>
          <p:grpSpPr>
            <a:xfrm rot="0">
              <a:off x="0" y="0"/>
              <a:ext cx="17886672" cy="1057546"/>
              <a:chOff x="0" y="0"/>
              <a:chExt cx="2523693" cy="149213"/>
            </a:xfrm>
          </p:grpSpPr>
          <p:sp>
            <p:nvSpPr>
              <p:cNvPr name="Freeform 14" id="14"/>
              <p:cNvSpPr/>
              <p:nvPr/>
            </p:nvSpPr>
            <p:spPr>
              <a:xfrm flipH="false" flipV="false" rot="0">
                <a:off x="0" y="0"/>
                <a:ext cx="2523693" cy="149213"/>
              </a:xfrm>
              <a:custGeom>
                <a:avLst/>
                <a:gdLst/>
                <a:ahLst/>
                <a:cxnLst/>
                <a:rect r="r" b="b" t="t" l="l"/>
                <a:pathLst>
                  <a:path h="149213" w="2523693">
                    <a:moveTo>
                      <a:pt x="29433" y="0"/>
                    </a:moveTo>
                    <a:lnTo>
                      <a:pt x="2494260" y="0"/>
                    </a:lnTo>
                    <a:cubicBezTo>
                      <a:pt x="2510515" y="0"/>
                      <a:pt x="2523693" y="13177"/>
                      <a:pt x="2523693" y="29433"/>
                    </a:cubicBezTo>
                    <a:lnTo>
                      <a:pt x="2523693" y="119780"/>
                    </a:lnTo>
                    <a:cubicBezTo>
                      <a:pt x="2523693" y="127586"/>
                      <a:pt x="2520592" y="135073"/>
                      <a:pt x="2515072" y="140592"/>
                    </a:cubicBezTo>
                    <a:cubicBezTo>
                      <a:pt x="2509552" y="146112"/>
                      <a:pt x="2502066" y="149213"/>
                      <a:pt x="2494260" y="149213"/>
                    </a:cubicBezTo>
                    <a:lnTo>
                      <a:pt x="29433" y="149213"/>
                    </a:lnTo>
                    <a:cubicBezTo>
                      <a:pt x="13177" y="149213"/>
                      <a:pt x="0" y="136035"/>
                      <a:pt x="0" y="119780"/>
                    </a:cubicBezTo>
                    <a:lnTo>
                      <a:pt x="0" y="29433"/>
                    </a:lnTo>
                    <a:cubicBezTo>
                      <a:pt x="0" y="13177"/>
                      <a:pt x="13177" y="0"/>
                      <a:pt x="29433" y="0"/>
                    </a:cubicBezTo>
                    <a:close/>
                  </a:path>
                </a:pathLst>
              </a:custGeom>
              <a:solidFill>
                <a:srgbClr val="FFFFFF"/>
              </a:solidFill>
            </p:spPr>
          </p:sp>
          <p:sp>
            <p:nvSpPr>
              <p:cNvPr name="TextBox 15" id="15"/>
              <p:cNvSpPr txBox="true"/>
              <p:nvPr/>
            </p:nvSpPr>
            <p:spPr>
              <a:xfrm>
                <a:off x="0" y="-38100"/>
                <a:ext cx="2523693" cy="187313"/>
              </a:xfrm>
              <a:prstGeom prst="rect">
                <a:avLst/>
              </a:prstGeom>
            </p:spPr>
            <p:txBody>
              <a:bodyPr anchor="ctr" rtlCol="false" tIns="50800" lIns="50800" bIns="50800" rIns="50800"/>
              <a:lstStyle/>
              <a:p>
                <a:pPr algn="ctr">
                  <a:lnSpc>
                    <a:spcPts val="4549"/>
                  </a:lnSpc>
                </a:pPr>
                <a:r>
                  <a:rPr lang="en-US" b="true" sz="3499">
                    <a:solidFill>
                      <a:srgbClr val="000001"/>
                    </a:solidFill>
                    <a:latin typeface="Klein Bold"/>
                    <a:ea typeface="Klein Bold"/>
                    <a:cs typeface="Klein Bold"/>
                    <a:sym typeface="Klein Bold"/>
                  </a:rPr>
                  <a:t>Moran’s I (Global Autocorrelation</a:t>
                </a:r>
                <a:r>
                  <a:rPr lang="en-US" b="true" sz="3499">
                    <a:solidFill>
                      <a:srgbClr val="000001"/>
                    </a:solidFill>
                    <a:latin typeface="Klein Bold"/>
                    <a:ea typeface="Klein Bold"/>
                    <a:cs typeface="Klein Bold"/>
                    <a:sym typeface="Klein Bold"/>
                  </a:rPr>
                  <a:t>)</a:t>
                </a:r>
              </a:p>
            </p:txBody>
          </p:sp>
        </p:grpSp>
      </p:grpSp>
      <p:sp>
        <p:nvSpPr>
          <p:cNvPr name="Freeform 16" id="16"/>
          <p:cNvSpPr/>
          <p:nvPr/>
        </p:nvSpPr>
        <p:spPr>
          <a:xfrm flipH="false" flipV="false" rot="0">
            <a:off x="769609" y="2404243"/>
            <a:ext cx="6425412" cy="3662485"/>
          </a:xfrm>
          <a:custGeom>
            <a:avLst/>
            <a:gdLst/>
            <a:ahLst/>
            <a:cxnLst/>
            <a:rect r="r" b="b" t="t" l="l"/>
            <a:pathLst>
              <a:path h="3662485" w="6425412">
                <a:moveTo>
                  <a:pt x="0" y="0"/>
                </a:moveTo>
                <a:lnTo>
                  <a:pt x="6425412" y="0"/>
                </a:lnTo>
                <a:lnTo>
                  <a:pt x="6425412" y="3662485"/>
                </a:lnTo>
                <a:lnTo>
                  <a:pt x="0" y="3662485"/>
                </a:lnTo>
                <a:lnTo>
                  <a:pt x="0" y="0"/>
                </a:lnTo>
                <a:close/>
              </a:path>
            </a:pathLst>
          </a:custGeom>
          <a:blipFill>
            <a:blip r:embed="rId2"/>
            <a:stretch>
              <a:fillRect l="0" t="0" r="0" b="0"/>
            </a:stretch>
          </a:blipFill>
        </p:spPr>
      </p:sp>
      <p:sp>
        <p:nvSpPr>
          <p:cNvPr name="Freeform 17" id="17"/>
          <p:cNvSpPr/>
          <p:nvPr/>
        </p:nvSpPr>
        <p:spPr>
          <a:xfrm flipH="false" flipV="false" rot="0">
            <a:off x="769609" y="6244436"/>
            <a:ext cx="6425412" cy="3662485"/>
          </a:xfrm>
          <a:custGeom>
            <a:avLst/>
            <a:gdLst/>
            <a:ahLst/>
            <a:cxnLst/>
            <a:rect r="r" b="b" t="t" l="l"/>
            <a:pathLst>
              <a:path h="3662485" w="6425412">
                <a:moveTo>
                  <a:pt x="0" y="0"/>
                </a:moveTo>
                <a:lnTo>
                  <a:pt x="6425412" y="0"/>
                </a:lnTo>
                <a:lnTo>
                  <a:pt x="6425412" y="3662485"/>
                </a:lnTo>
                <a:lnTo>
                  <a:pt x="0" y="3662485"/>
                </a:lnTo>
                <a:lnTo>
                  <a:pt x="0" y="0"/>
                </a:lnTo>
                <a:close/>
              </a:path>
            </a:pathLst>
          </a:custGeom>
          <a:blipFill>
            <a:blip r:embed="rId3"/>
            <a:stretch>
              <a:fillRect l="0" t="0" r="0" b="0"/>
            </a:stretch>
          </a:blipFill>
        </p:spPr>
      </p:sp>
      <p:sp>
        <p:nvSpPr>
          <p:cNvPr name="TextBox 18" id="18"/>
          <p:cNvSpPr txBox="true"/>
          <p:nvPr/>
        </p:nvSpPr>
        <p:spPr>
          <a:xfrm rot="0">
            <a:off x="7891735" y="2700374"/>
            <a:ext cx="9537876" cy="7021449"/>
          </a:xfrm>
          <a:prstGeom prst="rect">
            <a:avLst/>
          </a:prstGeom>
        </p:spPr>
        <p:txBody>
          <a:bodyPr anchor="t" rtlCol="false" tIns="0" lIns="0" bIns="0" rIns="0">
            <a:spAutoFit/>
          </a:bodyPr>
          <a:lstStyle/>
          <a:p>
            <a:pPr algn="just">
              <a:lnSpc>
                <a:spcPts val="3108"/>
              </a:lnSpc>
            </a:pPr>
            <a:r>
              <a:rPr lang="en-US" sz="2100" spc="176">
                <a:solidFill>
                  <a:srgbClr val="000000"/>
                </a:solidFill>
                <a:latin typeface="Klein"/>
                <a:ea typeface="Klein"/>
                <a:cs typeface="Klein"/>
                <a:sym typeface="Klein"/>
              </a:rPr>
              <a:t>Nil</a:t>
            </a:r>
            <a:r>
              <a:rPr lang="en-US" sz="2100" spc="176">
                <a:solidFill>
                  <a:srgbClr val="000000"/>
                </a:solidFill>
                <a:latin typeface="Klein"/>
                <a:ea typeface="Klein"/>
                <a:cs typeface="Klein"/>
                <a:sym typeface="Klein"/>
              </a:rPr>
              <a:t>ai Statistik</a:t>
            </a:r>
          </a:p>
          <a:p>
            <a:pPr algn="just" marL="453390" indent="-226695" lvl="1">
              <a:lnSpc>
                <a:spcPts val="3108"/>
              </a:lnSpc>
              <a:buFont typeface="Arial"/>
              <a:buChar char="•"/>
            </a:pPr>
            <a:r>
              <a:rPr lang="en-US" sz="2100" spc="176">
                <a:solidFill>
                  <a:srgbClr val="000000"/>
                </a:solidFill>
                <a:latin typeface="Klein"/>
                <a:ea typeface="Klein"/>
                <a:cs typeface="Klein"/>
                <a:sym typeface="Klein"/>
              </a:rPr>
              <a:t>Moran’s I = −0.319</a:t>
            </a:r>
          </a:p>
          <a:p>
            <a:pPr algn="just" marL="453390" indent="-226695" lvl="1">
              <a:lnSpc>
                <a:spcPts val="3108"/>
              </a:lnSpc>
              <a:buFont typeface="Arial"/>
              <a:buChar char="•"/>
            </a:pPr>
            <a:r>
              <a:rPr lang="en-US" sz="2100" spc="176">
                <a:solidFill>
                  <a:srgbClr val="000000"/>
                </a:solidFill>
                <a:latin typeface="Klein"/>
                <a:ea typeface="Klein"/>
                <a:cs typeface="Klein"/>
                <a:sym typeface="Klein"/>
              </a:rPr>
              <a:t>p-value = 0.738 (&gt; 0.05 → tidak signifikan)</a:t>
            </a:r>
          </a:p>
          <a:p>
            <a:pPr algn="just">
              <a:lnSpc>
                <a:spcPts val="3108"/>
              </a:lnSpc>
            </a:pPr>
            <a:r>
              <a:rPr lang="en-US" sz="2100" spc="176">
                <a:solidFill>
                  <a:srgbClr val="000000"/>
                </a:solidFill>
                <a:latin typeface="Klein"/>
                <a:ea typeface="Klein"/>
                <a:cs typeface="Klein"/>
                <a:sym typeface="Klein"/>
              </a:rPr>
              <a:t>Moran Scatterplot</a:t>
            </a:r>
          </a:p>
          <a:p>
            <a:pPr algn="just" marL="453390" indent="-226695" lvl="1">
              <a:lnSpc>
                <a:spcPts val="3108"/>
              </a:lnSpc>
              <a:buFont typeface="Arial"/>
              <a:buChar char="•"/>
            </a:pPr>
            <a:r>
              <a:rPr lang="en-US" sz="2100" spc="176">
                <a:solidFill>
                  <a:srgbClr val="000000"/>
                </a:solidFill>
                <a:latin typeface="Klein"/>
                <a:ea typeface="Klein"/>
                <a:cs typeface="Klein"/>
                <a:sym typeface="Klein"/>
              </a:rPr>
              <a:t>Titik tersebar di keempat kuadran (HH, LL, HL, LH).</a:t>
            </a:r>
          </a:p>
          <a:p>
            <a:pPr algn="just" marL="453390" indent="-226695" lvl="1">
              <a:lnSpc>
                <a:spcPts val="3108"/>
              </a:lnSpc>
              <a:buFont typeface="Arial"/>
              <a:buChar char="•"/>
            </a:pPr>
            <a:r>
              <a:rPr lang="en-US" sz="2100" spc="176">
                <a:solidFill>
                  <a:srgbClr val="000000"/>
                </a:solidFill>
                <a:latin typeface="Klein"/>
                <a:ea typeface="Klein"/>
                <a:cs typeface="Klein"/>
                <a:sym typeface="Klein"/>
              </a:rPr>
              <a:t>Tidak ada klaster dominan pada High–High atau Low–Low.</a:t>
            </a:r>
          </a:p>
          <a:p>
            <a:pPr algn="just" marL="453390" indent="-226695" lvl="1">
              <a:lnSpc>
                <a:spcPts val="3108"/>
              </a:lnSpc>
              <a:buFont typeface="Arial"/>
              <a:buChar char="•"/>
            </a:pPr>
            <a:r>
              <a:rPr lang="en-US" sz="2100" spc="176">
                <a:solidFill>
                  <a:srgbClr val="000000"/>
                </a:solidFill>
                <a:latin typeface="Klein"/>
                <a:ea typeface="Klein"/>
                <a:cs typeface="Klein"/>
                <a:sym typeface="Klein"/>
              </a:rPr>
              <a:t>Pola menunjukkan random scatter.</a:t>
            </a:r>
          </a:p>
          <a:p>
            <a:pPr algn="just">
              <a:lnSpc>
                <a:spcPts val="3108"/>
              </a:lnSpc>
            </a:pPr>
            <a:r>
              <a:rPr lang="en-US" sz="2100" spc="176">
                <a:solidFill>
                  <a:srgbClr val="000000"/>
                </a:solidFill>
                <a:latin typeface="Klein"/>
                <a:ea typeface="Klein"/>
                <a:cs typeface="Klein"/>
                <a:sym typeface="Klein"/>
              </a:rPr>
              <a:t>Interpretasi</a:t>
            </a:r>
          </a:p>
          <a:p>
            <a:pPr algn="just" marL="453390" indent="-226695" lvl="1">
              <a:lnSpc>
                <a:spcPts val="3108"/>
              </a:lnSpc>
              <a:buFont typeface="Arial"/>
              <a:buChar char="•"/>
            </a:pPr>
            <a:r>
              <a:rPr lang="en-US" sz="2100" spc="176">
                <a:solidFill>
                  <a:srgbClr val="000000"/>
                </a:solidFill>
                <a:latin typeface="Klein"/>
                <a:ea typeface="Klein"/>
                <a:cs typeface="Klein"/>
                <a:sym typeface="Klein"/>
              </a:rPr>
              <a:t>Tidak terdapat autokorelasi spasial global pada jumlah titik banjir antar kota.</a:t>
            </a:r>
          </a:p>
          <a:p>
            <a:pPr algn="just" marL="453390" indent="-226695" lvl="1">
              <a:lnSpc>
                <a:spcPts val="3108"/>
              </a:lnSpc>
              <a:buFont typeface="Arial"/>
              <a:buChar char="•"/>
            </a:pPr>
            <a:r>
              <a:rPr lang="en-US" sz="2100" spc="176">
                <a:solidFill>
                  <a:srgbClr val="000000"/>
                </a:solidFill>
                <a:latin typeface="Klein"/>
                <a:ea typeface="Klein"/>
                <a:cs typeface="Klein"/>
                <a:sym typeface="Klein"/>
              </a:rPr>
              <a:t>Variasi antar kota bersifat acak secara global, bukan mengelompok.</a:t>
            </a:r>
          </a:p>
          <a:p>
            <a:pPr algn="just" marL="453390" indent="-226695" lvl="1">
              <a:lnSpc>
                <a:spcPts val="3108"/>
              </a:lnSpc>
              <a:buFont typeface="Arial"/>
              <a:buChar char="•"/>
            </a:pPr>
            <a:r>
              <a:rPr lang="en-US" sz="2100" spc="176">
                <a:solidFill>
                  <a:srgbClr val="000000"/>
                </a:solidFill>
                <a:latin typeface="Klein"/>
                <a:ea typeface="Klein"/>
                <a:cs typeface="Klein"/>
                <a:sym typeface="Klein"/>
              </a:rPr>
              <a:t>Kuadran HL dan LH hanya menunjukkan variasi lokal, bukan pola global.</a:t>
            </a:r>
          </a:p>
          <a:p>
            <a:pPr algn="just">
              <a:lnSpc>
                <a:spcPts val="3108"/>
              </a:lnSpc>
            </a:pPr>
          </a:p>
          <a:p>
            <a:pPr algn="just">
              <a:lnSpc>
                <a:spcPts val="3108"/>
              </a:lnSpc>
            </a:pPr>
            <a:r>
              <a:rPr lang="en-US" sz="2100" spc="176">
                <a:solidFill>
                  <a:srgbClr val="000000"/>
                </a:solidFill>
                <a:latin typeface="Klein"/>
                <a:ea typeface="Klein"/>
                <a:cs typeface="Klein"/>
                <a:sym typeface="Klein"/>
              </a:rPr>
              <a:t>Jumlah kejadian banjir antar kota administrasi DKI Jakarta tidak membentuk pola spasial global yang signifikan (acak).</a:t>
            </a:r>
          </a:p>
          <a:p>
            <a:pPr algn="just">
              <a:lnSpc>
                <a:spcPts val="3108"/>
              </a:lnSpc>
            </a:pPr>
          </a:p>
        </p:txBody>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D39059"/>
        </a:solidFill>
      </p:bgPr>
    </p:bg>
    <p:spTree>
      <p:nvGrpSpPr>
        <p:cNvPr id="1" name=""/>
        <p:cNvGrpSpPr/>
        <p:nvPr/>
      </p:nvGrpSpPr>
      <p:grpSpPr>
        <a:xfrm>
          <a:off x="0" y="0"/>
          <a:ext cx="0" cy="0"/>
          <a:chOff x="0" y="0"/>
          <a:chExt cx="0" cy="0"/>
        </a:xfrm>
      </p:grpSpPr>
      <p:grpSp>
        <p:nvGrpSpPr>
          <p:cNvPr name="Group 2" id="2"/>
          <p:cNvGrpSpPr/>
          <p:nvPr/>
        </p:nvGrpSpPr>
        <p:grpSpPr>
          <a:xfrm rot="0">
            <a:off x="-476250" y="-190500"/>
            <a:ext cx="19240500" cy="1966839"/>
            <a:chOff x="0" y="0"/>
            <a:chExt cx="25654000" cy="2622453"/>
          </a:xfrm>
        </p:grpSpPr>
        <p:grpSp>
          <p:nvGrpSpPr>
            <p:cNvPr name="Group 3" id="3"/>
            <p:cNvGrpSpPr/>
            <p:nvPr/>
          </p:nvGrpSpPr>
          <p:grpSpPr>
            <a:xfrm rot="0">
              <a:off x="0" y="0"/>
              <a:ext cx="25654000" cy="2465105"/>
              <a:chOff x="0" y="0"/>
              <a:chExt cx="5067457" cy="486934"/>
            </a:xfrm>
          </p:grpSpPr>
          <p:sp>
            <p:nvSpPr>
              <p:cNvPr name="Freeform 4" id="4"/>
              <p:cNvSpPr/>
              <p:nvPr/>
            </p:nvSpPr>
            <p:spPr>
              <a:xfrm flipH="false" flipV="false" rot="0">
                <a:off x="0" y="0"/>
                <a:ext cx="5067457" cy="486934"/>
              </a:xfrm>
              <a:custGeom>
                <a:avLst/>
                <a:gdLst/>
                <a:ahLst/>
                <a:cxnLst/>
                <a:rect r="r" b="b" t="t" l="l"/>
                <a:pathLst>
                  <a:path h="486934" w="5067457">
                    <a:moveTo>
                      <a:pt x="0" y="0"/>
                    </a:moveTo>
                    <a:lnTo>
                      <a:pt x="5067457" y="0"/>
                    </a:lnTo>
                    <a:lnTo>
                      <a:pt x="5067457" y="486934"/>
                    </a:lnTo>
                    <a:lnTo>
                      <a:pt x="0" y="486934"/>
                    </a:lnTo>
                    <a:close/>
                  </a:path>
                </a:pathLst>
              </a:custGeom>
              <a:solidFill>
                <a:srgbClr val="97D4E8"/>
              </a:solidFill>
              <a:ln cap="sq">
                <a:noFill/>
                <a:prstDash val="solid"/>
                <a:miter/>
              </a:ln>
            </p:spPr>
          </p:sp>
          <p:sp>
            <p:nvSpPr>
              <p:cNvPr name="TextBox 5" id="5"/>
              <p:cNvSpPr txBox="true"/>
              <p:nvPr/>
            </p:nvSpPr>
            <p:spPr>
              <a:xfrm>
                <a:off x="0" y="-19050"/>
                <a:ext cx="5067457" cy="505984"/>
              </a:xfrm>
              <a:prstGeom prst="rect">
                <a:avLst/>
              </a:prstGeom>
            </p:spPr>
            <p:txBody>
              <a:bodyPr anchor="ctr" rtlCol="false" tIns="50800" lIns="50800" bIns="50800" rIns="50800"/>
              <a:lstStyle/>
              <a:p>
                <a:pPr algn="ctr" marL="0" indent="0" lvl="0">
                  <a:lnSpc>
                    <a:spcPts val="2080"/>
                  </a:lnSpc>
                  <a:spcBef>
                    <a:spcPct val="0"/>
                  </a:spcBef>
                </a:pPr>
              </a:p>
            </p:txBody>
          </p:sp>
        </p:grpSp>
        <p:grpSp>
          <p:nvGrpSpPr>
            <p:cNvPr name="Group 6" id="6"/>
            <p:cNvGrpSpPr/>
            <p:nvPr/>
          </p:nvGrpSpPr>
          <p:grpSpPr>
            <a:xfrm rot="0">
              <a:off x="0" y="2412656"/>
              <a:ext cx="25654000" cy="209796"/>
              <a:chOff x="0" y="0"/>
              <a:chExt cx="5067457" cy="41441"/>
            </a:xfrm>
          </p:grpSpPr>
          <p:sp>
            <p:nvSpPr>
              <p:cNvPr name="Freeform 7" id="7"/>
              <p:cNvSpPr/>
              <p:nvPr/>
            </p:nvSpPr>
            <p:spPr>
              <a:xfrm flipH="false" flipV="false" rot="0">
                <a:off x="0" y="0"/>
                <a:ext cx="5067457" cy="41441"/>
              </a:xfrm>
              <a:custGeom>
                <a:avLst/>
                <a:gdLst/>
                <a:ahLst/>
                <a:cxnLst/>
                <a:rect r="r" b="b" t="t" l="l"/>
                <a:pathLst>
                  <a:path h="41441" w="5067457">
                    <a:moveTo>
                      <a:pt x="0" y="0"/>
                    </a:moveTo>
                    <a:lnTo>
                      <a:pt x="5067457" y="0"/>
                    </a:lnTo>
                    <a:lnTo>
                      <a:pt x="5067457" y="41441"/>
                    </a:lnTo>
                    <a:lnTo>
                      <a:pt x="0" y="41441"/>
                    </a:lnTo>
                    <a:close/>
                  </a:path>
                </a:pathLst>
              </a:custGeom>
              <a:solidFill>
                <a:srgbClr val="CC7E3E"/>
              </a:solidFill>
              <a:ln cap="sq">
                <a:noFill/>
                <a:prstDash val="solid"/>
                <a:miter/>
              </a:ln>
            </p:spPr>
          </p:sp>
          <p:sp>
            <p:nvSpPr>
              <p:cNvPr name="TextBox 8" id="8"/>
              <p:cNvSpPr txBox="true"/>
              <p:nvPr/>
            </p:nvSpPr>
            <p:spPr>
              <a:xfrm>
                <a:off x="0" y="-19050"/>
                <a:ext cx="5067457" cy="60491"/>
              </a:xfrm>
              <a:prstGeom prst="rect">
                <a:avLst/>
              </a:prstGeom>
            </p:spPr>
            <p:txBody>
              <a:bodyPr anchor="ctr" rtlCol="false" tIns="50800" lIns="50800" bIns="50800" rIns="50800"/>
              <a:lstStyle/>
              <a:p>
                <a:pPr algn="ctr" marL="0" indent="0" lvl="0">
                  <a:lnSpc>
                    <a:spcPts val="2080"/>
                  </a:lnSpc>
                  <a:spcBef>
                    <a:spcPct val="0"/>
                  </a:spcBef>
                </a:pPr>
              </a:p>
            </p:txBody>
          </p:sp>
        </p:grpSp>
      </p:grpSp>
      <p:grpSp>
        <p:nvGrpSpPr>
          <p:cNvPr name="Group 9" id="9"/>
          <p:cNvGrpSpPr/>
          <p:nvPr/>
        </p:nvGrpSpPr>
        <p:grpSpPr>
          <a:xfrm rot="0">
            <a:off x="647700" y="2007616"/>
            <a:ext cx="8115300" cy="3758446"/>
            <a:chOff x="0" y="0"/>
            <a:chExt cx="10820400" cy="5011261"/>
          </a:xfrm>
        </p:grpSpPr>
        <p:grpSp>
          <p:nvGrpSpPr>
            <p:cNvPr name="Group 10" id="10"/>
            <p:cNvGrpSpPr/>
            <p:nvPr/>
          </p:nvGrpSpPr>
          <p:grpSpPr>
            <a:xfrm rot="0">
              <a:off x="248745" y="277901"/>
              <a:ext cx="10571655" cy="4515897"/>
              <a:chOff x="0" y="0"/>
              <a:chExt cx="1491592" cy="637164"/>
            </a:xfrm>
          </p:grpSpPr>
          <p:sp>
            <p:nvSpPr>
              <p:cNvPr name="Freeform 11" id="11"/>
              <p:cNvSpPr/>
              <p:nvPr/>
            </p:nvSpPr>
            <p:spPr>
              <a:xfrm flipH="false" flipV="false" rot="0">
                <a:off x="0" y="0"/>
                <a:ext cx="1491592" cy="637164"/>
              </a:xfrm>
              <a:custGeom>
                <a:avLst/>
                <a:gdLst/>
                <a:ahLst/>
                <a:cxnLst/>
                <a:rect r="r" b="b" t="t" l="l"/>
                <a:pathLst>
                  <a:path h="637164" w="1491592">
                    <a:moveTo>
                      <a:pt x="48822" y="0"/>
                    </a:moveTo>
                    <a:lnTo>
                      <a:pt x="1442770" y="0"/>
                    </a:lnTo>
                    <a:cubicBezTo>
                      <a:pt x="1469733" y="0"/>
                      <a:pt x="1491592" y="21858"/>
                      <a:pt x="1491592" y="48822"/>
                    </a:cubicBezTo>
                    <a:lnTo>
                      <a:pt x="1491592" y="588342"/>
                    </a:lnTo>
                    <a:cubicBezTo>
                      <a:pt x="1491592" y="601290"/>
                      <a:pt x="1486448" y="613708"/>
                      <a:pt x="1477292" y="622864"/>
                    </a:cubicBezTo>
                    <a:cubicBezTo>
                      <a:pt x="1468136" y="632020"/>
                      <a:pt x="1455718" y="637164"/>
                      <a:pt x="1442770" y="637164"/>
                    </a:cubicBezTo>
                    <a:lnTo>
                      <a:pt x="48822" y="637164"/>
                    </a:lnTo>
                    <a:cubicBezTo>
                      <a:pt x="35874" y="637164"/>
                      <a:pt x="23455" y="632020"/>
                      <a:pt x="14300" y="622864"/>
                    </a:cubicBezTo>
                    <a:cubicBezTo>
                      <a:pt x="5144" y="613708"/>
                      <a:pt x="0" y="601290"/>
                      <a:pt x="0" y="588342"/>
                    </a:cubicBezTo>
                    <a:lnTo>
                      <a:pt x="0" y="48822"/>
                    </a:lnTo>
                    <a:cubicBezTo>
                      <a:pt x="0" y="35874"/>
                      <a:pt x="5144" y="23455"/>
                      <a:pt x="14300" y="14300"/>
                    </a:cubicBezTo>
                    <a:cubicBezTo>
                      <a:pt x="23455" y="5144"/>
                      <a:pt x="35874" y="0"/>
                      <a:pt x="48822" y="0"/>
                    </a:cubicBezTo>
                    <a:close/>
                  </a:path>
                </a:pathLst>
              </a:custGeom>
              <a:solidFill>
                <a:srgbClr val="CC7E3E"/>
              </a:solidFill>
              <a:ln cap="rnd">
                <a:noFill/>
                <a:prstDash val="solid"/>
                <a:round/>
              </a:ln>
            </p:spPr>
          </p:sp>
          <p:sp>
            <p:nvSpPr>
              <p:cNvPr name="TextBox 12" id="12"/>
              <p:cNvSpPr txBox="true"/>
              <p:nvPr/>
            </p:nvSpPr>
            <p:spPr>
              <a:xfrm>
                <a:off x="0" y="-180975"/>
                <a:ext cx="1491592" cy="818139"/>
              </a:xfrm>
              <a:prstGeom prst="rect">
                <a:avLst/>
              </a:prstGeom>
            </p:spPr>
            <p:txBody>
              <a:bodyPr anchor="ctr" rtlCol="false" tIns="254000" lIns="254000" bIns="254000" rIns="254000"/>
              <a:lstStyle/>
              <a:p>
                <a:pPr algn="just" marL="0" indent="0" lvl="0">
                  <a:lnSpc>
                    <a:spcPts val="4888"/>
                  </a:lnSpc>
                </a:pPr>
              </a:p>
            </p:txBody>
          </p:sp>
        </p:grpSp>
        <p:grpSp>
          <p:nvGrpSpPr>
            <p:cNvPr name="Group 13" id="13"/>
            <p:cNvGrpSpPr/>
            <p:nvPr/>
          </p:nvGrpSpPr>
          <p:grpSpPr>
            <a:xfrm rot="0">
              <a:off x="0" y="0"/>
              <a:ext cx="10820400" cy="5011261"/>
              <a:chOff x="0" y="0"/>
              <a:chExt cx="1526688" cy="707056"/>
            </a:xfrm>
          </p:grpSpPr>
          <p:sp>
            <p:nvSpPr>
              <p:cNvPr name="Freeform 14" id="14"/>
              <p:cNvSpPr/>
              <p:nvPr/>
            </p:nvSpPr>
            <p:spPr>
              <a:xfrm flipH="false" flipV="false" rot="0">
                <a:off x="0" y="0"/>
                <a:ext cx="1526688" cy="707056"/>
              </a:xfrm>
              <a:custGeom>
                <a:avLst/>
                <a:gdLst/>
                <a:ahLst/>
                <a:cxnLst/>
                <a:rect r="r" b="b" t="t" l="l"/>
                <a:pathLst>
                  <a:path h="707056" w="1526688">
                    <a:moveTo>
                      <a:pt x="47700" y="0"/>
                    </a:moveTo>
                    <a:lnTo>
                      <a:pt x="1478988" y="0"/>
                    </a:lnTo>
                    <a:cubicBezTo>
                      <a:pt x="1491639" y="0"/>
                      <a:pt x="1503772" y="5025"/>
                      <a:pt x="1512717" y="13971"/>
                    </a:cubicBezTo>
                    <a:cubicBezTo>
                      <a:pt x="1521662" y="22916"/>
                      <a:pt x="1526688" y="35049"/>
                      <a:pt x="1526688" y="47700"/>
                    </a:cubicBezTo>
                    <a:lnTo>
                      <a:pt x="1526688" y="659357"/>
                    </a:lnTo>
                    <a:cubicBezTo>
                      <a:pt x="1526688" y="672007"/>
                      <a:pt x="1521662" y="684140"/>
                      <a:pt x="1512717" y="693085"/>
                    </a:cubicBezTo>
                    <a:cubicBezTo>
                      <a:pt x="1503772" y="702031"/>
                      <a:pt x="1491639" y="707056"/>
                      <a:pt x="1478988" y="707056"/>
                    </a:cubicBezTo>
                    <a:lnTo>
                      <a:pt x="47700" y="707056"/>
                    </a:lnTo>
                    <a:cubicBezTo>
                      <a:pt x="35049" y="707056"/>
                      <a:pt x="22916" y="702031"/>
                      <a:pt x="13971" y="693085"/>
                    </a:cubicBezTo>
                    <a:cubicBezTo>
                      <a:pt x="5025" y="684140"/>
                      <a:pt x="0" y="672007"/>
                      <a:pt x="0" y="659357"/>
                    </a:cubicBezTo>
                    <a:lnTo>
                      <a:pt x="0" y="47700"/>
                    </a:lnTo>
                    <a:cubicBezTo>
                      <a:pt x="0" y="35049"/>
                      <a:pt x="5025" y="22916"/>
                      <a:pt x="13971" y="13971"/>
                    </a:cubicBezTo>
                    <a:cubicBezTo>
                      <a:pt x="22916" y="5025"/>
                      <a:pt x="35049" y="0"/>
                      <a:pt x="47700" y="0"/>
                    </a:cubicBezTo>
                    <a:close/>
                  </a:path>
                </a:pathLst>
              </a:custGeom>
              <a:solidFill>
                <a:srgbClr val="FFFFFF"/>
              </a:solidFill>
            </p:spPr>
          </p:sp>
          <p:sp>
            <p:nvSpPr>
              <p:cNvPr name="TextBox 15" id="15"/>
              <p:cNvSpPr txBox="true"/>
              <p:nvPr/>
            </p:nvSpPr>
            <p:spPr>
              <a:xfrm>
                <a:off x="0" y="-142875"/>
                <a:ext cx="1526688" cy="849931"/>
              </a:xfrm>
              <a:prstGeom prst="rect">
                <a:avLst/>
              </a:prstGeom>
            </p:spPr>
            <p:txBody>
              <a:bodyPr anchor="ctr" rtlCol="false" tIns="254000" lIns="254000" bIns="254000" rIns="254000"/>
              <a:lstStyle/>
              <a:p>
                <a:pPr algn="just">
                  <a:lnSpc>
                    <a:spcPts val="3759"/>
                  </a:lnSpc>
                </a:pPr>
              </a:p>
            </p:txBody>
          </p:sp>
        </p:grpSp>
        <p:sp>
          <p:nvSpPr>
            <p:cNvPr name="Freeform 16" id="16"/>
            <p:cNvSpPr/>
            <p:nvPr/>
          </p:nvSpPr>
          <p:spPr>
            <a:xfrm flipH="false" flipV="false" rot="0">
              <a:off x="879867" y="0"/>
              <a:ext cx="8791686" cy="5011261"/>
            </a:xfrm>
            <a:custGeom>
              <a:avLst/>
              <a:gdLst/>
              <a:ahLst/>
              <a:cxnLst/>
              <a:rect r="r" b="b" t="t" l="l"/>
              <a:pathLst>
                <a:path h="5011261" w="8791686">
                  <a:moveTo>
                    <a:pt x="0" y="0"/>
                  </a:moveTo>
                  <a:lnTo>
                    <a:pt x="8791686" y="0"/>
                  </a:lnTo>
                  <a:lnTo>
                    <a:pt x="8791686" y="5011261"/>
                  </a:lnTo>
                  <a:lnTo>
                    <a:pt x="0" y="5011261"/>
                  </a:lnTo>
                  <a:lnTo>
                    <a:pt x="0" y="0"/>
                  </a:lnTo>
                  <a:close/>
                </a:path>
              </a:pathLst>
            </a:custGeom>
            <a:blipFill>
              <a:blip r:embed="rId2"/>
              <a:stretch>
                <a:fillRect l="0" t="0" r="0" b="0"/>
              </a:stretch>
            </a:blipFill>
          </p:spPr>
        </p:sp>
      </p:grpSp>
      <p:grpSp>
        <p:nvGrpSpPr>
          <p:cNvPr name="Group 17" id="17"/>
          <p:cNvGrpSpPr/>
          <p:nvPr/>
        </p:nvGrpSpPr>
        <p:grpSpPr>
          <a:xfrm rot="0">
            <a:off x="3222670" y="334159"/>
            <a:ext cx="11842660" cy="917522"/>
            <a:chOff x="0" y="0"/>
            <a:chExt cx="15790214" cy="1223363"/>
          </a:xfrm>
        </p:grpSpPr>
        <p:grpSp>
          <p:nvGrpSpPr>
            <p:cNvPr name="Group 18" id="18"/>
            <p:cNvGrpSpPr/>
            <p:nvPr/>
          </p:nvGrpSpPr>
          <p:grpSpPr>
            <a:xfrm rot="0">
              <a:off x="211240" y="207363"/>
              <a:ext cx="15578974" cy="1016000"/>
              <a:chOff x="0" y="0"/>
              <a:chExt cx="2198092" cy="143351"/>
            </a:xfrm>
          </p:grpSpPr>
          <p:sp>
            <p:nvSpPr>
              <p:cNvPr name="Freeform 19" id="19"/>
              <p:cNvSpPr/>
              <p:nvPr/>
            </p:nvSpPr>
            <p:spPr>
              <a:xfrm flipH="false" flipV="false" rot="0">
                <a:off x="0" y="0"/>
                <a:ext cx="2198092" cy="143351"/>
              </a:xfrm>
              <a:custGeom>
                <a:avLst/>
                <a:gdLst/>
                <a:ahLst/>
                <a:cxnLst/>
                <a:rect r="r" b="b" t="t" l="l"/>
                <a:pathLst>
                  <a:path h="143351" w="2198092">
                    <a:moveTo>
                      <a:pt x="33792" y="0"/>
                    </a:moveTo>
                    <a:lnTo>
                      <a:pt x="2164299" y="0"/>
                    </a:lnTo>
                    <a:cubicBezTo>
                      <a:pt x="2173262" y="0"/>
                      <a:pt x="2181857" y="3560"/>
                      <a:pt x="2188194" y="9898"/>
                    </a:cubicBezTo>
                    <a:cubicBezTo>
                      <a:pt x="2194531" y="16235"/>
                      <a:pt x="2198092" y="24830"/>
                      <a:pt x="2198092" y="33792"/>
                    </a:cubicBezTo>
                    <a:lnTo>
                      <a:pt x="2198092" y="109559"/>
                    </a:lnTo>
                    <a:cubicBezTo>
                      <a:pt x="2198092" y="118521"/>
                      <a:pt x="2194531" y="127116"/>
                      <a:pt x="2188194" y="133453"/>
                    </a:cubicBezTo>
                    <a:cubicBezTo>
                      <a:pt x="2181857" y="139791"/>
                      <a:pt x="2173262" y="143351"/>
                      <a:pt x="2164299" y="143351"/>
                    </a:cubicBezTo>
                    <a:lnTo>
                      <a:pt x="33792" y="143351"/>
                    </a:lnTo>
                    <a:cubicBezTo>
                      <a:pt x="24830" y="143351"/>
                      <a:pt x="16235" y="139791"/>
                      <a:pt x="9898" y="133453"/>
                    </a:cubicBezTo>
                    <a:cubicBezTo>
                      <a:pt x="3560" y="127116"/>
                      <a:pt x="0" y="118521"/>
                      <a:pt x="0" y="109559"/>
                    </a:cubicBezTo>
                    <a:lnTo>
                      <a:pt x="0" y="33792"/>
                    </a:lnTo>
                    <a:cubicBezTo>
                      <a:pt x="0" y="24830"/>
                      <a:pt x="3560" y="16235"/>
                      <a:pt x="9898" y="9898"/>
                    </a:cubicBezTo>
                    <a:cubicBezTo>
                      <a:pt x="16235" y="3560"/>
                      <a:pt x="24830" y="0"/>
                      <a:pt x="33792" y="0"/>
                    </a:cubicBezTo>
                    <a:close/>
                  </a:path>
                </a:pathLst>
              </a:custGeom>
              <a:solidFill>
                <a:srgbClr val="38ABD1"/>
              </a:solidFill>
              <a:ln cap="rnd">
                <a:noFill/>
                <a:prstDash val="solid"/>
                <a:round/>
              </a:ln>
            </p:spPr>
          </p:sp>
          <p:sp>
            <p:nvSpPr>
              <p:cNvPr name="TextBox 20" id="20"/>
              <p:cNvSpPr txBox="true"/>
              <p:nvPr/>
            </p:nvSpPr>
            <p:spPr>
              <a:xfrm>
                <a:off x="0" y="-19050"/>
                <a:ext cx="2198092" cy="162401"/>
              </a:xfrm>
              <a:prstGeom prst="rect">
                <a:avLst/>
              </a:prstGeom>
            </p:spPr>
            <p:txBody>
              <a:bodyPr anchor="ctr" rtlCol="false" tIns="50800" lIns="50800" bIns="50800" rIns="50800"/>
              <a:lstStyle/>
              <a:p>
                <a:pPr algn="ctr" marL="0" indent="0" lvl="0">
                  <a:lnSpc>
                    <a:spcPts val="2080"/>
                  </a:lnSpc>
                  <a:spcBef>
                    <a:spcPct val="0"/>
                  </a:spcBef>
                </a:pPr>
              </a:p>
            </p:txBody>
          </p:sp>
        </p:grpSp>
        <p:grpSp>
          <p:nvGrpSpPr>
            <p:cNvPr name="Group 21" id="21"/>
            <p:cNvGrpSpPr/>
            <p:nvPr/>
          </p:nvGrpSpPr>
          <p:grpSpPr>
            <a:xfrm rot="0">
              <a:off x="0" y="0"/>
              <a:ext cx="15578974" cy="1057546"/>
              <a:chOff x="0" y="0"/>
              <a:chExt cx="2198092" cy="149213"/>
            </a:xfrm>
          </p:grpSpPr>
          <p:sp>
            <p:nvSpPr>
              <p:cNvPr name="Freeform 22" id="22"/>
              <p:cNvSpPr/>
              <p:nvPr/>
            </p:nvSpPr>
            <p:spPr>
              <a:xfrm flipH="false" flipV="false" rot="0">
                <a:off x="0" y="0"/>
                <a:ext cx="2198092" cy="149213"/>
              </a:xfrm>
              <a:custGeom>
                <a:avLst/>
                <a:gdLst/>
                <a:ahLst/>
                <a:cxnLst/>
                <a:rect r="r" b="b" t="t" l="l"/>
                <a:pathLst>
                  <a:path h="149213" w="2198092">
                    <a:moveTo>
                      <a:pt x="33792" y="0"/>
                    </a:moveTo>
                    <a:lnTo>
                      <a:pt x="2164299" y="0"/>
                    </a:lnTo>
                    <a:cubicBezTo>
                      <a:pt x="2173262" y="0"/>
                      <a:pt x="2181857" y="3560"/>
                      <a:pt x="2188194" y="9898"/>
                    </a:cubicBezTo>
                    <a:cubicBezTo>
                      <a:pt x="2194531" y="16235"/>
                      <a:pt x="2198092" y="24830"/>
                      <a:pt x="2198092" y="33792"/>
                    </a:cubicBezTo>
                    <a:lnTo>
                      <a:pt x="2198092" y="115420"/>
                    </a:lnTo>
                    <a:cubicBezTo>
                      <a:pt x="2198092" y="124383"/>
                      <a:pt x="2194531" y="132978"/>
                      <a:pt x="2188194" y="139315"/>
                    </a:cubicBezTo>
                    <a:cubicBezTo>
                      <a:pt x="2181857" y="145653"/>
                      <a:pt x="2173262" y="149213"/>
                      <a:pt x="2164299" y="149213"/>
                    </a:cubicBezTo>
                    <a:lnTo>
                      <a:pt x="33792" y="149213"/>
                    </a:lnTo>
                    <a:cubicBezTo>
                      <a:pt x="24830" y="149213"/>
                      <a:pt x="16235" y="145653"/>
                      <a:pt x="9898" y="139315"/>
                    </a:cubicBezTo>
                    <a:cubicBezTo>
                      <a:pt x="3560" y="132978"/>
                      <a:pt x="0" y="124383"/>
                      <a:pt x="0" y="115420"/>
                    </a:cubicBezTo>
                    <a:lnTo>
                      <a:pt x="0" y="33792"/>
                    </a:lnTo>
                    <a:cubicBezTo>
                      <a:pt x="0" y="24830"/>
                      <a:pt x="3560" y="16235"/>
                      <a:pt x="9898" y="9898"/>
                    </a:cubicBezTo>
                    <a:cubicBezTo>
                      <a:pt x="16235" y="3560"/>
                      <a:pt x="24830" y="0"/>
                      <a:pt x="33792" y="0"/>
                    </a:cubicBezTo>
                    <a:close/>
                  </a:path>
                </a:pathLst>
              </a:custGeom>
              <a:solidFill>
                <a:srgbClr val="FFFFFF"/>
              </a:solidFill>
            </p:spPr>
          </p:sp>
          <p:sp>
            <p:nvSpPr>
              <p:cNvPr name="TextBox 23" id="23"/>
              <p:cNvSpPr txBox="true"/>
              <p:nvPr/>
            </p:nvSpPr>
            <p:spPr>
              <a:xfrm>
                <a:off x="0" y="-38100"/>
                <a:ext cx="2198092" cy="187313"/>
              </a:xfrm>
              <a:prstGeom prst="rect">
                <a:avLst/>
              </a:prstGeom>
            </p:spPr>
            <p:txBody>
              <a:bodyPr anchor="ctr" rtlCol="false" tIns="50800" lIns="50800" bIns="50800" rIns="50800"/>
              <a:lstStyle/>
              <a:p>
                <a:pPr algn="ctr">
                  <a:lnSpc>
                    <a:spcPts val="4549"/>
                  </a:lnSpc>
                </a:pPr>
                <a:r>
                  <a:rPr lang="en-US" b="true" sz="3499">
                    <a:solidFill>
                      <a:srgbClr val="000001"/>
                    </a:solidFill>
                    <a:latin typeface="Klein Bold"/>
                    <a:ea typeface="Klein Bold"/>
                    <a:cs typeface="Klein Bold"/>
                    <a:sym typeface="Klein Bold"/>
                  </a:rPr>
                  <a:t>Spatia</a:t>
                </a:r>
                <a:r>
                  <a:rPr lang="en-US" b="true" sz="3499">
                    <a:solidFill>
                      <a:srgbClr val="000001"/>
                    </a:solidFill>
                    <a:latin typeface="Klein Bold"/>
                    <a:ea typeface="Klein Bold"/>
                    <a:cs typeface="Klein Bold"/>
                    <a:sym typeface="Klein Bold"/>
                  </a:rPr>
                  <a:t>l Regression</a:t>
                </a:r>
              </a:p>
            </p:txBody>
          </p:sp>
        </p:grpSp>
      </p:grpSp>
      <p:grpSp>
        <p:nvGrpSpPr>
          <p:cNvPr name="Group 24" id="24"/>
          <p:cNvGrpSpPr/>
          <p:nvPr/>
        </p:nvGrpSpPr>
        <p:grpSpPr>
          <a:xfrm rot="0">
            <a:off x="5447904" y="6144210"/>
            <a:ext cx="7392193" cy="3758446"/>
            <a:chOff x="0" y="0"/>
            <a:chExt cx="9856257" cy="5011261"/>
          </a:xfrm>
        </p:grpSpPr>
        <p:grpSp>
          <p:nvGrpSpPr>
            <p:cNvPr name="Group 25" id="25"/>
            <p:cNvGrpSpPr/>
            <p:nvPr/>
          </p:nvGrpSpPr>
          <p:grpSpPr>
            <a:xfrm rot="0">
              <a:off x="0" y="0"/>
              <a:ext cx="9856257" cy="5011261"/>
              <a:chOff x="0" y="0"/>
              <a:chExt cx="1114513" cy="566657"/>
            </a:xfrm>
          </p:grpSpPr>
          <p:sp>
            <p:nvSpPr>
              <p:cNvPr name="Freeform 26" id="26"/>
              <p:cNvSpPr/>
              <p:nvPr/>
            </p:nvSpPr>
            <p:spPr>
              <a:xfrm flipH="false" flipV="false" rot="0">
                <a:off x="0" y="0"/>
                <a:ext cx="1114513" cy="566657"/>
              </a:xfrm>
              <a:custGeom>
                <a:avLst/>
                <a:gdLst/>
                <a:ahLst/>
                <a:cxnLst/>
                <a:rect r="r" b="b" t="t" l="l"/>
                <a:pathLst>
                  <a:path h="566657" w="1114513">
                    <a:moveTo>
                      <a:pt x="52366" y="0"/>
                    </a:moveTo>
                    <a:lnTo>
                      <a:pt x="1062148" y="0"/>
                    </a:lnTo>
                    <a:cubicBezTo>
                      <a:pt x="1091068" y="0"/>
                      <a:pt x="1114513" y="23445"/>
                      <a:pt x="1114513" y="52366"/>
                    </a:cubicBezTo>
                    <a:lnTo>
                      <a:pt x="1114513" y="514291"/>
                    </a:lnTo>
                    <a:cubicBezTo>
                      <a:pt x="1114513" y="543212"/>
                      <a:pt x="1091068" y="566657"/>
                      <a:pt x="1062148" y="566657"/>
                    </a:cubicBezTo>
                    <a:lnTo>
                      <a:pt x="52366" y="566657"/>
                    </a:lnTo>
                    <a:cubicBezTo>
                      <a:pt x="38477" y="566657"/>
                      <a:pt x="25158" y="561140"/>
                      <a:pt x="15338" y="551319"/>
                    </a:cubicBezTo>
                    <a:cubicBezTo>
                      <a:pt x="5517" y="541499"/>
                      <a:pt x="0" y="528180"/>
                      <a:pt x="0" y="514291"/>
                    </a:cubicBezTo>
                    <a:lnTo>
                      <a:pt x="0" y="52366"/>
                    </a:lnTo>
                    <a:cubicBezTo>
                      <a:pt x="0" y="23445"/>
                      <a:pt x="23445" y="0"/>
                      <a:pt x="52366" y="0"/>
                    </a:cubicBezTo>
                    <a:close/>
                  </a:path>
                </a:pathLst>
              </a:custGeom>
              <a:solidFill>
                <a:srgbClr val="FFFFFF"/>
              </a:solidFill>
            </p:spPr>
          </p:sp>
          <p:sp>
            <p:nvSpPr>
              <p:cNvPr name="TextBox 27" id="27"/>
              <p:cNvSpPr txBox="true"/>
              <p:nvPr/>
            </p:nvSpPr>
            <p:spPr>
              <a:xfrm>
                <a:off x="0" y="-38100"/>
                <a:ext cx="1114513" cy="604757"/>
              </a:xfrm>
              <a:prstGeom prst="rect">
                <a:avLst/>
              </a:prstGeom>
            </p:spPr>
            <p:txBody>
              <a:bodyPr anchor="ctr" rtlCol="false" tIns="316933" lIns="316933" bIns="316933" rIns="316933"/>
              <a:lstStyle/>
              <a:p>
                <a:pPr algn="ctr">
                  <a:lnSpc>
                    <a:spcPts val="3380"/>
                  </a:lnSpc>
                </a:pPr>
              </a:p>
            </p:txBody>
          </p:sp>
        </p:grpSp>
        <p:sp>
          <p:nvSpPr>
            <p:cNvPr name="Freeform 28" id="28"/>
            <p:cNvSpPr/>
            <p:nvPr/>
          </p:nvSpPr>
          <p:spPr>
            <a:xfrm flipH="false" flipV="false" rot="0">
              <a:off x="532285" y="0"/>
              <a:ext cx="8791686" cy="5011261"/>
            </a:xfrm>
            <a:custGeom>
              <a:avLst/>
              <a:gdLst/>
              <a:ahLst/>
              <a:cxnLst/>
              <a:rect r="r" b="b" t="t" l="l"/>
              <a:pathLst>
                <a:path h="5011261" w="8791686">
                  <a:moveTo>
                    <a:pt x="0" y="0"/>
                  </a:moveTo>
                  <a:lnTo>
                    <a:pt x="8791687" y="0"/>
                  </a:lnTo>
                  <a:lnTo>
                    <a:pt x="8791687" y="5011261"/>
                  </a:lnTo>
                  <a:lnTo>
                    <a:pt x="0" y="5011261"/>
                  </a:lnTo>
                  <a:lnTo>
                    <a:pt x="0" y="0"/>
                  </a:lnTo>
                  <a:close/>
                </a:path>
              </a:pathLst>
            </a:custGeom>
            <a:blipFill>
              <a:blip r:embed="rId3"/>
              <a:stretch>
                <a:fillRect l="0" t="0" r="0" b="0"/>
              </a:stretch>
            </a:blipFill>
          </p:spPr>
        </p:sp>
      </p:grpSp>
      <p:grpSp>
        <p:nvGrpSpPr>
          <p:cNvPr name="Group 29" id="29"/>
          <p:cNvGrpSpPr/>
          <p:nvPr/>
        </p:nvGrpSpPr>
        <p:grpSpPr>
          <a:xfrm rot="0">
            <a:off x="9525000" y="2007616"/>
            <a:ext cx="8115300" cy="3758446"/>
            <a:chOff x="0" y="0"/>
            <a:chExt cx="10820400" cy="5011261"/>
          </a:xfrm>
        </p:grpSpPr>
        <p:grpSp>
          <p:nvGrpSpPr>
            <p:cNvPr name="Group 30" id="30"/>
            <p:cNvGrpSpPr/>
            <p:nvPr/>
          </p:nvGrpSpPr>
          <p:grpSpPr>
            <a:xfrm rot="0">
              <a:off x="248745" y="277901"/>
              <a:ext cx="10571655" cy="4515897"/>
              <a:chOff x="0" y="0"/>
              <a:chExt cx="1491592" cy="637164"/>
            </a:xfrm>
          </p:grpSpPr>
          <p:sp>
            <p:nvSpPr>
              <p:cNvPr name="Freeform 31" id="31"/>
              <p:cNvSpPr/>
              <p:nvPr/>
            </p:nvSpPr>
            <p:spPr>
              <a:xfrm flipH="false" flipV="false" rot="0">
                <a:off x="0" y="0"/>
                <a:ext cx="1491592" cy="637164"/>
              </a:xfrm>
              <a:custGeom>
                <a:avLst/>
                <a:gdLst/>
                <a:ahLst/>
                <a:cxnLst/>
                <a:rect r="r" b="b" t="t" l="l"/>
                <a:pathLst>
                  <a:path h="637164" w="1491592">
                    <a:moveTo>
                      <a:pt x="48822" y="0"/>
                    </a:moveTo>
                    <a:lnTo>
                      <a:pt x="1442770" y="0"/>
                    </a:lnTo>
                    <a:cubicBezTo>
                      <a:pt x="1469733" y="0"/>
                      <a:pt x="1491592" y="21858"/>
                      <a:pt x="1491592" y="48822"/>
                    </a:cubicBezTo>
                    <a:lnTo>
                      <a:pt x="1491592" y="588342"/>
                    </a:lnTo>
                    <a:cubicBezTo>
                      <a:pt x="1491592" y="601290"/>
                      <a:pt x="1486448" y="613708"/>
                      <a:pt x="1477292" y="622864"/>
                    </a:cubicBezTo>
                    <a:cubicBezTo>
                      <a:pt x="1468136" y="632020"/>
                      <a:pt x="1455718" y="637164"/>
                      <a:pt x="1442770" y="637164"/>
                    </a:cubicBezTo>
                    <a:lnTo>
                      <a:pt x="48822" y="637164"/>
                    </a:lnTo>
                    <a:cubicBezTo>
                      <a:pt x="35874" y="637164"/>
                      <a:pt x="23455" y="632020"/>
                      <a:pt x="14300" y="622864"/>
                    </a:cubicBezTo>
                    <a:cubicBezTo>
                      <a:pt x="5144" y="613708"/>
                      <a:pt x="0" y="601290"/>
                      <a:pt x="0" y="588342"/>
                    </a:cubicBezTo>
                    <a:lnTo>
                      <a:pt x="0" y="48822"/>
                    </a:lnTo>
                    <a:cubicBezTo>
                      <a:pt x="0" y="35874"/>
                      <a:pt x="5144" y="23455"/>
                      <a:pt x="14300" y="14300"/>
                    </a:cubicBezTo>
                    <a:cubicBezTo>
                      <a:pt x="23455" y="5144"/>
                      <a:pt x="35874" y="0"/>
                      <a:pt x="48822" y="0"/>
                    </a:cubicBezTo>
                    <a:close/>
                  </a:path>
                </a:pathLst>
              </a:custGeom>
              <a:solidFill>
                <a:srgbClr val="CC7E3E"/>
              </a:solidFill>
              <a:ln cap="rnd">
                <a:noFill/>
                <a:prstDash val="solid"/>
                <a:round/>
              </a:ln>
            </p:spPr>
          </p:sp>
          <p:sp>
            <p:nvSpPr>
              <p:cNvPr name="TextBox 32" id="32"/>
              <p:cNvSpPr txBox="true"/>
              <p:nvPr/>
            </p:nvSpPr>
            <p:spPr>
              <a:xfrm>
                <a:off x="0" y="-180975"/>
                <a:ext cx="1491592" cy="818139"/>
              </a:xfrm>
              <a:prstGeom prst="rect">
                <a:avLst/>
              </a:prstGeom>
            </p:spPr>
            <p:txBody>
              <a:bodyPr anchor="ctr" rtlCol="false" tIns="254000" lIns="254000" bIns="254000" rIns="254000"/>
              <a:lstStyle/>
              <a:p>
                <a:pPr algn="just" marL="0" indent="0" lvl="0">
                  <a:lnSpc>
                    <a:spcPts val="4888"/>
                  </a:lnSpc>
                </a:pPr>
              </a:p>
            </p:txBody>
          </p:sp>
        </p:grpSp>
        <p:grpSp>
          <p:nvGrpSpPr>
            <p:cNvPr name="Group 33" id="33"/>
            <p:cNvGrpSpPr/>
            <p:nvPr/>
          </p:nvGrpSpPr>
          <p:grpSpPr>
            <a:xfrm rot="0">
              <a:off x="0" y="0"/>
              <a:ext cx="10820400" cy="5011261"/>
              <a:chOff x="0" y="0"/>
              <a:chExt cx="1526688" cy="707056"/>
            </a:xfrm>
          </p:grpSpPr>
          <p:sp>
            <p:nvSpPr>
              <p:cNvPr name="Freeform 34" id="34"/>
              <p:cNvSpPr/>
              <p:nvPr/>
            </p:nvSpPr>
            <p:spPr>
              <a:xfrm flipH="false" flipV="false" rot="0">
                <a:off x="0" y="0"/>
                <a:ext cx="1526688" cy="707056"/>
              </a:xfrm>
              <a:custGeom>
                <a:avLst/>
                <a:gdLst/>
                <a:ahLst/>
                <a:cxnLst/>
                <a:rect r="r" b="b" t="t" l="l"/>
                <a:pathLst>
                  <a:path h="707056" w="1526688">
                    <a:moveTo>
                      <a:pt x="47700" y="0"/>
                    </a:moveTo>
                    <a:lnTo>
                      <a:pt x="1478988" y="0"/>
                    </a:lnTo>
                    <a:cubicBezTo>
                      <a:pt x="1491639" y="0"/>
                      <a:pt x="1503772" y="5025"/>
                      <a:pt x="1512717" y="13971"/>
                    </a:cubicBezTo>
                    <a:cubicBezTo>
                      <a:pt x="1521662" y="22916"/>
                      <a:pt x="1526688" y="35049"/>
                      <a:pt x="1526688" y="47700"/>
                    </a:cubicBezTo>
                    <a:lnTo>
                      <a:pt x="1526688" y="659357"/>
                    </a:lnTo>
                    <a:cubicBezTo>
                      <a:pt x="1526688" y="672007"/>
                      <a:pt x="1521662" y="684140"/>
                      <a:pt x="1512717" y="693085"/>
                    </a:cubicBezTo>
                    <a:cubicBezTo>
                      <a:pt x="1503772" y="702031"/>
                      <a:pt x="1491639" y="707056"/>
                      <a:pt x="1478988" y="707056"/>
                    </a:cubicBezTo>
                    <a:lnTo>
                      <a:pt x="47700" y="707056"/>
                    </a:lnTo>
                    <a:cubicBezTo>
                      <a:pt x="35049" y="707056"/>
                      <a:pt x="22916" y="702031"/>
                      <a:pt x="13971" y="693085"/>
                    </a:cubicBezTo>
                    <a:cubicBezTo>
                      <a:pt x="5025" y="684140"/>
                      <a:pt x="0" y="672007"/>
                      <a:pt x="0" y="659357"/>
                    </a:cubicBezTo>
                    <a:lnTo>
                      <a:pt x="0" y="47700"/>
                    </a:lnTo>
                    <a:cubicBezTo>
                      <a:pt x="0" y="35049"/>
                      <a:pt x="5025" y="22916"/>
                      <a:pt x="13971" y="13971"/>
                    </a:cubicBezTo>
                    <a:cubicBezTo>
                      <a:pt x="22916" y="5025"/>
                      <a:pt x="35049" y="0"/>
                      <a:pt x="47700" y="0"/>
                    </a:cubicBezTo>
                    <a:close/>
                  </a:path>
                </a:pathLst>
              </a:custGeom>
              <a:solidFill>
                <a:srgbClr val="FFFFFF"/>
              </a:solidFill>
            </p:spPr>
          </p:sp>
          <p:sp>
            <p:nvSpPr>
              <p:cNvPr name="TextBox 35" id="35"/>
              <p:cNvSpPr txBox="true"/>
              <p:nvPr/>
            </p:nvSpPr>
            <p:spPr>
              <a:xfrm>
                <a:off x="0" y="-142875"/>
                <a:ext cx="1526688" cy="849931"/>
              </a:xfrm>
              <a:prstGeom prst="rect">
                <a:avLst/>
              </a:prstGeom>
            </p:spPr>
            <p:txBody>
              <a:bodyPr anchor="ctr" rtlCol="false" tIns="254000" lIns="254000" bIns="254000" rIns="254000"/>
              <a:lstStyle/>
              <a:p>
                <a:pPr algn="just">
                  <a:lnSpc>
                    <a:spcPts val="3759"/>
                  </a:lnSpc>
                </a:pPr>
              </a:p>
            </p:txBody>
          </p:sp>
        </p:grpSp>
        <p:sp>
          <p:nvSpPr>
            <p:cNvPr name="Freeform 36" id="36"/>
            <p:cNvSpPr/>
            <p:nvPr/>
          </p:nvSpPr>
          <p:spPr>
            <a:xfrm flipH="false" flipV="false" rot="0">
              <a:off x="581853" y="0"/>
              <a:ext cx="8791686" cy="5011261"/>
            </a:xfrm>
            <a:custGeom>
              <a:avLst/>
              <a:gdLst/>
              <a:ahLst/>
              <a:cxnLst/>
              <a:rect r="r" b="b" t="t" l="l"/>
              <a:pathLst>
                <a:path h="5011261" w="8791686">
                  <a:moveTo>
                    <a:pt x="0" y="0"/>
                  </a:moveTo>
                  <a:lnTo>
                    <a:pt x="8791686" y="0"/>
                  </a:lnTo>
                  <a:lnTo>
                    <a:pt x="8791686" y="5011261"/>
                  </a:lnTo>
                  <a:lnTo>
                    <a:pt x="0" y="5011261"/>
                  </a:lnTo>
                  <a:lnTo>
                    <a:pt x="0" y="0"/>
                  </a:lnTo>
                  <a:close/>
                </a:path>
              </a:pathLst>
            </a:custGeom>
            <a:blipFill>
              <a:blip r:embed="rId4"/>
              <a:stretch>
                <a:fillRect l="0" t="0" r="0" b="0"/>
              </a:stretch>
            </a:blipFill>
          </p:spPr>
        </p:sp>
      </p:grpSp>
    </p:spTree>
  </p:cSld>
  <p:clrMapOvr>
    <a:masterClrMapping/>
  </p:clrMapOvr>
  <p:transition spd="fast">
    <p:fade/>
  </p:transition>
</p:sld>
</file>

<file path=ppt/slides/slide15.xml><?xml version="1.0" encoding="utf-8"?>
<p:sld xmlns:p="http://schemas.openxmlformats.org/presentationml/2006/main" xmlns:a="http://schemas.openxmlformats.org/drawingml/2006/main">
  <p:cSld>
    <p:bg>
      <p:bgPr>
        <a:solidFill>
          <a:srgbClr val="D39059"/>
        </a:solidFill>
      </p:bgPr>
    </p:bg>
    <p:spTree>
      <p:nvGrpSpPr>
        <p:cNvPr id="1" name=""/>
        <p:cNvGrpSpPr/>
        <p:nvPr/>
      </p:nvGrpSpPr>
      <p:grpSpPr>
        <a:xfrm>
          <a:off x="0" y="0"/>
          <a:ext cx="0" cy="0"/>
          <a:chOff x="0" y="0"/>
          <a:chExt cx="0" cy="0"/>
        </a:xfrm>
      </p:grpSpPr>
      <p:grpSp>
        <p:nvGrpSpPr>
          <p:cNvPr name="Group 2" id="2"/>
          <p:cNvGrpSpPr/>
          <p:nvPr/>
        </p:nvGrpSpPr>
        <p:grpSpPr>
          <a:xfrm rot="0">
            <a:off x="-476250" y="-190500"/>
            <a:ext cx="19240500" cy="2381250"/>
            <a:chOff x="0" y="0"/>
            <a:chExt cx="25654000" cy="3175000"/>
          </a:xfrm>
        </p:grpSpPr>
        <p:grpSp>
          <p:nvGrpSpPr>
            <p:cNvPr name="Group 3" id="3"/>
            <p:cNvGrpSpPr/>
            <p:nvPr/>
          </p:nvGrpSpPr>
          <p:grpSpPr>
            <a:xfrm rot="0">
              <a:off x="0" y="0"/>
              <a:ext cx="25654000" cy="2984500"/>
              <a:chOff x="0" y="0"/>
              <a:chExt cx="5067457" cy="589531"/>
            </a:xfrm>
          </p:grpSpPr>
          <p:sp>
            <p:nvSpPr>
              <p:cNvPr name="Freeform 4" id="4"/>
              <p:cNvSpPr/>
              <p:nvPr/>
            </p:nvSpPr>
            <p:spPr>
              <a:xfrm flipH="false" flipV="false" rot="0">
                <a:off x="0" y="0"/>
                <a:ext cx="5067457" cy="589531"/>
              </a:xfrm>
              <a:custGeom>
                <a:avLst/>
                <a:gdLst/>
                <a:ahLst/>
                <a:cxnLst/>
                <a:rect r="r" b="b" t="t" l="l"/>
                <a:pathLst>
                  <a:path h="589531" w="5067457">
                    <a:moveTo>
                      <a:pt x="0" y="0"/>
                    </a:moveTo>
                    <a:lnTo>
                      <a:pt x="5067457" y="0"/>
                    </a:lnTo>
                    <a:lnTo>
                      <a:pt x="5067457" y="589531"/>
                    </a:lnTo>
                    <a:lnTo>
                      <a:pt x="0" y="589531"/>
                    </a:lnTo>
                    <a:close/>
                  </a:path>
                </a:pathLst>
              </a:custGeom>
              <a:solidFill>
                <a:srgbClr val="97D4E8"/>
              </a:solidFill>
              <a:ln cap="sq">
                <a:noFill/>
                <a:prstDash val="solid"/>
                <a:miter/>
              </a:ln>
            </p:spPr>
          </p:sp>
          <p:sp>
            <p:nvSpPr>
              <p:cNvPr name="TextBox 5" id="5"/>
              <p:cNvSpPr txBox="true"/>
              <p:nvPr/>
            </p:nvSpPr>
            <p:spPr>
              <a:xfrm>
                <a:off x="0" y="-19050"/>
                <a:ext cx="5067457" cy="608581"/>
              </a:xfrm>
              <a:prstGeom prst="rect">
                <a:avLst/>
              </a:prstGeom>
            </p:spPr>
            <p:txBody>
              <a:bodyPr anchor="ctr" rtlCol="false" tIns="50800" lIns="50800" bIns="50800" rIns="50800"/>
              <a:lstStyle/>
              <a:p>
                <a:pPr algn="ctr" marL="0" indent="0" lvl="0">
                  <a:lnSpc>
                    <a:spcPts val="2080"/>
                  </a:lnSpc>
                  <a:spcBef>
                    <a:spcPct val="0"/>
                  </a:spcBef>
                </a:pPr>
              </a:p>
            </p:txBody>
          </p:sp>
        </p:grpSp>
        <p:grpSp>
          <p:nvGrpSpPr>
            <p:cNvPr name="Group 6" id="6"/>
            <p:cNvGrpSpPr/>
            <p:nvPr/>
          </p:nvGrpSpPr>
          <p:grpSpPr>
            <a:xfrm rot="0">
              <a:off x="0" y="2921000"/>
              <a:ext cx="25654000" cy="254000"/>
              <a:chOff x="0" y="0"/>
              <a:chExt cx="5067457" cy="50173"/>
            </a:xfrm>
          </p:grpSpPr>
          <p:sp>
            <p:nvSpPr>
              <p:cNvPr name="Freeform 7" id="7"/>
              <p:cNvSpPr/>
              <p:nvPr/>
            </p:nvSpPr>
            <p:spPr>
              <a:xfrm flipH="false" flipV="false" rot="0">
                <a:off x="0" y="0"/>
                <a:ext cx="5067457" cy="50173"/>
              </a:xfrm>
              <a:custGeom>
                <a:avLst/>
                <a:gdLst/>
                <a:ahLst/>
                <a:cxnLst/>
                <a:rect r="r" b="b" t="t" l="l"/>
                <a:pathLst>
                  <a:path h="50173" w="5067457">
                    <a:moveTo>
                      <a:pt x="0" y="0"/>
                    </a:moveTo>
                    <a:lnTo>
                      <a:pt x="5067457" y="0"/>
                    </a:lnTo>
                    <a:lnTo>
                      <a:pt x="5067457" y="50173"/>
                    </a:lnTo>
                    <a:lnTo>
                      <a:pt x="0" y="50173"/>
                    </a:lnTo>
                    <a:close/>
                  </a:path>
                </a:pathLst>
              </a:custGeom>
              <a:solidFill>
                <a:srgbClr val="CC7E3E"/>
              </a:solidFill>
              <a:ln cap="sq">
                <a:noFill/>
                <a:prstDash val="solid"/>
                <a:miter/>
              </a:ln>
            </p:spPr>
          </p:sp>
          <p:sp>
            <p:nvSpPr>
              <p:cNvPr name="TextBox 8" id="8"/>
              <p:cNvSpPr txBox="true"/>
              <p:nvPr/>
            </p:nvSpPr>
            <p:spPr>
              <a:xfrm>
                <a:off x="0" y="-19050"/>
                <a:ext cx="5067457" cy="69223"/>
              </a:xfrm>
              <a:prstGeom prst="rect">
                <a:avLst/>
              </a:prstGeom>
            </p:spPr>
            <p:txBody>
              <a:bodyPr anchor="ctr" rtlCol="false" tIns="50800" lIns="50800" bIns="50800" rIns="50800"/>
              <a:lstStyle/>
              <a:p>
                <a:pPr algn="ctr" marL="0" indent="0" lvl="0">
                  <a:lnSpc>
                    <a:spcPts val="2080"/>
                  </a:lnSpc>
                  <a:spcBef>
                    <a:spcPct val="0"/>
                  </a:spcBef>
                </a:pPr>
              </a:p>
            </p:txBody>
          </p:sp>
        </p:grpSp>
      </p:grpSp>
      <p:grpSp>
        <p:nvGrpSpPr>
          <p:cNvPr name="Group 9" id="9"/>
          <p:cNvGrpSpPr/>
          <p:nvPr/>
        </p:nvGrpSpPr>
        <p:grpSpPr>
          <a:xfrm rot="0">
            <a:off x="1194030" y="2948367"/>
            <a:ext cx="7635964" cy="6977321"/>
            <a:chOff x="0" y="0"/>
            <a:chExt cx="1151266" cy="1051963"/>
          </a:xfrm>
        </p:grpSpPr>
        <p:sp>
          <p:nvSpPr>
            <p:cNvPr name="Freeform 10" id="10"/>
            <p:cNvSpPr/>
            <p:nvPr/>
          </p:nvSpPr>
          <p:spPr>
            <a:xfrm flipH="false" flipV="false" rot="0">
              <a:off x="0" y="0"/>
              <a:ext cx="1151266" cy="1051963"/>
            </a:xfrm>
            <a:custGeom>
              <a:avLst/>
              <a:gdLst/>
              <a:ahLst/>
              <a:cxnLst/>
              <a:rect r="r" b="b" t="t" l="l"/>
              <a:pathLst>
                <a:path h="1051963" w="1151266">
                  <a:moveTo>
                    <a:pt x="50694" y="0"/>
                  </a:moveTo>
                  <a:lnTo>
                    <a:pt x="1100572" y="0"/>
                  </a:lnTo>
                  <a:cubicBezTo>
                    <a:pt x="1114017" y="0"/>
                    <a:pt x="1126911" y="5341"/>
                    <a:pt x="1136418" y="14848"/>
                  </a:cubicBezTo>
                  <a:cubicBezTo>
                    <a:pt x="1145925" y="24355"/>
                    <a:pt x="1151266" y="37249"/>
                    <a:pt x="1151266" y="50694"/>
                  </a:cubicBezTo>
                  <a:lnTo>
                    <a:pt x="1151266" y="1001269"/>
                  </a:lnTo>
                  <a:cubicBezTo>
                    <a:pt x="1151266" y="1029267"/>
                    <a:pt x="1128570" y="1051963"/>
                    <a:pt x="1100572" y="1051963"/>
                  </a:cubicBezTo>
                  <a:lnTo>
                    <a:pt x="50694" y="1051963"/>
                  </a:lnTo>
                  <a:cubicBezTo>
                    <a:pt x="37249" y="1051963"/>
                    <a:pt x="24355" y="1046622"/>
                    <a:pt x="14848" y="1037115"/>
                  </a:cubicBezTo>
                  <a:cubicBezTo>
                    <a:pt x="5341" y="1027608"/>
                    <a:pt x="0" y="1014714"/>
                    <a:pt x="0" y="1001269"/>
                  </a:cubicBezTo>
                  <a:lnTo>
                    <a:pt x="0" y="50694"/>
                  </a:lnTo>
                  <a:cubicBezTo>
                    <a:pt x="0" y="37249"/>
                    <a:pt x="5341" y="24355"/>
                    <a:pt x="14848" y="14848"/>
                  </a:cubicBezTo>
                  <a:cubicBezTo>
                    <a:pt x="24355" y="5341"/>
                    <a:pt x="37249" y="0"/>
                    <a:pt x="50694" y="0"/>
                  </a:cubicBezTo>
                  <a:close/>
                </a:path>
              </a:pathLst>
            </a:custGeom>
            <a:solidFill>
              <a:srgbClr val="CC7E3E"/>
            </a:solidFill>
            <a:ln cap="rnd">
              <a:noFill/>
              <a:prstDash val="solid"/>
              <a:round/>
            </a:ln>
          </p:spPr>
        </p:sp>
        <p:sp>
          <p:nvSpPr>
            <p:cNvPr name="TextBox 11" id="11"/>
            <p:cNvSpPr txBox="true"/>
            <p:nvPr/>
          </p:nvSpPr>
          <p:spPr>
            <a:xfrm>
              <a:off x="0" y="-38100"/>
              <a:ext cx="1151266" cy="1090063"/>
            </a:xfrm>
            <a:prstGeom prst="rect">
              <a:avLst/>
            </a:prstGeom>
          </p:spPr>
          <p:txBody>
            <a:bodyPr anchor="ctr" rtlCol="false" tIns="316933" lIns="316933" bIns="316933" rIns="316933"/>
            <a:lstStyle/>
            <a:p>
              <a:pPr algn="ctr" marL="0" indent="0" lvl="0">
                <a:lnSpc>
                  <a:spcPts val="3380"/>
                </a:lnSpc>
                <a:spcBef>
                  <a:spcPct val="0"/>
                </a:spcBef>
              </a:pPr>
            </a:p>
          </p:txBody>
        </p:sp>
      </p:grpSp>
      <p:grpSp>
        <p:nvGrpSpPr>
          <p:cNvPr name="Group 12" id="12"/>
          <p:cNvGrpSpPr/>
          <p:nvPr/>
        </p:nvGrpSpPr>
        <p:grpSpPr>
          <a:xfrm rot="0">
            <a:off x="580706" y="2434521"/>
            <a:ext cx="8115300" cy="7460551"/>
            <a:chOff x="0" y="0"/>
            <a:chExt cx="10820400" cy="9947402"/>
          </a:xfrm>
        </p:grpSpPr>
        <p:grpSp>
          <p:nvGrpSpPr>
            <p:cNvPr name="Group 13" id="13"/>
            <p:cNvGrpSpPr/>
            <p:nvPr/>
          </p:nvGrpSpPr>
          <p:grpSpPr>
            <a:xfrm rot="0">
              <a:off x="248745" y="551637"/>
              <a:ext cx="10571655" cy="8964099"/>
              <a:chOff x="0" y="0"/>
              <a:chExt cx="1491592" cy="1264776"/>
            </a:xfrm>
          </p:grpSpPr>
          <p:sp>
            <p:nvSpPr>
              <p:cNvPr name="Freeform 14" id="14"/>
              <p:cNvSpPr/>
              <p:nvPr/>
            </p:nvSpPr>
            <p:spPr>
              <a:xfrm flipH="false" flipV="false" rot="0">
                <a:off x="0" y="0"/>
                <a:ext cx="1491592" cy="1264776"/>
              </a:xfrm>
              <a:custGeom>
                <a:avLst/>
                <a:gdLst/>
                <a:ahLst/>
                <a:cxnLst/>
                <a:rect r="r" b="b" t="t" l="l"/>
                <a:pathLst>
                  <a:path h="1264776" w="1491592">
                    <a:moveTo>
                      <a:pt x="48822" y="0"/>
                    </a:moveTo>
                    <a:lnTo>
                      <a:pt x="1442770" y="0"/>
                    </a:lnTo>
                    <a:cubicBezTo>
                      <a:pt x="1469733" y="0"/>
                      <a:pt x="1491592" y="21858"/>
                      <a:pt x="1491592" y="48822"/>
                    </a:cubicBezTo>
                    <a:lnTo>
                      <a:pt x="1491592" y="1215954"/>
                    </a:lnTo>
                    <a:cubicBezTo>
                      <a:pt x="1491592" y="1228902"/>
                      <a:pt x="1486448" y="1241320"/>
                      <a:pt x="1477292" y="1250476"/>
                    </a:cubicBezTo>
                    <a:cubicBezTo>
                      <a:pt x="1468136" y="1259632"/>
                      <a:pt x="1455718" y="1264776"/>
                      <a:pt x="1442770" y="1264776"/>
                    </a:cubicBezTo>
                    <a:lnTo>
                      <a:pt x="48822" y="1264776"/>
                    </a:lnTo>
                    <a:cubicBezTo>
                      <a:pt x="35874" y="1264776"/>
                      <a:pt x="23455" y="1259632"/>
                      <a:pt x="14300" y="1250476"/>
                    </a:cubicBezTo>
                    <a:cubicBezTo>
                      <a:pt x="5144" y="1241320"/>
                      <a:pt x="0" y="1228902"/>
                      <a:pt x="0" y="1215954"/>
                    </a:cubicBezTo>
                    <a:lnTo>
                      <a:pt x="0" y="48822"/>
                    </a:lnTo>
                    <a:cubicBezTo>
                      <a:pt x="0" y="35874"/>
                      <a:pt x="5144" y="23455"/>
                      <a:pt x="14300" y="14300"/>
                    </a:cubicBezTo>
                    <a:cubicBezTo>
                      <a:pt x="23455" y="5144"/>
                      <a:pt x="35874" y="0"/>
                      <a:pt x="48822" y="0"/>
                    </a:cubicBezTo>
                    <a:close/>
                  </a:path>
                </a:pathLst>
              </a:custGeom>
              <a:solidFill>
                <a:srgbClr val="CC7E3E"/>
              </a:solidFill>
              <a:ln cap="rnd">
                <a:noFill/>
                <a:prstDash val="solid"/>
                <a:round/>
              </a:ln>
            </p:spPr>
          </p:sp>
          <p:sp>
            <p:nvSpPr>
              <p:cNvPr name="TextBox 15" id="15"/>
              <p:cNvSpPr txBox="true"/>
              <p:nvPr/>
            </p:nvSpPr>
            <p:spPr>
              <a:xfrm>
                <a:off x="0" y="-180975"/>
                <a:ext cx="1491592" cy="1445751"/>
              </a:xfrm>
              <a:prstGeom prst="rect">
                <a:avLst/>
              </a:prstGeom>
            </p:spPr>
            <p:txBody>
              <a:bodyPr anchor="ctr" rtlCol="false" tIns="254000" lIns="254000" bIns="254000" rIns="254000"/>
              <a:lstStyle/>
              <a:p>
                <a:pPr algn="just" marL="0" indent="0" lvl="0">
                  <a:lnSpc>
                    <a:spcPts val="4888"/>
                  </a:lnSpc>
                </a:pPr>
              </a:p>
            </p:txBody>
          </p:sp>
        </p:grpSp>
        <p:grpSp>
          <p:nvGrpSpPr>
            <p:cNvPr name="Group 16" id="16"/>
            <p:cNvGrpSpPr/>
            <p:nvPr/>
          </p:nvGrpSpPr>
          <p:grpSpPr>
            <a:xfrm rot="0">
              <a:off x="0" y="0"/>
              <a:ext cx="10820400" cy="9947402"/>
              <a:chOff x="0" y="0"/>
              <a:chExt cx="1526688" cy="1403513"/>
            </a:xfrm>
          </p:grpSpPr>
          <p:sp>
            <p:nvSpPr>
              <p:cNvPr name="Freeform 17" id="17"/>
              <p:cNvSpPr/>
              <p:nvPr/>
            </p:nvSpPr>
            <p:spPr>
              <a:xfrm flipH="false" flipV="false" rot="0">
                <a:off x="0" y="0"/>
                <a:ext cx="1526688" cy="1403513"/>
              </a:xfrm>
              <a:custGeom>
                <a:avLst/>
                <a:gdLst/>
                <a:ahLst/>
                <a:cxnLst/>
                <a:rect r="r" b="b" t="t" l="l"/>
                <a:pathLst>
                  <a:path h="1403513" w="1526688">
                    <a:moveTo>
                      <a:pt x="47700" y="0"/>
                    </a:moveTo>
                    <a:lnTo>
                      <a:pt x="1478988" y="0"/>
                    </a:lnTo>
                    <a:cubicBezTo>
                      <a:pt x="1491639" y="0"/>
                      <a:pt x="1503772" y="5025"/>
                      <a:pt x="1512717" y="13971"/>
                    </a:cubicBezTo>
                    <a:cubicBezTo>
                      <a:pt x="1521662" y="22916"/>
                      <a:pt x="1526688" y="35049"/>
                      <a:pt x="1526688" y="47700"/>
                    </a:cubicBezTo>
                    <a:lnTo>
                      <a:pt x="1526688" y="1355814"/>
                    </a:lnTo>
                    <a:cubicBezTo>
                      <a:pt x="1526688" y="1368465"/>
                      <a:pt x="1521662" y="1380597"/>
                      <a:pt x="1512717" y="1389543"/>
                    </a:cubicBezTo>
                    <a:cubicBezTo>
                      <a:pt x="1503772" y="1398488"/>
                      <a:pt x="1491639" y="1403513"/>
                      <a:pt x="1478988" y="1403513"/>
                    </a:cubicBezTo>
                    <a:lnTo>
                      <a:pt x="47700" y="1403513"/>
                    </a:lnTo>
                    <a:cubicBezTo>
                      <a:pt x="35049" y="1403513"/>
                      <a:pt x="22916" y="1398488"/>
                      <a:pt x="13971" y="1389543"/>
                    </a:cubicBezTo>
                    <a:cubicBezTo>
                      <a:pt x="5025" y="1380597"/>
                      <a:pt x="0" y="1368465"/>
                      <a:pt x="0" y="1355814"/>
                    </a:cubicBezTo>
                    <a:lnTo>
                      <a:pt x="0" y="47700"/>
                    </a:lnTo>
                    <a:cubicBezTo>
                      <a:pt x="0" y="35049"/>
                      <a:pt x="5025" y="22916"/>
                      <a:pt x="13971" y="13971"/>
                    </a:cubicBezTo>
                    <a:cubicBezTo>
                      <a:pt x="22916" y="5025"/>
                      <a:pt x="35049" y="0"/>
                      <a:pt x="47700" y="0"/>
                    </a:cubicBezTo>
                    <a:close/>
                  </a:path>
                </a:pathLst>
              </a:custGeom>
              <a:solidFill>
                <a:srgbClr val="FFFFFF"/>
              </a:solidFill>
            </p:spPr>
          </p:sp>
          <p:sp>
            <p:nvSpPr>
              <p:cNvPr name="TextBox 18" id="18"/>
              <p:cNvSpPr txBox="true"/>
              <p:nvPr/>
            </p:nvSpPr>
            <p:spPr>
              <a:xfrm>
                <a:off x="0" y="-76200"/>
                <a:ext cx="1526688" cy="1479713"/>
              </a:xfrm>
              <a:prstGeom prst="rect">
                <a:avLst/>
              </a:prstGeom>
            </p:spPr>
            <p:txBody>
              <a:bodyPr anchor="ctr" rtlCol="false" tIns="254000" lIns="254000" bIns="254000" rIns="254000"/>
              <a:lstStyle/>
              <a:p>
                <a:pPr algn="just">
                  <a:lnSpc>
                    <a:spcPts val="3039"/>
                  </a:lnSpc>
                </a:pPr>
                <a:r>
                  <a:rPr lang="en-US" sz="1999" spc="209">
                    <a:solidFill>
                      <a:srgbClr val="000001"/>
                    </a:solidFill>
                    <a:latin typeface="Klein"/>
                    <a:ea typeface="Klein"/>
                    <a:cs typeface="Klein"/>
                    <a:sym typeface="Klein"/>
                  </a:rPr>
                  <a:t>Pemilihan Model</a:t>
                </a:r>
              </a:p>
              <a:p>
                <a:pPr algn="just" marL="431796" indent="-215898" lvl="1">
                  <a:lnSpc>
                    <a:spcPts val="3039"/>
                  </a:lnSpc>
                  <a:buFont typeface="Arial"/>
                  <a:buChar char="•"/>
                </a:pPr>
                <a:r>
                  <a:rPr lang="en-US" sz="1999" spc="209">
                    <a:solidFill>
                      <a:srgbClr val="000001"/>
                    </a:solidFill>
                    <a:latin typeface="Klein"/>
                    <a:ea typeface="Klein"/>
                    <a:cs typeface="Klein"/>
                    <a:sym typeface="Klein"/>
                  </a:rPr>
                  <a:t>Model OLS paling baik dengan AIC terendah (40.72).</a:t>
                </a:r>
              </a:p>
              <a:p>
                <a:pPr algn="just" marL="431796" indent="-215898" lvl="1">
                  <a:lnSpc>
                    <a:spcPts val="3039"/>
                  </a:lnSpc>
                  <a:buFont typeface="Arial"/>
                  <a:buChar char="•"/>
                </a:pPr>
                <a:r>
                  <a:rPr lang="en-US" sz="1999" spc="209">
                    <a:solidFill>
                      <a:srgbClr val="000001"/>
                    </a:solidFill>
                    <a:latin typeface="Klein"/>
                    <a:ea typeface="Klein"/>
                    <a:cs typeface="Klein"/>
                    <a:sym typeface="Klein"/>
                  </a:rPr>
                  <a:t>Model SAR (AIC 42.21) dan SEM (AIC 42.68) tidak meningkatkan kinerja model.</a:t>
                </a:r>
              </a:p>
              <a:p>
                <a:pPr algn="just" marL="431796" indent="-215898" lvl="1">
                  <a:lnSpc>
                    <a:spcPts val="3039"/>
                  </a:lnSpc>
                  <a:buFont typeface="Arial"/>
                  <a:buChar char="•"/>
                </a:pPr>
                <a:r>
                  <a:rPr lang="en-US" sz="1999" spc="209">
                    <a:solidFill>
                      <a:srgbClr val="000001"/>
                    </a:solidFill>
                    <a:latin typeface="Klein"/>
                    <a:ea typeface="Klein"/>
                    <a:cs typeface="Klein"/>
                    <a:sym typeface="Klein"/>
                  </a:rPr>
                  <a:t>Artinya, efek spasial antar kota tidak dominan.</a:t>
                </a:r>
              </a:p>
              <a:p>
                <a:pPr algn="just">
                  <a:lnSpc>
                    <a:spcPts val="3039"/>
                  </a:lnSpc>
                </a:pPr>
                <a:r>
                  <a:rPr lang="en-US" sz="1999" spc="209">
                    <a:solidFill>
                      <a:srgbClr val="000001"/>
                    </a:solidFill>
                    <a:latin typeface="Klein"/>
                    <a:ea typeface="Klein"/>
                    <a:cs typeface="Klein"/>
                    <a:sym typeface="Klein"/>
                  </a:rPr>
                  <a:t>Pengaruh Variabel</a:t>
                </a:r>
              </a:p>
              <a:p>
                <a:pPr algn="just" marL="431796" indent="-215898" lvl="1">
                  <a:lnSpc>
                    <a:spcPts val="3039"/>
                  </a:lnSpc>
                  <a:buFont typeface="Arial"/>
                  <a:buChar char="•"/>
                </a:pPr>
                <a:r>
                  <a:rPr lang="en-US" sz="1999" spc="209">
                    <a:solidFill>
                      <a:srgbClr val="000001"/>
                    </a:solidFill>
                    <a:latin typeface="Klein"/>
                    <a:ea typeface="Klein"/>
                    <a:cs typeface="Klein"/>
                    <a:sym typeface="Klein"/>
                  </a:rPr>
                  <a:t>Kepadatan penduduk berpengaruh positif dan signifikan terhadap jumlah titik banjir</a:t>
                </a:r>
              </a:p>
              <a:p>
                <a:pPr algn="just" marL="431796" indent="-215898" lvl="1">
                  <a:lnSpc>
                    <a:spcPts val="3039"/>
                  </a:lnSpc>
                  <a:buFont typeface="Arial"/>
                  <a:buChar char="•"/>
                </a:pPr>
                <a:r>
                  <a:rPr lang="en-US" sz="1999" spc="209">
                    <a:solidFill>
                      <a:srgbClr val="000001"/>
                    </a:solidFill>
                    <a:latin typeface="Klein"/>
                    <a:ea typeface="Klein"/>
                    <a:cs typeface="Klein"/>
                    <a:sym typeface="Klein"/>
                  </a:rPr>
                  <a:t> (SAR p = 0.0079; SEM p = 0.00013).</a:t>
                </a:r>
              </a:p>
              <a:p>
                <a:pPr algn="just" marL="431796" indent="-215898" lvl="1">
                  <a:lnSpc>
                    <a:spcPts val="3039"/>
                  </a:lnSpc>
                  <a:buFont typeface="Arial"/>
                  <a:buChar char="•"/>
                </a:pPr>
                <a:r>
                  <a:rPr lang="en-US" sz="1999" spc="209">
                    <a:solidFill>
                      <a:srgbClr val="000001"/>
                    </a:solidFill>
                    <a:latin typeface="Klein"/>
                    <a:ea typeface="Klein"/>
                    <a:cs typeface="Klein"/>
                    <a:sym typeface="Klein"/>
                  </a:rPr>
                  <a:t>Jumlah penduduk total tidak signifikan (p &gt; 0.1).</a:t>
                </a:r>
              </a:p>
              <a:p>
                <a:pPr algn="just">
                  <a:lnSpc>
                    <a:spcPts val="3039"/>
                  </a:lnSpc>
                </a:pPr>
                <a:r>
                  <a:rPr lang="en-US" sz="1999" spc="209">
                    <a:solidFill>
                      <a:srgbClr val="000001"/>
                    </a:solidFill>
                    <a:latin typeface="Klein"/>
                    <a:ea typeface="Klein"/>
                    <a:cs typeface="Klein"/>
                    <a:sym typeface="Klein"/>
                  </a:rPr>
                  <a:t>Efek Spasial</a:t>
                </a:r>
              </a:p>
              <a:p>
                <a:pPr algn="just" marL="431796" indent="-215898" lvl="1">
                  <a:lnSpc>
                    <a:spcPts val="3039"/>
                  </a:lnSpc>
                  <a:buFont typeface="Arial"/>
                  <a:buChar char="•"/>
                </a:pPr>
                <a:r>
                  <a:rPr lang="en-US" sz="1999" spc="209">
                    <a:solidFill>
                      <a:srgbClr val="000001"/>
                    </a:solidFill>
                    <a:latin typeface="Klein"/>
                    <a:ea typeface="Klein"/>
                    <a:cs typeface="Klein"/>
                    <a:sym typeface="Klein"/>
                  </a:rPr>
                  <a:t>Parameter spasial tidak signifikan:</a:t>
                </a:r>
              </a:p>
              <a:p>
                <a:pPr algn="just" marL="863591" indent="-287864" lvl="2">
                  <a:lnSpc>
                    <a:spcPts val="3039"/>
                  </a:lnSpc>
                  <a:buFont typeface="Arial"/>
                  <a:buChar char="⚬"/>
                </a:pPr>
                <a:r>
                  <a:rPr lang="en-US" sz="1999" spc="209">
                    <a:solidFill>
                      <a:srgbClr val="000001"/>
                    </a:solidFill>
                    <a:latin typeface="Klein"/>
                    <a:ea typeface="Klein"/>
                    <a:cs typeface="Klein"/>
                    <a:sym typeface="Klein"/>
                  </a:rPr>
                  <a:t>SAR (ρ = -0.52; p = 0.31)</a:t>
                </a:r>
              </a:p>
              <a:p>
                <a:pPr algn="just" marL="863591" indent="-287864" lvl="2">
                  <a:lnSpc>
                    <a:spcPts val="3039"/>
                  </a:lnSpc>
                  <a:buFont typeface="Arial"/>
                  <a:buChar char="⚬"/>
                </a:pPr>
                <a:r>
                  <a:rPr lang="en-US" sz="1999" spc="209">
                    <a:solidFill>
                      <a:srgbClr val="000001"/>
                    </a:solidFill>
                    <a:latin typeface="Klein"/>
                    <a:ea typeface="Klein"/>
                    <a:cs typeface="Klein"/>
                    <a:sym typeface="Klein"/>
                  </a:rPr>
                  <a:t>SEM (λ = -0.19; p = 0.75)</a:t>
                </a:r>
              </a:p>
              <a:p>
                <a:pPr algn="just" marL="431796" indent="-215898" lvl="1">
                  <a:lnSpc>
                    <a:spcPts val="3039"/>
                  </a:lnSpc>
                  <a:buFont typeface="Arial"/>
                  <a:buChar char="•"/>
                </a:pPr>
                <a:r>
                  <a:rPr lang="en-US" sz="1999" spc="209">
                    <a:solidFill>
                      <a:srgbClr val="000001"/>
                    </a:solidFill>
                    <a:latin typeface="Klein"/>
                    <a:ea typeface="Klein"/>
                    <a:cs typeface="Klein"/>
                    <a:sym typeface="Klein"/>
                  </a:rPr>
                  <a:t>Tidak terdapat ketergantungan spasial antar kota.</a:t>
                </a:r>
              </a:p>
            </p:txBody>
          </p:sp>
        </p:grpSp>
      </p:grpSp>
      <p:grpSp>
        <p:nvGrpSpPr>
          <p:cNvPr name="Group 19" id="19"/>
          <p:cNvGrpSpPr/>
          <p:nvPr/>
        </p:nvGrpSpPr>
        <p:grpSpPr>
          <a:xfrm rot="0">
            <a:off x="3222670" y="569939"/>
            <a:ext cx="11842660" cy="917522"/>
            <a:chOff x="0" y="0"/>
            <a:chExt cx="15790214" cy="1223363"/>
          </a:xfrm>
        </p:grpSpPr>
        <p:grpSp>
          <p:nvGrpSpPr>
            <p:cNvPr name="Group 20" id="20"/>
            <p:cNvGrpSpPr/>
            <p:nvPr/>
          </p:nvGrpSpPr>
          <p:grpSpPr>
            <a:xfrm rot="0">
              <a:off x="211240" y="207363"/>
              <a:ext cx="15578974" cy="1016000"/>
              <a:chOff x="0" y="0"/>
              <a:chExt cx="2198092" cy="143351"/>
            </a:xfrm>
          </p:grpSpPr>
          <p:sp>
            <p:nvSpPr>
              <p:cNvPr name="Freeform 21" id="21"/>
              <p:cNvSpPr/>
              <p:nvPr/>
            </p:nvSpPr>
            <p:spPr>
              <a:xfrm flipH="false" flipV="false" rot="0">
                <a:off x="0" y="0"/>
                <a:ext cx="2198092" cy="143351"/>
              </a:xfrm>
              <a:custGeom>
                <a:avLst/>
                <a:gdLst/>
                <a:ahLst/>
                <a:cxnLst/>
                <a:rect r="r" b="b" t="t" l="l"/>
                <a:pathLst>
                  <a:path h="143351" w="2198092">
                    <a:moveTo>
                      <a:pt x="33792" y="0"/>
                    </a:moveTo>
                    <a:lnTo>
                      <a:pt x="2164299" y="0"/>
                    </a:lnTo>
                    <a:cubicBezTo>
                      <a:pt x="2173262" y="0"/>
                      <a:pt x="2181857" y="3560"/>
                      <a:pt x="2188194" y="9898"/>
                    </a:cubicBezTo>
                    <a:cubicBezTo>
                      <a:pt x="2194531" y="16235"/>
                      <a:pt x="2198092" y="24830"/>
                      <a:pt x="2198092" y="33792"/>
                    </a:cubicBezTo>
                    <a:lnTo>
                      <a:pt x="2198092" y="109559"/>
                    </a:lnTo>
                    <a:cubicBezTo>
                      <a:pt x="2198092" y="118521"/>
                      <a:pt x="2194531" y="127116"/>
                      <a:pt x="2188194" y="133453"/>
                    </a:cubicBezTo>
                    <a:cubicBezTo>
                      <a:pt x="2181857" y="139791"/>
                      <a:pt x="2173262" y="143351"/>
                      <a:pt x="2164299" y="143351"/>
                    </a:cubicBezTo>
                    <a:lnTo>
                      <a:pt x="33792" y="143351"/>
                    </a:lnTo>
                    <a:cubicBezTo>
                      <a:pt x="24830" y="143351"/>
                      <a:pt x="16235" y="139791"/>
                      <a:pt x="9898" y="133453"/>
                    </a:cubicBezTo>
                    <a:cubicBezTo>
                      <a:pt x="3560" y="127116"/>
                      <a:pt x="0" y="118521"/>
                      <a:pt x="0" y="109559"/>
                    </a:cubicBezTo>
                    <a:lnTo>
                      <a:pt x="0" y="33792"/>
                    </a:lnTo>
                    <a:cubicBezTo>
                      <a:pt x="0" y="24830"/>
                      <a:pt x="3560" y="16235"/>
                      <a:pt x="9898" y="9898"/>
                    </a:cubicBezTo>
                    <a:cubicBezTo>
                      <a:pt x="16235" y="3560"/>
                      <a:pt x="24830" y="0"/>
                      <a:pt x="33792" y="0"/>
                    </a:cubicBezTo>
                    <a:close/>
                  </a:path>
                </a:pathLst>
              </a:custGeom>
              <a:solidFill>
                <a:srgbClr val="38ABD1"/>
              </a:solidFill>
              <a:ln cap="rnd">
                <a:noFill/>
                <a:prstDash val="solid"/>
                <a:round/>
              </a:ln>
            </p:spPr>
          </p:sp>
          <p:sp>
            <p:nvSpPr>
              <p:cNvPr name="TextBox 22" id="22"/>
              <p:cNvSpPr txBox="true"/>
              <p:nvPr/>
            </p:nvSpPr>
            <p:spPr>
              <a:xfrm>
                <a:off x="0" y="-19050"/>
                <a:ext cx="2198092" cy="162401"/>
              </a:xfrm>
              <a:prstGeom prst="rect">
                <a:avLst/>
              </a:prstGeom>
            </p:spPr>
            <p:txBody>
              <a:bodyPr anchor="ctr" rtlCol="false" tIns="50800" lIns="50800" bIns="50800" rIns="50800"/>
              <a:lstStyle/>
              <a:p>
                <a:pPr algn="ctr" marL="0" indent="0" lvl="0">
                  <a:lnSpc>
                    <a:spcPts val="2080"/>
                  </a:lnSpc>
                  <a:spcBef>
                    <a:spcPct val="0"/>
                  </a:spcBef>
                </a:pPr>
              </a:p>
            </p:txBody>
          </p:sp>
        </p:grpSp>
        <p:grpSp>
          <p:nvGrpSpPr>
            <p:cNvPr name="Group 23" id="23"/>
            <p:cNvGrpSpPr/>
            <p:nvPr/>
          </p:nvGrpSpPr>
          <p:grpSpPr>
            <a:xfrm rot="0">
              <a:off x="0" y="0"/>
              <a:ext cx="15578974" cy="1057546"/>
              <a:chOff x="0" y="0"/>
              <a:chExt cx="2198092" cy="149213"/>
            </a:xfrm>
          </p:grpSpPr>
          <p:sp>
            <p:nvSpPr>
              <p:cNvPr name="Freeform 24" id="24"/>
              <p:cNvSpPr/>
              <p:nvPr/>
            </p:nvSpPr>
            <p:spPr>
              <a:xfrm flipH="false" flipV="false" rot="0">
                <a:off x="0" y="0"/>
                <a:ext cx="2198092" cy="149213"/>
              </a:xfrm>
              <a:custGeom>
                <a:avLst/>
                <a:gdLst/>
                <a:ahLst/>
                <a:cxnLst/>
                <a:rect r="r" b="b" t="t" l="l"/>
                <a:pathLst>
                  <a:path h="149213" w="2198092">
                    <a:moveTo>
                      <a:pt x="33792" y="0"/>
                    </a:moveTo>
                    <a:lnTo>
                      <a:pt x="2164299" y="0"/>
                    </a:lnTo>
                    <a:cubicBezTo>
                      <a:pt x="2173262" y="0"/>
                      <a:pt x="2181857" y="3560"/>
                      <a:pt x="2188194" y="9898"/>
                    </a:cubicBezTo>
                    <a:cubicBezTo>
                      <a:pt x="2194531" y="16235"/>
                      <a:pt x="2198092" y="24830"/>
                      <a:pt x="2198092" y="33792"/>
                    </a:cubicBezTo>
                    <a:lnTo>
                      <a:pt x="2198092" y="115420"/>
                    </a:lnTo>
                    <a:cubicBezTo>
                      <a:pt x="2198092" y="124383"/>
                      <a:pt x="2194531" y="132978"/>
                      <a:pt x="2188194" y="139315"/>
                    </a:cubicBezTo>
                    <a:cubicBezTo>
                      <a:pt x="2181857" y="145653"/>
                      <a:pt x="2173262" y="149213"/>
                      <a:pt x="2164299" y="149213"/>
                    </a:cubicBezTo>
                    <a:lnTo>
                      <a:pt x="33792" y="149213"/>
                    </a:lnTo>
                    <a:cubicBezTo>
                      <a:pt x="24830" y="149213"/>
                      <a:pt x="16235" y="145653"/>
                      <a:pt x="9898" y="139315"/>
                    </a:cubicBezTo>
                    <a:cubicBezTo>
                      <a:pt x="3560" y="132978"/>
                      <a:pt x="0" y="124383"/>
                      <a:pt x="0" y="115420"/>
                    </a:cubicBezTo>
                    <a:lnTo>
                      <a:pt x="0" y="33792"/>
                    </a:lnTo>
                    <a:cubicBezTo>
                      <a:pt x="0" y="24830"/>
                      <a:pt x="3560" y="16235"/>
                      <a:pt x="9898" y="9898"/>
                    </a:cubicBezTo>
                    <a:cubicBezTo>
                      <a:pt x="16235" y="3560"/>
                      <a:pt x="24830" y="0"/>
                      <a:pt x="33792" y="0"/>
                    </a:cubicBezTo>
                    <a:close/>
                  </a:path>
                </a:pathLst>
              </a:custGeom>
              <a:solidFill>
                <a:srgbClr val="FFFFFF"/>
              </a:solidFill>
            </p:spPr>
          </p:sp>
          <p:sp>
            <p:nvSpPr>
              <p:cNvPr name="TextBox 25" id="25"/>
              <p:cNvSpPr txBox="true"/>
              <p:nvPr/>
            </p:nvSpPr>
            <p:spPr>
              <a:xfrm>
                <a:off x="0" y="-38100"/>
                <a:ext cx="2198092" cy="187313"/>
              </a:xfrm>
              <a:prstGeom prst="rect">
                <a:avLst/>
              </a:prstGeom>
            </p:spPr>
            <p:txBody>
              <a:bodyPr anchor="ctr" rtlCol="false" tIns="50800" lIns="50800" bIns="50800" rIns="50800"/>
              <a:lstStyle/>
              <a:p>
                <a:pPr algn="ctr">
                  <a:lnSpc>
                    <a:spcPts val="4549"/>
                  </a:lnSpc>
                </a:pPr>
                <a:r>
                  <a:rPr lang="en-US" b="true" sz="3499">
                    <a:solidFill>
                      <a:srgbClr val="000001"/>
                    </a:solidFill>
                    <a:latin typeface="Klein Bold"/>
                    <a:ea typeface="Klein Bold"/>
                    <a:cs typeface="Klein Bold"/>
                    <a:sym typeface="Klein Bold"/>
                  </a:rPr>
                  <a:t>Spatia</a:t>
                </a:r>
                <a:r>
                  <a:rPr lang="en-US" b="true" sz="3499">
                    <a:solidFill>
                      <a:srgbClr val="000001"/>
                    </a:solidFill>
                    <a:latin typeface="Klein Bold"/>
                    <a:ea typeface="Klein Bold"/>
                    <a:cs typeface="Klein Bold"/>
                    <a:sym typeface="Klein Bold"/>
                  </a:rPr>
                  <a:t>l Regression</a:t>
                </a:r>
              </a:p>
            </p:txBody>
          </p:sp>
        </p:grpSp>
      </p:grpSp>
      <p:grpSp>
        <p:nvGrpSpPr>
          <p:cNvPr name="Group 26" id="26"/>
          <p:cNvGrpSpPr/>
          <p:nvPr/>
        </p:nvGrpSpPr>
        <p:grpSpPr>
          <a:xfrm rot="0">
            <a:off x="10071330" y="2986467"/>
            <a:ext cx="7635964" cy="6977321"/>
            <a:chOff x="0" y="0"/>
            <a:chExt cx="1151266" cy="1051963"/>
          </a:xfrm>
        </p:grpSpPr>
        <p:sp>
          <p:nvSpPr>
            <p:cNvPr name="Freeform 27" id="27"/>
            <p:cNvSpPr/>
            <p:nvPr/>
          </p:nvSpPr>
          <p:spPr>
            <a:xfrm flipH="false" flipV="false" rot="0">
              <a:off x="0" y="0"/>
              <a:ext cx="1151266" cy="1051963"/>
            </a:xfrm>
            <a:custGeom>
              <a:avLst/>
              <a:gdLst/>
              <a:ahLst/>
              <a:cxnLst/>
              <a:rect r="r" b="b" t="t" l="l"/>
              <a:pathLst>
                <a:path h="1051963" w="1151266">
                  <a:moveTo>
                    <a:pt x="50694" y="0"/>
                  </a:moveTo>
                  <a:lnTo>
                    <a:pt x="1100572" y="0"/>
                  </a:lnTo>
                  <a:cubicBezTo>
                    <a:pt x="1114017" y="0"/>
                    <a:pt x="1126911" y="5341"/>
                    <a:pt x="1136418" y="14848"/>
                  </a:cubicBezTo>
                  <a:cubicBezTo>
                    <a:pt x="1145925" y="24355"/>
                    <a:pt x="1151266" y="37249"/>
                    <a:pt x="1151266" y="50694"/>
                  </a:cubicBezTo>
                  <a:lnTo>
                    <a:pt x="1151266" y="1001269"/>
                  </a:lnTo>
                  <a:cubicBezTo>
                    <a:pt x="1151266" y="1029267"/>
                    <a:pt x="1128570" y="1051963"/>
                    <a:pt x="1100572" y="1051963"/>
                  </a:cubicBezTo>
                  <a:lnTo>
                    <a:pt x="50694" y="1051963"/>
                  </a:lnTo>
                  <a:cubicBezTo>
                    <a:pt x="37249" y="1051963"/>
                    <a:pt x="24355" y="1046622"/>
                    <a:pt x="14848" y="1037115"/>
                  </a:cubicBezTo>
                  <a:cubicBezTo>
                    <a:pt x="5341" y="1027608"/>
                    <a:pt x="0" y="1014714"/>
                    <a:pt x="0" y="1001269"/>
                  </a:cubicBezTo>
                  <a:lnTo>
                    <a:pt x="0" y="50694"/>
                  </a:lnTo>
                  <a:cubicBezTo>
                    <a:pt x="0" y="37249"/>
                    <a:pt x="5341" y="24355"/>
                    <a:pt x="14848" y="14848"/>
                  </a:cubicBezTo>
                  <a:cubicBezTo>
                    <a:pt x="24355" y="5341"/>
                    <a:pt x="37249" y="0"/>
                    <a:pt x="50694" y="0"/>
                  </a:cubicBezTo>
                  <a:close/>
                </a:path>
              </a:pathLst>
            </a:custGeom>
            <a:solidFill>
              <a:srgbClr val="CC7E3E"/>
            </a:solidFill>
            <a:ln cap="rnd">
              <a:noFill/>
              <a:prstDash val="solid"/>
              <a:round/>
            </a:ln>
          </p:spPr>
        </p:sp>
        <p:sp>
          <p:nvSpPr>
            <p:cNvPr name="TextBox 28" id="28"/>
            <p:cNvSpPr txBox="true"/>
            <p:nvPr/>
          </p:nvSpPr>
          <p:spPr>
            <a:xfrm>
              <a:off x="0" y="-38100"/>
              <a:ext cx="1151266" cy="1090063"/>
            </a:xfrm>
            <a:prstGeom prst="rect">
              <a:avLst/>
            </a:prstGeom>
          </p:spPr>
          <p:txBody>
            <a:bodyPr anchor="ctr" rtlCol="false" tIns="316933" lIns="316933" bIns="316933" rIns="316933"/>
            <a:lstStyle/>
            <a:p>
              <a:pPr algn="ctr" marL="0" indent="0" lvl="0">
                <a:lnSpc>
                  <a:spcPts val="3380"/>
                </a:lnSpc>
                <a:spcBef>
                  <a:spcPct val="0"/>
                </a:spcBef>
              </a:pPr>
            </a:p>
          </p:txBody>
        </p:sp>
      </p:grpSp>
      <p:grpSp>
        <p:nvGrpSpPr>
          <p:cNvPr name="Group 29" id="29"/>
          <p:cNvGrpSpPr/>
          <p:nvPr/>
        </p:nvGrpSpPr>
        <p:grpSpPr>
          <a:xfrm rot="0">
            <a:off x="9458006" y="2472621"/>
            <a:ext cx="8115300" cy="7460551"/>
            <a:chOff x="0" y="0"/>
            <a:chExt cx="10820400" cy="9947402"/>
          </a:xfrm>
        </p:grpSpPr>
        <p:grpSp>
          <p:nvGrpSpPr>
            <p:cNvPr name="Group 30" id="30"/>
            <p:cNvGrpSpPr/>
            <p:nvPr/>
          </p:nvGrpSpPr>
          <p:grpSpPr>
            <a:xfrm rot="0">
              <a:off x="248745" y="551637"/>
              <a:ext cx="10571655" cy="8964099"/>
              <a:chOff x="0" y="0"/>
              <a:chExt cx="1491592" cy="1264776"/>
            </a:xfrm>
          </p:grpSpPr>
          <p:sp>
            <p:nvSpPr>
              <p:cNvPr name="Freeform 31" id="31"/>
              <p:cNvSpPr/>
              <p:nvPr/>
            </p:nvSpPr>
            <p:spPr>
              <a:xfrm flipH="false" flipV="false" rot="0">
                <a:off x="0" y="0"/>
                <a:ext cx="1491592" cy="1264776"/>
              </a:xfrm>
              <a:custGeom>
                <a:avLst/>
                <a:gdLst/>
                <a:ahLst/>
                <a:cxnLst/>
                <a:rect r="r" b="b" t="t" l="l"/>
                <a:pathLst>
                  <a:path h="1264776" w="1491592">
                    <a:moveTo>
                      <a:pt x="48822" y="0"/>
                    </a:moveTo>
                    <a:lnTo>
                      <a:pt x="1442770" y="0"/>
                    </a:lnTo>
                    <a:cubicBezTo>
                      <a:pt x="1469733" y="0"/>
                      <a:pt x="1491592" y="21858"/>
                      <a:pt x="1491592" y="48822"/>
                    </a:cubicBezTo>
                    <a:lnTo>
                      <a:pt x="1491592" y="1215954"/>
                    </a:lnTo>
                    <a:cubicBezTo>
                      <a:pt x="1491592" y="1228902"/>
                      <a:pt x="1486448" y="1241320"/>
                      <a:pt x="1477292" y="1250476"/>
                    </a:cubicBezTo>
                    <a:cubicBezTo>
                      <a:pt x="1468136" y="1259632"/>
                      <a:pt x="1455718" y="1264776"/>
                      <a:pt x="1442770" y="1264776"/>
                    </a:cubicBezTo>
                    <a:lnTo>
                      <a:pt x="48822" y="1264776"/>
                    </a:lnTo>
                    <a:cubicBezTo>
                      <a:pt x="35874" y="1264776"/>
                      <a:pt x="23455" y="1259632"/>
                      <a:pt x="14300" y="1250476"/>
                    </a:cubicBezTo>
                    <a:cubicBezTo>
                      <a:pt x="5144" y="1241320"/>
                      <a:pt x="0" y="1228902"/>
                      <a:pt x="0" y="1215954"/>
                    </a:cubicBezTo>
                    <a:lnTo>
                      <a:pt x="0" y="48822"/>
                    </a:lnTo>
                    <a:cubicBezTo>
                      <a:pt x="0" y="35874"/>
                      <a:pt x="5144" y="23455"/>
                      <a:pt x="14300" y="14300"/>
                    </a:cubicBezTo>
                    <a:cubicBezTo>
                      <a:pt x="23455" y="5144"/>
                      <a:pt x="35874" y="0"/>
                      <a:pt x="48822" y="0"/>
                    </a:cubicBezTo>
                    <a:close/>
                  </a:path>
                </a:pathLst>
              </a:custGeom>
              <a:solidFill>
                <a:srgbClr val="CC7E3E"/>
              </a:solidFill>
              <a:ln cap="rnd">
                <a:noFill/>
                <a:prstDash val="solid"/>
                <a:round/>
              </a:ln>
            </p:spPr>
          </p:sp>
          <p:sp>
            <p:nvSpPr>
              <p:cNvPr name="TextBox 32" id="32"/>
              <p:cNvSpPr txBox="true"/>
              <p:nvPr/>
            </p:nvSpPr>
            <p:spPr>
              <a:xfrm>
                <a:off x="0" y="-180975"/>
                <a:ext cx="1491592" cy="1445751"/>
              </a:xfrm>
              <a:prstGeom prst="rect">
                <a:avLst/>
              </a:prstGeom>
            </p:spPr>
            <p:txBody>
              <a:bodyPr anchor="ctr" rtlCol="false" tIns="254000" lIns="254000" bIns="254000" rIns="254000"/>
              <a:lstStyle/>
              <a:p>
                <a:pPr algn="just" marL="0" indent="0" lvl="0">
                  <a:lnSpc>
                    <a:spcPts val="4888"/>
                  </a:lnSpc>
                </a:pPr>
              </a:p>
            </p:txBody>
          </p:sp>
        </p:grpSp>
        <p:grpSp>
          <p:nvGrpSpPr>
            <p:cNvPr name="Group 33" id="33"/>
            <p:cNvGrpSpPr/>
            <p:nvPr/>
          </p:nvGrpSpPr>
          <p:grpSpPr>
            <a:xfrm rot="0">
              <a:off x="0" y="0"/>
              <a:ext cx="10820400" cy="9947402"/>
              <a:chOff x="0" y="0"/>
              <a:chExt cx="1526688" cy="1403513"/>
            </a:xfrm>
          </p:grpSpPr>
          <p:sp>
            <p:nvSpPr>
              <p:cNvPr name="Freeform 34" id="34"/>
              <p:cNvSpPr/>
              <p:nvPr/>
            </p:nvSpPr>
            <p:spPr>
              <a:xfrm flipH="false" flipV="false" rot="0">
                <a:off x="0" y="0"/>
                <a:ext cx="1526688" cy="1403513"/>
              </a:xfrm>
              <a:custGeom>
                <a:avLst/>
                <a:gdLst/>
                <a:ahLst/>
                <a:cxnLst/>
                <a:rect r="r" b="b" t="t" l="l"/>
                <a:pathLst>
                  <a:path h="1403513" w="1526688">
                    <a:moveTo>
                      <a:pt x="47700" y="0"/>
                    </a:moveTo>
                    <a:lnTo>
                      <a:pt x="1478988" y="0"/>
                    </a:lnTo>
                    <a:cubicBezTo>
                      <a:pt x="1491639" y="0"/>
                      <a:pt x="1503772" y="5025"/>
                      <a:pt x="1512717" y="13971"/>
                    </a:cubicBezTo>
                    <a:cubicBezTo>
                      <a:pt x="1521662" y="22916"/>
                      <a:pt x="1526688" y="35049"/>
                      <a:pt x="1526688" y="47700"/>
                    </a:cubicBezTo>
                    <a:lnTo>
                      <a:pt x="1526688" y="1355814"/>
                    </a:lnTo>
                    <a:cubicBezTo>
                      <a:pt x="1526688" y="1368465"/>
                      <a:pt x="1521662" y="1380597"/>
                      <a:pt x="1512717" y="1389543"/>
                    </a:cubicBezTo>
                    <a:cubicBezTo>
                      <a:pt x="1503772" y="1398488"/>
                      <a:pt x="1491639" y="1403513"/>
                      <a:pt x="1478988" y="1403513"/>
                    </a:cubicBezTo>
                    <a:lnTo>
                      <a:pt x="47700" y="1403513"/>
                    </a:lnTo>
                    <a:cubicBezTo>
                      <a:pt x="35049" y="1403513"/>
                      <a:pt x="22916" y="1398488"/>
                      <a:pt x="13971" y="1389543"/>
                    </a:cubicBezTo>
                    <a:cubicBezTo>
                      <a:pt x="5025" y="1380597"/>
                      <a:pt x="0" y="1368465"/>
                      <a:pt x="0" y="1355814"/>
                    </a:cubicBezTo>
                    <a:lnTo>
                      <a:pt x="0" y="47700"/>
                    </a:lnTo>
                    <a:cubicBezTo>
                      <a:pt x="0" y="35049"/>
                      <a:pt x="5025" y="22916"/>
                      <a:pt x="13971" y="13971"/>
                    </a:cubicBezTo>
                    <a:cubicBezTo>
                      <a:pt x="22916" y="5025"/>
                      <a:pt x="35049" y="0"/>
                      <a:pt x="47700" y="0"/>
                    </a:cubicBezTo>
                    <a:close/>
                  </a:path>
                </a:pathLst>
              </a:custGeom>
              <a:solidFill>
                <a:srgbClr val="FFFFFF"/>
              </a:solidFill>
            </p:spPr>
          </p:sp>
          <p:sp>
            <p:nvSpPr>
              <p:cNvPr name="TextBox 35" id="35"/>
              <p:cNvSpPr txBox="true"/>
              <p:nvPr/>
            </p:nvSpPr>
            <p:spPr>
              <a:xfrm>
                <a:off x="0" y="-76200"/>
                <a:ext cx="1526688" cy="1479713"/>
              </a:xfrm>
              <a:prstGeom prst="rect">
                <a:avLst/>
              </a:prstGeom>
            </p:spPr>
            <p:txBody>
              <a:bodyPr anchor="ctr" rtlCol="false" tIns="254000" lIns="254000" bIns="254000" rIns="254000"/>
              <a:lstStyle/>
              <a:p>
                <a:pPr algn="just">
                  <a:lnSpc>
                    <a:spcPts val="3039"/>
                  </a:lnSpc>
                </a:pPr>
                <a:r>
                  <a:rPr lang="en-US" sz="1999" spc="209">
                    <a:solidFill>
                      <a:srgbClr val="000001"/>
                    </a:solidFill>
                    <a:latin typeface="Klein"/>
                    <a:ea typeface="Klein"/>
                    <a:cs typeface="Klein"/>
                    <a:sym typeface="Klein"/>
                  </a:rPr>
                  <a:t>Peta Resi</a:t>
                </a:r>
                <a:r>
                  <a:rPr lang="en-US" sz="1999" spc="209">
                    <a:solidFill>
                      <a:srgbClr val="000001"/>
                    </a:solidFill>
                    <a:latin typeface="Klein"/>
                    <a:ea typeface="Klein"/>
                    <a:cs typeface="Klein"/>
                    <a:sym typeface="Klein"/>
                  </a:rPr>
                  <a:t>dual</a:t>
                </a:r>
              </a:p>
              <a:p>
                <a:pPr algn="just" marL="431796" indent="-215898" lvl="1">
                  <a:lnSpc>
                    <a:spcPts val="3039"/>
                  </a:lnSpc>
                  <a:buFont typeface="Arial"/>
                  <a:buChar char="•"/>
                </a:pPr>
                <a:r>
                  <a:rPr lang="en-US" sz="1999" spc="209">
                    <a:solidFill>
                      <a:srgbClr val="000001"/>
                    </a:solidFill>
                    <a:latin typeface="Klein"/>
                    <a:ea typeface="Klein"/>
                    <a:cs typeface="Klein"/>
                    <a:sym typeface="Klein"/>
                  </a:rPr>
                  <a:t>Residual SAR dan SEM menyebar acak, tidak membentuk klaster.</a:t>
                </a:r>
              </a:p>
              <a:p>
                <a:pPr algn="just" marL="431796" indent="-215898" lvl="1">
                  <a:lnSpc>
                    <a:spcPts val="3039"/>
                  </a:lnSpc>
                  <a:buFont typeface="Arial"/>
                  <a:buChar char="•"/>
                </a:pPr>
                <a:r>
                  <a:rPr lang="en-US" sz="1999" spc="209">
                    <a:solidFill>
                      <a:srgbClr val="000001"/>
                    </a:solidFill>
                    <a:latin typeface="Klein"/>
                    <a:ea typeface="Klein"/>
                    <a:cs typeface="Klein"/>
                    <a:sym typeface="Klein"/>
                  </a:rPr>
                  <a:t>Kons</a:t>
                </a:r>
                <a:r>
                  <a:rPr lang="en-US" sz="1999" spc="209">
                    <a:solidFill>
                      <a:srgbClr val="000001"/>
                    </a:solidFill>
                    <a:latin typeface="Klein"/>
                    <a:ea typeface="Klein"/>
                    <a:cs typeface="Klein"/>
                    <a:sym typeface="Klein"/>
                  </a:rPr>
                  <a:t>isten dengan Moran’s I Global yang tidak signifikan.</a:t>
                </a:r>
              </a:p>
              <a:p>
                <a:pPr algn="just">
                  <a:lnSpc>
                    <a:spcPts val="3039"/>
                  </a:lnSpc>
                </a:pPr>
                <a:r>
                  <a:rPr lang="en-US" sz="1999" spc="209">
                    <a:solidFill>
                      <a:srgbClr val="000001"/>
                    </a:solidFill>
                    <a:latin typeface="Klein"/>
                    <a:ea typeface="Klein"/>
                    <a:cs typeface="Klein"/>
                    <a:sym typeface="Klein"/>
                  </a:rPr>
                  <a:t>K</a:t>
                </a:r>
                <a:r>
                  <a:rPr lang="en-US" sz="1999" spc="209">
                    <a:solidFill>
                      <a:srgbClr val="000001"/>
                    </a:solidFill>
                    <a:latin typeface="Klein"/>
                    <a:ea typeface="Klein"/>
                    <a:cs typeface="Klein"/>
                    <a:sym typeface="Klein"/>
                  </a:rPr>
                  <a:t>esimpulan</a:t>
                </a:r>
              </a:p>
              <a:p>
                <a:pPr algn="just" marL="431796" indent="-215898" lvl="1">
                  <a:lnSpc>
                    <a:spcPts val="3039"/>
                  </a:lnSpc>
                  <a:buFont typeface="Arial"/>
                  <a:buChar char="•"/>
                </a:pPr>
                <a:r>
                  <a:rPr lang="en-US" sz="1999" spc="209">
                    <a:solidFill>
                      <a:srgbClr val="000001"/>
                    </a:solidFill>
                    <a:latin typeface="Klein"/>
                    <a:ea typeface="Klein"/>
                    <a:cs typeface="Klein"/>
                    <a:sym typeface="Klein"/>
                  </a:rPr>
                  <a:t>Model OLS sudah memadai.</a:t>
                </a:r>
              </a:p>
              <a:p>
                <a:pPr algn="just" marL="431796" indent="-215898" lvl="1">
                  <a:lnSpc>
                    <a:spcPts val="3039"/>
                  </a:lnSpc>
                  <a:buFont typeface="Arial"/>
                  <a:buChar char="•"/>
                </a:pPr>
                <a:r>
                  <a:rPr lang="en-US" sz="1999" spc="209">
                    <a:solidFill>
                      <a:srgbClr val="000001"/>
                    </a:solidFill>
                    <a:latin typeface="Klein"/>
                    <a:ea typeface="Klein"/>
                    <a:cs typeface="Klein"/>
                    <a:sym typeface="Klein"/>
                  </a:rPr>
                  <a:t>Kepadatan penduduk merupakan faktor utama yang berkaitan dengan intensitas banjir.</a:t>
                </a:r>
              </a:p>
              <a:p>
                <a:pPr algn="just" marL="431796" indent="-215898" lvl="1">
                  <a:lnSpc>
                    <a:spcPts val="3039"/>
                  </a:lnSpc>
                  <a:buFont typeface="Arial"/>
                  <a:buChar char="•"/>
                </a:pPr>
                <a:r>
                  <a:rPr lang="en-US" sz="1999" spc="209">
                    <a:solidFill>
                      <a:srgbClr val="000001"/>
                    </a:solidFill>
                    <a:latin typeface="Klein"/>
                    <a:ea typeface="Klein"/>
                    <a:cs typeface="Klein"/>
                    <a:sym typeface="Klein"/>
                  </a:rPr>
                  <a:t>H</a:t>
                </a:r>
                <a:r>
                  <a:rPr lang="en-US" sz="1999" spc="209">
                    <a:solidFill>
                      <a:srgbClr val="000001"/>
                    </a:solidFill>
                    <a:latin typeface="Klein"/>
                    <a:ea typeface="Klein"/>
                    <a:cs typeface="Klein"/>
                    <a:sym typeface="Klein"/>
                  </a:rPr>
                  <a:t>ubungan spasial antar kota tidak terbukti signifikan.</a:t>
                </a:r>
              </a:p>
            </p:txBody>
          </p:sp>
        </p:grpSp>
      </p:grpSp>
    </p:spTree>
  </p:cSld>
  <p:clrMapOvr>
    <a:masterClrMapping/>
  </p:clrMapOvr>
  <p:transition spd="fast">
    <p:fade/>
  </p:transition>
</p:sld>
</file>

<file path=ppt/slides/slide16.xml><?xml version="1.0" encoding="utf-8"?>
<p:sld xmlns:p="http://schemas.openxmlformats.org/presentationml/2006/main" xmlns:a="http://schemas.openxmlformats.org/drawingml/2006/main">
  <p:cSld>
    <p:bg>
      <p:bgPr>
        <a:solidFill>
          <a:srgbClr val="D39059"/>
        </a:solidFill>
      </p:bgPr>
    </p:bg>
    <p:spTree>
      <p:nvGrpSpPr>
        <p:cNvPr id="1" name=""/>
        <p:cNvGrpSpPr/>
        <p:nvPr/>
      </p:nvGrpSpPr>
      <p:grpSpPr>
        <a:xfrm>
          <a:off x="0" y="0"/>
          <a:ext cx="0" cy="0"/>
          <a:chOff x="0" y="0"/>
          <a:chExt cx="0" cy="0"/>
        </a:xfrm>
      </p:grpSpPr>
      <p:grpSp>
        <p:nvGrpSpPr>
          <p:cNvPr name="Group 2" id="2"/>
          <p:cNvGrpSpPr/>
          <p:nvPr/>
        </p:nvGrpSpPr>
        <p:grpSpPr>
          <a:xfrm rot="0">
            <a:off x="-476250" y="-190500"/>
            <a:ext cx="19240500" cy="1966839"/>
            <a:chOff x="0" y="0"/>
            <a:chExt cx="25654000" cy="2622453"/>
          </a:xfrm>
        </p:grpSpPr>
        <p:grpSp>
          <p:nvGrpSpPr>
            <p:cNvPr name="Group 3" id="3"/>
            <p:cNvGrpSpPr/>
            <p:nvPr/>
          </p:nvGrpSpPr>
          <p:grpSpPr>
            <a:xfrm rot="0">
              <a:off x="0" y="0"/>
              <a:ext cx="25654000" cy="2465105"/>
              <a:chOff x="0" y="0"/>
              <a:chExt cx="5067457" cy="486934"/>
            </a:xfrm>
          </p:grpSpPr>
          <p:sp>
            <p:nvSpPr>
              <p:cNvPr name="Freeform 4" id="4"/>
              <p:cNvSpPr/>
              <p:nvPr/>
            </p:nvSpPr>
            <p:spPr>
              <a:xfrm flipH="false" flipV="false" rot="0">
                <a:off x="0" y="0"/>
                <a:ext cx="5067457" cy="486934"/>
              </a:xfrm>
              <a:custGeom>
                <a:avLst/>
                <a:gdLst/>
                <a:ahLst/>
                <a:cxnLst/>
                <a:rect r="r" b="b" t="t" l="l"/>
                <a:pathLst>
                  <a:path h="486934" w="5067457">
                    <a:moveTo>
                      <a:pt x="0" y="0"/>
                    </a:moveTo>
                    <a:lnTo>
                      <a:pt x="5067457" y="0"/>
                    </a:lnTo>
                    <a:lnTo>
                      <a:pt x="5067457" y="486934"/>
                    </a:lnTo>
                    <a:lnTo>
                      <a:pt x="0" y="486934"/>
                    </a:lnTo>
                    <a:close/>
                  </a:path>
                </a:pathLst>
              </a:custGeom>
              <a:solidFill>
                <a:srgbClr val="97D4E8"/>
              </a:solidFill>
              <a:ln cap="sq">
                <a:noFill/>
                <a:prstDash val="solid"/>
                <a:miter/>
              </a:ln>
            </p:spPr>
          </p:sp>
          <p:sp>
            <p:nvSpPr>
              <p:cNvPr name="TextBox 5" id="5"/>
              <p:cNvSpPr txBox="true"/>
              <p:nvPr/>
            </p:nvSpPr>
            <p:spPr>
              <a:xfrm>
                <a:off x="0" y="-19050"/>
                <a:ext cx="5067457" cy="505984"/>
              </a:xfrm>
              <a:prstGeom prst="rect">
                <a:avLst/>
              </a:prstGeom>
            </p:spPr>
            <p:txBody>
              <a:bodyPr anchor="ctr" rtlCol="false" tIns="50800" lIns="50800" bIns="50800" rIns="50800"/>
              <a:lstStyle/>
              <a:p>
                <a:pPr algn="ctr" marL="0" indent="0" lvl="0">
                  <a:lnSpc>
                    <a:spcPts val="2080"/>
                  </a:lnSpc>
                  <a:spcBef>
                    <a:spcPct val="0"/>
                  </a:spcBef>
                </a:pPr>
              </a:p>
            </p:txBody>
          </p:sp>
        </p:grpSp>
        <p:grpSp>
          <p:nvGrpSpPr>
            <p:cNvPr name="Group 6" id="6"/>
            <p:cNvGrpSpPr/>
            <p:nvPr/>
          </p:nvGrpSpPr>
          <p:grpSpPr>
            <a:xfrm rot="0">
              <a:off x="0" y="2412656"/>
              <a:ext cx="25654000" cy="209796"/>
              <a:chOff x="0" y="0"/>
              <a:chExt cx="5067457" cy="41441"/>
            </a:xfrm>
          </p:grpSpPr>
          <p:sp>
            <p:nvSpPr>
              <p:cNvPr name="Freeform 7" id="7"/>
              <p:cNvSpPr/>
              <p:nvPr/>
            </p:nvSpPr>
            <p:spPr>
              <a:xfrm flipH="false" flipV="false" rot="0">
                <a:off x="0" y="0"/>
                <a:ext cx="5067457" cy="41441"/>
              </a:xfrm>
              <a:custGeom>
                <a:avLst/>
                <a:gdLst/>
                <a:ahLst/>
                <a:cxnLst/>
                <a:rect r="r" b="b" t="t" l="l"/>
                <a:pathLst>
                  <a:path h="41441" w="5067457">
                    <a:moveTo>
                      <a:pt x="0" y="0"/>
                    </a:moveTo>
                    <a:lnTo>
                      <a:pt x="5067457" y="0"/>
                    </a:lnTo>
                    <a:lnTo>
                      <a:pt x="5067457" y="41441"/>
                    </a:lnTo>
                    <a:lnTo>
                      <a:pt x="0" y="41441"/>
                    </a:lnTo>
                    <a:close/>
                  </a:path>
                </a:pathLst>
              </a:custGeom>
              <a:solidFill>
                <a:srgbClr val="CC7E3E"/>
              </a:solidFill>
              <a:ln cap="sq">
                <a:noFill/>
                <a:prstDash val="solid"/>
                <a:miter/>
              </a:ln>
            </p:spPr>
          </p:sp>
          <p:sp>
            <p:nvSpPr>
              <p:cNvPr name="TextBox 8" id="8"/>
              <p:cNvSpPr txBox="true"/>
              <p:nvPr/>
            </p:nvSpPr>
            <p:spPr>
              <a:xfrm>
                <a:off x="0" y="-19050"/>
                <a:ext cx="5067457" cy="60491"/>
              </a:xfrm>
              <a:prstGeom prst="rect">
                <a:avLst/>
              </a:prstGeom>
            </p:spPr>
            <p:txBody>
              <a:bodyPr anchor="ctr" rtlCol="false" tIns="50800" lIns="50800" bIns="50800" rIns="50800"/>
              <a:lstStyle/>
              <a:p>
                <a:pPr algn="ctr" marL="0" indent="0" lvl="0">
                  <a:lnSpc>
                    <a:spcPts val="2080"/>
                  </a:lnSpc>
                  <a:spcBef>
                    <a:spcPct val="0"/>
                  </a:spcBef>
                </a:pPr>
              </a:p>
            </p:txBody>
          </p:sp>
        </p:grpSp>
      </p:grpSp>
      <p:grpSp>
        <p:nvGrpSpPr>
          <p:cNvPr name="Group 9" id="9"/>
          <p:cNvGrpSpPr/>
          <p:nvPr/>
        </p:nvGrpSpPr>
        <p:grpSpPr>
          <a:xfrm rot="0">
            <a:off x="2515713" y="396340"/>
            <a:ext cx="13415004" cy="793159"/>
            <a:chOff x="0" y="0"/>
            <a:chExt cx="17886672" cy="1057546"/>
          </a:xfrm>
        </p:grpSpPr>
        <p:grpSp>
          <p:nvGrpSpPr>
            <p:cNvPr name="Group 10" id="10"/>
            <p:cNvGrpSpPr/>
            <p:nvPr/>
          </p:nvGrpSpPr>
          <p:grpSpPr>
            <a:xfrm rot="0">
              <a:off x="1153849" y="41546"/>
              <a:ext cx="15578974" cy="1016000"/>
              <a:chOff x="0" y="0"/>
              <a:chExt cx="2198092" cy="143351"/>
            </a:xfrm>
          </p:grpSpPr>
          <p:sp>
            <p:nvSpPr>
              <p:cNvPr name="Freeform 11" id="11"/>
              <p:cNvSpPr/>
              <p:nvPr/>
            </p:nvSpPr>
            <p:spPr>
              <a:xfrm flipH="false" flipV="false" rot="0">
                <a:off x="0" y="0"/>
                <a:ext cx="2198092" cy="143351"/>
              </a:xfrm>
              <a:custGeom>
                <a:avLst/>
                <a:gdLst/>
                <a:ahLst/>
                <a:cxnLst/>
                <a:rect r="r" b="b" t="t" l="l"/>
                <a:pathLst>
                  <a:path h="143351" w="2198092">
                    <a:moveTo>
                      <a:pt x="33792" y="0"/>
                    </a:moveTo>
                    <a:lnTo>
                      <a:pt x="2164299" y="0"/>
                    </a:lnTo>
                    <a:cubicBezTo>
                      <a:pt x="2173262" y="0"/>
                      <a:pt x="2181857" y="3560"/>
                      <a:pt x="2188194" y="9898"/>
                    </a:cubicBezTo>
                    <a:cubicBezTo>
                      <a:pt x="2194531" y="16235"/>
                      <a:pt x="2198092" y="24830"/>
                      <a:pt x="2198092" y="33792"/>
                    </a:cubicBezTo>
                    <a:lnTo>
                      <a:pt x="2198092" y="109559"/>
                    </a:lnTo>
                    <a:cubicBezTo>
                      <a:pt x="2198092" y="118521"/>
                      <a:pt x="2194531" y="127116"/>
                      <a:pt x="2188194" y="133453"/>
                    </a:cubicBezTo>
                    <a:cubicBezTo>
                      <a:pt x="2181857" y="139791"/>
                      <a:pt x="2173262" y="143351"/>
                      <a:pt x="2164299" y="143351"/>
                    </a:cubicBezTo>
                    <a:lnTo>
                      <a:pt x="33792" y="143351"/>
                    </a:lnTo>
                    <a:cubicBezTo>
                      <a:pt x="24830" y="143351"/>
                      <a:pt x="16235" y="139791"/>
                      <a:pt x="9898" y="133453"/>
                    </a:cubicBezTo>
                    <a:cubicBezTo>
                      <a:pt x="3560" y="127116"/>
                      <a:pt x="0" y="118521"/>
                      <a:pt x="0" y="109559"/>
                    </a:cubicBezTo>
                    <a:lnTo>
                      <a:pt x="0" y="33792"/>
                    </a:lnTo>
                    <a:cubicBezTo>
                      <a:pt x="0" y="24830"/>
                      <a:pt x="3560" y="16235"/>
                      <a:pt x="9898" y="9898"/>
                    </a:cubicBezTo>
                    <a:cubicBezTo>
                      <a:pt x="16235" y="3560"/>
                      <a:pt x="24830" y="0"/>
                      <a:pt x="33792" y="0"/>
                    </a:cubicBezTo>
                    <a:close/>
                  </a:path>
                </a:pathLst>
              </a:custGeom>
              <a:solidFill>
                <a:srgbClr val="38ABD1"/>
              </a:solidFill>
              <a:ln cap="rnd">
                <a:noFill/>
                <a:prstDash val="solid"/>
                <a:round/>
              </a:ln>
            </p:spPr>
          </p:sp>
          <p:sp>
            <p:nvSpPr>
              <p:cNvPr name="TextBox 12" id="12"/>
              <p:cNvSpPr txBox="true"/>
              <p:nvPr/>
            </p:nvSpPr>
            <p:spPr>
              <a:xfrm>
                <a:off x="0" y="-19050"/>
                <a:ext cx="2198092" cy="162401"/>
              </a:xfrm>
              <a:prstGeom prst="rect">
                <a:avLst/>
              </a:prstGeom>
            </p:spPr>
            <p:txBody>
              <a:bodyPr anchor="ctr" rtlCol="false" tIns="50800" lIns="50800" bIns="50800" rIns="50800"/>
              <a:lstStyle/>
              <a:p>
                <a:pPr algn="ctr" marL="0" indent="0" lvl="0">
                  <a:lnSpc>
                    <a:spcPts val="2080"/>
                  </a:lnSpc>
                  <a:spcBef>
                    <a:spcPct val="0"/>
                  </a:spcBef>
                </a:pPr>
              </a:p>
            </p:txBody>
          </p:sp>
        </p:grpSp>
        <p:grpSp>
          <p:nvGrpSpPr>
            <p:cNvPr name="Group 13" id="13"/>
            <p:cNvGrpSpPr/>
            <p:nvPr/>
          </p:nvGrpSpPr>
          <p:grpSpPr>
            <a:xfrm rot="0">
              <a:off x="0" y="0"/>
              <a:ext cx="17886672" cy="1057546"/>
              <a:chOff x="0" y="0"/>
              <a:chExt cx="2523693" cy="149213"/>
            </a:xfrm>
          </p:grpSpPr>
          <p:sp>
            <p:nvSpPr>
              <p:cNvPr name="Freeform 14" id="14"/>
              <p:cNvSpPr/>
              <p:nvPr/>
            </p:nvSpPr>
            <p:spPr>
              <a:xfrm flipH="false" flipV="false" rot="0">
                <a:off x="0" y="0"/>
                <a:ext cx="2523693" cy="149213"/>
              </a:xfrm>
              <a:custGeom>
                <a:avLst/>
                <a:gdLst/>
                <a:ahLst/>
                <a:cxnLst/>
                <a:rect r="r" b="b" t="t" l="l"/>
                <a:pathLst>
                  <a:path h="149213" w="2523693">
                    <a:moveTo>
                      <a:pt x="29433" y="0"/>
                    </a:moveTo>
                    <a:lnTo>
                      <a:pt x="2494260" y="0"/>
                    </a:lnTo>
                    <a:cubicBezTo>
                      <a:pt x="2510515" y="0"/>
                      <a:pt x="2523693" y="13177"/>
                      <a:pt x="2523693" y="29433"/>
                    </a:cubicBezTo>
                    <a:lnTo>
                      <a:pt x="2523693" y="119780"/>
                    </a:lnTo>
                    <a:cubicBezTo>
                      <a:pt x="2523693" y="127586"/>
                      <a:pt x="2520592" y="135073"/>
                      <a:pt x="2515072" y="140592"/>
                    </a:cubicBezTo>
                    <a:cubicBezTo>
                      <a:pt x="2509552" y="146112"/>
                      <a:pt x="2502066" y="149213"/>
                      <a:pt x="2494260" y="149213"/>
                    </a:cubicBezTo>
                    <a:lnTo>
                      <a:pt x="29433" y="149213"/>
                    </a:lnTo>
                    <a:cubicBezTo>
                      <a:pt x="13177" y="149213"/>
                      <a:pt x="0" y="136035"/>
                      <a:pt x="0" y="119780"/>
                    </a:cubicBezTo>
                    <a:lnTo>
                      <a:pt x="0" y="29433"/>
                    </a:lnTo>
                    <a:cubicBezTo>
                      <a:pt x="0" y="13177"/>
                      <a:pt x="13177" y="0"/>
                      <a:pt x="29433" y="0"/>
                    </a:cubicBezTo>
                    <a:close/>
                  </a:path>
                </a:pathLst>
              </a:custGeom>
              <a:solidFill>
                <a:srgbClr val="FFFFFF"/>
              </a:solidFill>
            </p:spPr>
          </p:sp>
          <p:sp>
            <p:nvSpPr>
              <p:cNvPr name="TextBox 15" id="15"/>
              <p:cNvSpPr txBox="true"/>
              <p:nvPr/>
            </p:nvSpPr>
            <p:spPr>
              <a:xfrm>
                <a:off x="0" y="-38100"/>
                <a:ext cx="2523693" cy="187313"/>
              </a:xfrm>
              <a:prstGeom prst="rect">
                <a:avLst/>
              </a:prstGeom>
            </p:spPr>
            <p:txBody>
              <a:bodyPr anchor="ctr" rtlCol="false" tIns="50800" lIns="50800" bIns="50800" rIns="50800"/>
              <a:lstStyle/>
              <a:p>
                <a:pPr algn="ctr">
                  <a:lnSpc>
                    <a:spcPts val="4549"/>
                  </a:lnSpc>
                </a:pPr>
                <a:r>
                  <a:rPr lang="en-US" b="true" sz="3499">
                    <a:solidFill>
                      <a:srgbClr val="000001"/>
                    </a:solidFill>
                    <a:latin typeface="Klein Bold"/>
                    <a:ea typeface="Klein Bold"/>
                    <a:cs typeface="Klein Bold"/>
                    <a:sym typeface="Klein Bold"/>
                  </a:rPr>
                  <a:t>Pembahasan</a:t>
                </a:r>
              </a:p>
            </p:txBody>
          </p:sp>
        </p:grpSp>
      </p:grpSp>
      <p:sp>
        <p:nvSpPr>
          <p:cNvPr name="TextBox 16" id="16"/>
          <p:cNvSpPr txBox="true"/>
          <p:nvPr/>
        </p:nvSpPr>
        <p:spPr>
          <a:xfrm rot="0">
            <a:off x="2515713" y="1921002"/>
            <a:ext cx="13012495" cy="8365998"/>
          </a:xfrm>
          <a:prstGeom prst="rect">
            <a:avLst/>
          </a:prstGeom>
        </p:spPr>
        <p:txBody>
          <a:bodyPr anchor="t" rtlCol="false" tIns="0" lIns="0" bIns="0" rIns="0">
            <a:spAutoFit/>
          </a:bodyPr>
          <a:lstStyle/>
          <a:p>
            <a:pPr algn="just">
              <a:lnSpc>
                <a:spcPts val="3696"/>
              </a:lnSpc>
            </a:pPr>
            <a:r>
              <a:rPr lang="en-US" b="true" sz="2100" spc="176">
                <a:solidFill>
                  <a:srgbClr val="000000"/>
                </a:solidFill>
                <a:latin typeface="Klein Bold"/>
                <a:ea typeface="Klein Bold"/>
                <a:cs typeface="Klein Bold"/>
                <a:sym typeface="Klein Bold"/>
              </a:rPr>
              <a:t>Insight Spasial Utama</a:t>
            </a:r>
          </a:p>
          <a:p>
            <a:pPr algn="just" marL="453390" indent="-226695" lvl="1">
              <a:lnSpc>
                <a:spcPts val="3696"/>
              </a:lnSpc>
              <a:buFont typeface="Arial"/>
              <a:buChar char="•"/>
            </a:pPr>
            <a:r>
              <a:rPr lang="en-US" sz="2100" spc="176">
                <a:solidFill>
                  <a:srgbClr val="000000"/>
                </a:solidFill>
                <a:latin typeface="Klein"/>
                <a:ea typeface="Klein"/>
                <a:cs typeface="Klein"/>
                <a:sym typeface="Klein"/>
              </a:rPr>
              <a:t>Sebaran 154 titik banjir di DKI Jakarta tahun 2024 mengelompok (clustered).</a:t>
            </a:r>
          </a:p>
          <a:p>
            <a:pPr algn="just" marL="453390" indent="-226695" lvl="1">
              <a:lnSpc>
                <a:spcPts val="3696"/>
              </a:lnSpc>
              <a:buFont typeface="Arial"/>
              <a:buChar char="•"/>
            </a:pPr>
            <a:r>
              <a:rPr lang="en-US" sz="2100" spc="176">
                <a:solidFill>
                  <a:srgbClr val="000000"/>
                </a:solidFill>
                <a:latin typeface="Klein"/>
                <a:ea typeface="Klein"/>
                <a:cs typeface="Klein"/>
                <a:sym typeface="Klein"/>
              </a:rPr>
              <a:t>NNI = 0,66, Z = −7,99, p &lt; 0,01 → pola klaster signifikan.</a:t>
            </a:r>
          </a:p>
          <a:p>
            <a:pPr algn="just" marL="453390" indent="-226695" lvl="1">
              <a:lnSpc>
                <a:spcPts val="3696"/>
              </a:lnSpc>
              <a:buFont typeface="Arial"/>
              <a:buChar char="•"/>
            </a:pPr>
            <a:r>
              <a:rPr lang="en-US" sz="2100" spc="176">
                <a:solidFill>
                  <a:srgbClr val="000000"/>
                </a:solidFill>
                <a:latin typeface="Klein"/>
                <a:ea typeface="Klein"/>
                <a:cs typeface="Klein"/>
                <a:sym typeface="Klein"/>
              </a:rPr>
              <a:t>VMR = 11,48 (&gt;1) → pengelompokan kuat (Quadrat Analysis).</a:t>
            </a:r>
          </a:p>
          <a:p>
            <a:pPr algn="just" marL="453390" indent="-226695" lvl="1">
              <a:lnSpc>
                <a:spcPts val="3696"/>
              </a:lnSpc>
              <a:buFont typeface="Arial"/>
              <a:buChar char="•"/>
            </a:pPr>
            <a:r>
              <a:rPr lang="en-US" sz="2100" spc="176">
                <a:solidFill>
                  <a:srgbClr val="000000"/>
                </a:solidFill>
                <a:latin typeface="Klein"/>
                <a:ea typeface="Klein"/>
                <a:cs typeface="Klein"/>
                <a:sym typeface="Klein"/>
              </a:rPr>
              <a:t>Kurva Ripley’s L berada di atas CSR pada semua jarak → klaster multi-skala.</a:t>
            </a:r>
          </a:p>
          <a:p>
            <a:pPr algn="just" marL="453390" indent="-226695" lvl="1">
              <a:lnSpc>
                <a:spcPts val="3696"/>
              </a:lnSpc>
              <a:buFont typeface="Arial"/>
              <a:buChar char="•"/>
            </a:pPr>
            <a:r>
              <a:rPr lang="en-US" sz="2100" spc="176">
                <a:solidFill>
                  <a:srgbClr val="000000"/>
                </a:solidFill>
                <a:latin typeface="Klein"/>
                <a:ea typeface="Klein"/>
                <a:cs typeface="Klein"/>
                <a:sym typeface="Klein"/>
              </a:rPr>
              <a:t>Mean Center berada di Jakarta Pusat; Standard Distance ±9 km.</a:t>
            </a:r>
          </a:p>
          <a:p>
            <a:pPr algn="just" marL="453390" indent="-226695" lvl="1">
              <a:lnSpc>
                <a:spcPts val="3696"/>
              </a:lnSpc>
              <a:buFont typeface="Arial"/>
              <a:buChar char="•"/>
            </a:pPr>
            <a:r>
              <a:rPr lang="en-US" sz="2100" spc="176">
                <a:solidFill>
                  <a:srgbClr val="000000"/>
                </a:solidFill>
                <a:latin typeface="Klein"/>
                <a:ea typeface="Klein"/>
                <a:cs typeface="Klein"/>
                <a:sym typeface="Klein"/>
              </a:rPr>
              <a:t>Standard Deviational Ellipse memanjang Barat Laut – Tenggara.</a:t>
            </a:r>
          </a:p>
          <a:p>
            <a:pPr algn="just" marL="453390" indent="-226695" lvl="1">
              <a:lnSpc>
                <a:spcPts val="3696"/>
              </a:lnSpc>
              <a:buFont typeface="Arial"/>
              <a:buChar char="•"/>
            </a:pPr>
            <a:r>
              <a:rPr lang="en-US" sz="2100" spc="176">
                <a:solidFill>
                  <a:srgbClr val="000000"/>
                </a:solidFill>
                <a:latin typeface="Klein"/>
                <a:ea typeface="Klein"/>
                <a:cs typeface="Klein"/>
                <a:sym typeface="Klein"/>
              </a:rPr>
              <a:t>Jakarta Pusat memiliki 60 titik banjir dengan populasi relatif kecil.</a:t>
            </a:r>
          </a:p>
          <a:p>
            <a:pPr algn="just" marL="453390" indent="-226695" lvl="1">
              <a:lnSpc>
                <a:spcPts val="3696"/>
              </a:lnSpc>
              <a:buFont typeface="Arial"/>
              <a:buChar char="•"/>
            </a:pPr>
            <a:r>
              <a:rPr lang="en-US" sz="2100" spc="176">
                <a:solidFill>
                  <a:srgbClr val="000000"/>
                </a:solidFill>
                <a:latin typeface="Klein"/>
                <a:ea typeface="Klein"/>
                <a:cs typeface="Klein"/>
                <a:sym typeface="Klein"/>
              </a:rPr>
              <a:t>Jumlah banjir tidak sebanding dengan jumlah penduduk total.</a:t>
            </a:r>
          </a:p>
          <a:p>
            <a:pPr algn="just">
              <a:lnSpc>
                <a:spcPts val="3696"/>
              </a:lnSpc>
            </a:pPr>
            <a:r>
              <a:rPr lang="en-US" b="true" sz="2100" spc="176">
                <a:solidFill>
                  <a:srgbClr val="000000"/>
                </a:solidFill>
                <a:latin typeface="Klein Bold"/>
                <a:ea typeface="Klein Bold"/>
                <a:cs typeface="Klein Bold"/>
                <a:sym typeface="Klein Bold"/>
              </a:rPr>
              <a:t>Keterkaitan dengan Rumusan Masalah</a:t>
            </a:r>
          </a:p>
          <a:p>
            <a:pPr algn="just" marL="453390" indent="-226695" lvl="1">
              <a:lnSpc>
                <a:spcPts val="3696"/>
              </a:lnSpc>
              <a:buFont typeface="Arial"/>
              <a:buChar char="•"/>
            </a:pPr>
            <a:r>
              <a:rPr lang="en-US" sz="2100" spc="176">
                <a:solidFill>
                  <a:srgbClr val="000000"/>
                </a:solidFill>
                <a:latin typeface="Klein"/>
                <a:ea typeface="Klein"/>
                <a:cs typeface="Klein"/>
                <a:sym typeface="Klein"/>
              </a:rPr>
              <a:t>Pola spasial banjir: clustered, bukan acak.</a:t>
            </a:r>
          </a:p>
          <a:p>
            <a:pPr algn="just" marL="453390" indent="-226695" lvl="1">
              <a:lnSpc>
                <a:spcPts val="3696"/>
              </a:lnSpc>
              <a:buFont typeface="Arial"/>
              <a:buChar char="•"/>
            </a:pPr>
            <a:r>
              <a:rPr lang="en-US" sz="2100" spc="176">
                <a:solidFill>
                  <a:srgbClr val="000000"/>
                </a:solidFill>
                <a:latin typeface="Klein"/>
                <a:ea typeface="Klein"/>
                <a:cs typeface="Klein"/>
                <a:sym typeface="Klein"/>
              </a:rPr>
              <a:t>Moran’s I = −0,319; p = 0,738 → tidak ada autokorelasi spasial global antar kota.</a:t>
            </a:r>
          </a:p>
          <a:p>
            <a:pPr algn="just" marL="453390" indent="-226695" lvl="1">
              <a:lnSpc>
                <a:spcPts val="3696"/>
              </a:lnSpc>
              <a:buFont typeface="Arial"/>
              <a:buChar char="•"/>
            </a:pPr>
            <a:r>
              <a:rPr lang="en-US" sz="2100" spc="176">
                <a:solidFill>
                  <a:srgbClr val="000000"/>
                </a:solidFill>
                <a:latin typeface="Klein"/>
                <a:ea typeface="Klein"/>
                <a:cs typeface="Klein"/>
                <a:sym typeface="Klein"/>
              </a:rPr>
              <a:t>Variasi banjir bersifat lokal, bukan antar kota.</a:t>
            </a:r>
          </a:p>
          <a:p>
            <a:pPr algn="just">
              <a:lnSpc>
                <a:spcPts val="3696"/>
              </a:lnSpc>
            </a:pPr>
            <a:r>
              <a:rPr lang="en-US" b="true" sz="2100" spc="176">
                <a:solidFill>
                  <a:srgbClr val="000000"/>
                </a:solidFill>
                <a:latin typeface="Klein Bold"/>
                <a:ea typeface="Klein Bold"/>
                <a:cs typeface="Klein Bold"/>
                <a:sym typeface="Klein Bold"/>
              </a:rPr>
              <a:t>Rekomendasi / Implikasi</a:t>
            </a:r>
          </a:p>
          <a:p>
            <a:pPr algn="just" marL="453390" indent="-226695" lvl="1">
              <a:lnSpc>
                <a:spcPts val="3696"/>
              </a:lnSpc>
              <a:buFont typeface="Arial"/>
              <a:buChar char="•"/>
            </a:pPr>
            <a:r>
              <a:rPr lang="en-US" sz="2100" spc="176">
                <a:solidFill>
                  <a:srgbClr val="000000"/>
                </a:solidFill>
                <a:latin typeface="Klein"/>
                <a:ea typeface="Klein"/>
                <a:cs typeface="Klein"/>
                <a:sym typeface="Klein"/>
              </a:rPr>
              <a:t>Penanganan banjir difokuskan pada hotspot lokal, bukan batas kota.</a:t>
            </a:r>
          </a:p>
          <a:p>
            <a:pPr algn="just" marL="453390" indent="-226695" lvl="1">
              <a:lnSpc>
                <a:spcPts val="3696"/>
              </a:lnSpc>
              <a:buFont typeface="Arial"/>
              <a:buChar char="•"/>
            </a:pPr>
            <a:r>
              <a:rPr lang="en-US" sz="2100" spc="176">
                <a:solidFill>
                  <a:srgbClr val="000000"/>
                </a:solidFill>
                <a:latin typeface="Klein"/>
                <a:ea typeface="Klein"/>
                <a:cs typeface="Klein"/>
                <a:sym typeface="Klein"/>
              </a:rPr>
              <a:t>Wilayah dengan kepadatan tinggi + klaster banjir menjadi prioritas mitigasi.</a:t>
            </a:r>
          </a:p>
          <a:p>
            <a:pPr algn="just" marL="453390" indent="-226695" lvl="1">
              <a:lnSpc>
                <a:spcPts val="3696"/>
              </a:lnSpc>
              <a:buFont typeface="Arial"/>
              <a:buChar char="•"/>
            </a:pPr>
            <a:r>
              <a:rPr lang="en-US" sz="2100" spc="176">
                <a:solidFill>
                  <a:srgbClr val="000000"/>
                </a:solidFill>
                <a:latin typeface="Klein"/>
                <a:ea typeface="Klein"/>
                <a:cs typeface="Klein"/>
                <a:sym typeface="Klein"/>
              </a:rPr>
              <a:t>Skala analisis kelurahan/grid lebih efektif untuk perencanaan.</a:t>
            </a:r>
          </a:p>
          <a:p>
            <a:pPr algn="just">
              <a:lnSpc>
                <a:spcPts val="3696"/>
              </a:lnSpc>
            </a:pPr>
          </a:p>
        </p:txBody>
      </p:sp>
    </p:spTree>
  </p:cSld>
  <p:clrMapOvr>
    <a:masterClrMapping/>
  </p:clrMapOvr>
  <p:transition spd="fast">
    <p:fade/>
  </p:transition>
</p:sld>
</file>

<file path=ppt/slides/slide17.xml><?xml version="1.0" encoding="utf-8"?>
<p:sld xmlns:p="http://schemas.openxmlformats.org/presentationml/2006/main" xmlns:a="http://schemas.openxmlformats.org/drawingml/2006/main">
  <p:cSld>
    <p:bg>
      <p:bgPr>
        <a:solidFill>
          <a:srgbClr val="D39059"/>
        </a:solidFill>
      </p:bgPr>
    </p:bg>
    <p:spTree>
      <p:nvGrpSpPr>
        <p:cNvPr id="1" name=""/>
        <p:cNvGrpSpPr/>
        <p:nvPr/>
      </p:nvGrpSpPr>
      <p:grpSpPr>
        <a:xfrm>
          <a:off x="0" y="0"/>
          <a:ext cx="0" cy="0"/>
          <a:chOff x="0" y="0"/>
          <a:chExt cx="0" cy="0"/>
        </a:xfrm>
      </p:grpSpPr>
      <p:grpSp>
        <p:nvGrpSpPr>
          <p:cNvPr name="Group 2" id="2"/>
          <p:cNvGrpSpPr/>
          <p:nvPr/>
        </p:nvGrpSpPr>
        <p:grpSpPr>
          <a:xfrm rot="0">
            <a:off x="-476250" y="-190500"/>
            <a:ext cx="19240500" cy="2381250"/>
            <a:chOff x="0" y="0"/>
            <a:chExt cx="25654000" cy="3175000"/>
          </a:xfrm>
        </p:grpSpPr>
        <p:grpSp>
          <p:nvGrpSpPr>
            <p:cNvPr name="Group 3" id="3"/>
            <p:cNvGrpSpPr/>
            <p:nvPr/>
          </p:nvGrpSpPr>
          <p:grpSpPr>
            <a:xfrm rot="0">
              <a:off x="0" y="0"/>
              <a:ext cx="25654000" cy="2984500"/>
              <a:chOff x="0" y="0"/>
              <a:chExt cx="5067457" cy="589531"/>
            </a:xfrm>
          </p:grpSpPr>
          <p:sp>
            <p:nvSpPr>
              <p:cNvPr name="Freeform 4" id="4"/>
              <p:cNvSpPr/>
              <p:nvPr/>
            </p:nvSpPr>
            <p:spPr>
              <a:xfrm flipH="false" flipV="false" rot="0">
                <a:off x="0" y="0"/>
                <a:ext cx="5067457" cy="589531"/>
              </a:xfrm>
              <a:custGeom>
                <a:avLst/>
                <a:gdLst/>
                <a:ahLst/>
                <a:cxnLst/>
                <a:rect r="r" b="b" t="t" l="l"/>
                <a:pathLst>
                  <a:path h="589531" w="5067457">
                    <a:moveTo>
                      <a:pt x="0" y="0"/>
                    </a:moveTo>
                    <a:lnTo>
                      <a:pt x="5067457" y="0"/>
                    </a:lnTo>
                    <a:lnTo>
                      <a:pt x="5067457" y="589531"/>
                    </a:lnTo>
                    <a:lnTo>
                      <a:pt x="0" y="589531"/>
                    </a:lnTo>
                    <a:close/>
                  </a:path>
                </a:pathLst>
              </a:custGeom>
              <a:solidFill>
                <a:srgbClr val="97D4E8"/>
              </a:solidFill>
              <a:ln cap="sq">
                <a:noFill/>
                <a:prstDash val="solid"/>
                <a:miter/>
              </a:ln>
            </p:spPr>
          </p:sp>
          <p:sp>
            <p:nvSpPr>
              <p:cNvPr name="TextBox 5" id="5"/>
              <p:cNvSpPr txBox="true"/>
              <p:nvPr/>
            </p:nvSpPr>
            <p:spPr>
              <a:xfrm>
                <a:off x="0" y="-19050"/>
                <a:ext cx="5067457" cy="608581"/>
              </a:xfrm>
              <a:prstGeom prst="rect">
                <a:avLst/>
              </a:prstGeom>
            </p:spPr>
            <p:txBody>
              <a:bodyPr anchor="ctr" rtlCol="false" tIns="50800" lIns="50800" bIns="50800" rIns="50800"/>
              <a:lstStyle/>
              <a:p>
                <a:pPr algn="ctr" marL="0" indent="0" lvl="0">
                  <a:lnSpc>
                    <a:spcPts val="2080"/>
                  </a:lnSpc>
                  <a:spcBef>
                    <a:spcPct val="0"/>
                  </a:spcBef>
                </a:pPr>
              </a:p>
            </p:txBody>
          </p:sp>
        </p:grpSp>
        <p:grpSp>
          <p:nvGrpSpPr>
            <p:cNvPr name="Group 6" id="6"/>
            <p:cNvGrpSpPr/>
            <p:nvPr/>
          </p:nvGrpSpPr>
          <p:grpSpPr>
            <a:xfrm rot="0">
              <a:off x="0" y="2921000"/>
              <a:ext cx="25654000" cy="254000"/>
              <a:chOff x="0" y="0"/>
              <a:chExt cx="5067457" cy="50173"/>
            </a:xfrm>
          </p:grpSpPr>
          <p:sp>
            <p:nvSpPr>
              <p:cNvPr name="Freeform 7" id="7"/>
              <p:cNvSpPr/>
              <p:nvPr/>
            </p:nvSpPr>
            <p:spPr>
              <a:xfrm flipH="false" flipV="false" rot="0">
                <a:off x="0" y="0"/>
                <a:ext cx="5067457" cy="50173"/>
              </a:xfrm>
              <a:custGeom>
                <a:avLst/>
                <a:gdLst/>
                <a:ahLst/>
                <a:cxnLst/>
                <a:rect r="r" b="b" t="t" l="l"/>
                <a:pathLst>
                  <a:path h="50173" w="5067457">
                    <a:moveTo>
                      <a:pt x="0" y="0"/>
                    </a:moveTo>
                    <a:lnTo>
                      <a:pt x="5067457" y="0"/>
                    </a:lnTo>
                    <a:lnTo>
                      <a:pt x="5067457" y="50173"/>
                    </a:lnTo>
                    <a:lnTo>
                      <a:pt x="0" y="50173"/>
                    </a:lnTo>
                    <a:close/>
                  </a:path>
                </a:pathLst>
              </a:custGeom>
              <a:solidFill>
                <a:srgbClr val="CC7E3E"/>
              </a:solidFill>
              <a:ln cap="sq">
                <a:noFill/>
                <a:prstDash val="solid"/>
                <a:miter/>
              </a:ln>
            </p:spPr>
          </p:sp>
          <p:sp>
            <p:nvSpPr>
              <p:cNvPr name="TextBox 8" id="8"/>
              <p:cNvSpPr txBox="true"/>
              <p:nvPr/>
            </p:nvSpPr>
            <p:spPr>
              <a:xfrm>
                <a:off x="0" y="-19050"/>
                <a:ext cx="5067457" cy="69223"/>
              </a:xfrm>
              <a:prstGeom prst="rect">
                <a:avLst/>
              </a:prstGeom>
            </p:spPr>
            <p:txBody>
              <a:bodyPr anchor="ctr" rtlCol="false" tIns="50800" lIns="50800" bIns="50800" rIns="50800"/>
              <a:lstStyle/>
              <a:p>
                <a:pPr algn="ctr" marL="0" indent="0" lvl="0">
                  <a:lnSpc>
                    <a:spcPts val="2080"/>
                  </a:lnSpc>
                  <a:spcBef>
                    <a:spcPct val="0"/>
                  </a:spcBef>
                </a:pPr>
              </a:p>
            </p:txBody>
          </p:sp>
        </p:grpSp>
      </p:grpSp>
      <p:grpSp>
        <p:nvGrpSpPr>
          <p:cNvPr name="Group 9" id="9"/>
          <p:cNvGrpSpPr/>
          <p:nvPr/>
        </p:nvGrpSpPr>
        <p:grpSpPr>
          <a:xfrm rot="0">
            <a:off x="2515713" y="694302"/>
            <a:ext cx="13415004" cy="793159"/>
            <a:chOff x="0" y="0"/>
            <a:chExt cx="17886672" cy="1057546"/>
          </a:xfrm>
        </p:grpSpPr>
        <p:grpSp>
          <p:nvGrpSpPr>
            <p:cNvPr name="Group 10" id="10"/>
            <p:cNvGrpSpPr/>
            <p:nvPr/>
          </p:nvGrpSpPr>
          <p:grpSpPr>
            <a:xfrm rot="0">
              <a:off x="1153849" y="41546"/>
              <a:ext cx="15578974" cy="1016000"/>
              <a:chOff x="0" y="0"/>
              <a:chExt cx="2198092" cy="143351"/>
            </a:xfrm>
          </p:grpSpPr>
          <p:sp>
            <p:nvSpPr>
              <p:cNvPr name="Freeform 11" id="11"/>
              <p:cNvSpPr/>
              <p:nvPr/>
            </p:nvSpPr>
            <p:spPr>
              <a:xfrm flipH="false" flipV="false" rot="0">
                <a:off x="0" y="0"/>
                <a:ext cx="2198092" cy="143351"/>
              </a:xfrm>
              <a:custGeom>
                <a:avLst/>
                <a:gdLst/>
                <a:ahLst/>
                <a:cxnLst/>
                <a:rect r="r" b="b" t="t" l="l"/>
                <a:pathLst>
                  <a:path h="143351" w="2198092">
                    <a:moveTo>
                      <a:pt x="33792" y="0"/>
                    </a:moveTo>
                    <a:lnTo>
                      <a:pt x="2164299" y="0"/>
                    </a:lnTo>
                    <a:cubicBezTo>
                      <a:pt x="2173262" y="0"/>
                      <a:pt x="2181857" y="3560"/>
                      <a:pt x="2188194" y="9898"/>
                    </a:cubicBezTo>
                    <a:cubicBezTo>
                      <a:pt x="2194531" y="16235"/>
                      <a:pt x="2198092" y="24830"/>
                      <a:pt x="2198092" y="33792"/>
                    </a:cubicBezTo>
                    <a:lnTo>
                      <a:pt x="2198092" y="109559"/>
                    </a:lnTo>
                    <a:cubicBezTo>
                      <a:pt x="2198092" y="118521"/>
                      <a:pt x="2194531" y="127116"/>
                      <a:pt x="2188194" y="133453"/>
                    </a:cubicBezTo>
                    <a:cubicBezTo>
                      <a:pt x="2181857" y="139791"/>
                      <a:pt x="2173262" y="143351"/>
                      <a:pt x="2164299" y="143351"/>
                    </a:cubicBezTo>
                    <a:lnTo>
                      <a:pt x="33792" y="143351"/>
                    </a:lnTo>
                    <a:cubicBezTo>
                      <a:pt x="24830" y="143351"/>
                      <a:pt x="16235" y="139791"/>
                      <a:pt x="9898" y="133453"/>
                    </a:cubicBezTo>
                    <a:cubicBezTo>
                      <a:pt x="3560" y="127116"/>
                      <a:pt x="0" y="118521"/>
                      <a:pt x="0" y="109559"/>
                    </a:cubicBezTo>
                    <a:lnTo>
                      <a:pt x="0" y="33792"/>
                    </a:lnTo>
                    <a:cubicBezTo>
                      <a:pt x="0" y="24830"/>
                      <a:pt x="3560" y="16235"/>
                      <a:pt x="9898" y="9898"/>
                    </a:cubicBezTo>
                    <a:cubicBezTo>
                      <a:pt x="16235" y="3560"/>
                      <a:pt x="24830" y="0"/>
                      <a:pt x="33792" y="0"/>
                    </a:cubicBezTo>
                    <a:close/>
                  </a:path>
                </a:pathLst>
              </a:custGeom>
              <a:solidFill>
                <a:srgbClr val="38ABD1"/>
              </a:solidFill>
              <a:ln cap="rnd">
                <a:noFill/>
                <a:prstDash val="solid"/>
                <a:round/>
              </a:ln>
            </p:spPr>
          </p:sp>
          <p:sp>
            <p:nvSpPr>
              <p:cNvPr name="TextBox 12" id="12"/>
              <p:cNvSpPr txBox="true"/>
              <p:nvPr/>
            </p:nvSpPr>
            <p:spPr>
              <a:xfrm>
                <a:off x="0" y="-19050"/>
                <a:ext cx="2198092" cy="162401"/>
              </a:xfrm>
              <a:prstGeom prst="rect">
                <a:avLst/>
              </a:prstGeom>
            </p:spPr>
            <p:txBody>
              <a:bodyPr anchor="ctr" rtlCol="false" tIns="50800" lIns="50800" bIns="50800" rIns="50800"/>
              <a:lstStyle/>
              <a:p>
                <a:pPr algn="ctr" marL="0" indent="0" lvl="0">
                  <a:lnSpc>
                    <a:spcPts val="2080"/>
                  </a:lnSpc>
                  <a:spcBef>
                    <a:spcPct val="0"/>
                  </a:spcBef>
                </a:pPr>
              </a:p>
            </p:txBody>
          </p:sp>
        </p:grpSp>
        <p:grpSp>
          <p:nvGrpSpPr>
            <p:cNvPr name="Group 13" id="13"/>
            <p:cNvGrpSpPr/>
            <p:nvPr/>
          </p:nvGrpSpPr>
          <p:grpSpPr>
            <a:xfrm rot="0">
              <a:off x="0" y="0"/>
              <a:ext cx="17886672" cy="1057546"/>
              <a:chOff x="0" y="0"/>
              <a:chExt cx="2523693" cy="149213"/>
            </a:xfrm>
          </p:grpSpPr>
          <p:sp>
            <p:nvSpPr>
              <p:cNvPr name="Freeform 14" id="14"/>
              <p:cNvSpPr/>
              <p:nvPr/>
            </p:nvSpPr>
            <p:spPr>
              <a:xfrm flipH="false" flipV="false" rot="0">
                <a:off x="0" y="0"/>
                <a:ext cx="2523693" cy="149213"/>
              </a:xfrm>
              <a:custGeom>
                <a:avLst/>
                <a:gdLst/>
                <a:ahLst/>
                <a:cxnLst/>
                <a:rect r="r" b="b" t="t" l="l"/>
                <a:pathLst>
                  <a:path h="149213" w="2523693">
                    <a:moveTo>
                      <a:pt x="29433" y="0"/>
                    </a:moveTo>
                    <a:lnTo>
                      <a:pt x="2494260" y="0"/>
                    </a:lnTo>
                    <a:cubicBezTo>
                      <a:pt x="2510515" y="0"/>
                      <a:pt x="2523693" y="13177"/>
                      <a:pt x="2523693" y="29433"/>
                    </a:cubicBezTo>
                    <a:lnTo>
                      <a:pt x="2523693" y="119780"/>
                    </a:lnTo>
                    <a:cubicBezTo>
                      <a:pt x="2523693" y="127586"/>
                      <a:pt x="2520592" y="135073"/>
                      <a:pt x="2515072" y="140592"/>
                    </a:cubicBezTo>
                    <a:cubicBezTo>
                      <a:pt x="2509552" y="146112"/>
                      <a:pt x="2502066" y="149213"/>
                      <a:pt x="2494260" y="149213"/>
                    </a:cubicBezTo>
                    <a:lnTo>
                      <a:pt x="29433" y="149213"/>
                    </a:lnTo>
                    <a:cubicBezTo>
                      <a:pt x="13177" y="149213"/>
                      <a:pt x="0" y="136035"/>
                      <a:pt x="0" y="119780"/>
                    </a:cubicBezTo>
                    <a:lnTo>
                      <a:pt x="0" y="29433"/>
                    </a:lnTo>
                    <a:cubicBezTo>
                      <a:pt x="0" y="13177"/>
                      <a:pt x="13177" y="0"/>
                      <a:pt x="29433" y="0"/>
                    </a:cubicBezTo>
                    <a:close/>
                  </a:path>
                </a:pathLst>
              </a:custGeom>
              <a:solidFill>
                <a:srgbClr val="FFFFFF"/>
              </a:solidFill>
            </p:spPr>
          </p:sp>
          <p:sp>
            <p:nvSpPr>
              <p:cNvPr name="TextBox 15" id="15"/>
              <p:cNvSpPr txBox="true"/>
              <p:nvPr/>
            </p:nvSpPr>
            <p:spPr>
              <a:xfrm>
                <a:off x="0" y="-38100"/>
                <a:ext cx="2523693" cy="187313"/>
              </a:xfrm>
              <a:prstGeom prst="rect">
                <a:avLst/>
              </a:prstGeom>
            </p:spPr>
            <p:txBody>
              <a:bodyPr anchor="ctr" rtlCol="false" tIns="50800" lIns="50800" bIns="50800" rIns="50800"/>
              <a:lstStyle/>
              <a:p>
                <a:pPr algn="ctr">
                  <a:lnSpc>
                    <a:spcPts val="4549"/>
                  </a:lnSpc>
                </a:pPr>
                <a:r>
                  <a:rPr lang="en-US" b="true" sz="3499">
                    <a:solidFill>
                      <a:srgbClr val="000001"/>
                    </a:solidFill>
                    <a:latin typeface="Klein Bold"/>
                    <a:ea typeface="Klein Bold"/>
                    <a:cs typeface="Klein Bold"/>
                    <a:sym typeface="Klein Bold"/>
                  </a:rPr>
                  <a:t>Kesimpulan dan Keterbatasan</a:t>
                </a:r>
              </a:p>
            </p:txBody>
          </p:sp>
        </p:grpSp>
      </p:grpSp>
      <p:sp>
        <p:nvSpPr>
          <p:cNvPr name="TextBox 16" id="16"/>
          <p:cNvSpPr txBox="true"/>
          <p:nvPr/>
        </p:nvSpPr>
        <p:spPr>
          <a:xfrm rot="0">
            <a:off x="3375516" y="2395347"/>
            <a:ext cx="13048177" cy="7891653"/>
          </a:xfrm>
          <a:prstGeom prst="rect">
            <a:avLst/>
          </a:prstGeom>
        </p:spPr>
        <p:txBody>
          <a:bodyPr anchor="t" rtlCol="false" tIns="0" lIns="0" bIns="0" rIns="0">
            <a:spAutoFit/>
          </a:bodyPr>
          <a:lstStyle/>
          <a:p>
            <a:pPr algn="just">
              <a:lnSpc>
                <a:spcPts val="3906"/>
              </a:lnSpc>
            </a:pPr>
            <a:r>
              <a:rPr lang="en-US" b="true" sz="2100" spc="176">
                <a:solidFill>
                  <a:srgbClr val="000000"/>
                </a:solidFill>
                <a:latin typeface="Klein Bold"/>
                <a:ea typeface="Klein Bold"/>
                <a:cs typeface="Klein Bold"/>
                <a:sym typeface="Klein Bold"/>
              </a:rPr>
              <a:t>Kesimpulan</a:t>
            </a:r>
          </a:p>
          <a:p>
            <a:pPr algn="just" marL="453390" indent="-226695" lvl="1">
              <a:lnSpc>
                <a:spcPts val="3906"/>
              </a:lnSpc>
              <a:buAutoNum type="arabicPeriod" startAt="1"/>
            </a:pPr>
            <a:r>
              <a:rPr lang="en-US" sz="2100" spc="176">
                <a:solidFill>
                  <a:srgbClr val="000000"/>
                </a:solidFill>
                <a:latin typeface="Klein"/>
                <a:ea typeface="Klein"/>
                <a:cs typeface="Klein"/>
                <a:sym typeface="Klein"/>
              </a:rPr>
              <a:t>Titik banjir Jakarta 2024 terklaster signifikan (NNI 0,66; p &lt; 0,01).</a:t>
            </a:r>
          </a:p>
          <a:p>
            <a:pPr algn="just" marL="453390" indent="-226695" lvl="1">
              <a:lnSpc>
                <a:spcPts val="3906"/>
              </a:lnSpc>
              <a:buAutoNum type="arabicPeriod" startAt="1"/>
            </a:pPr>
            <a:r>
              <a:rPr lang="en-US" sz="2100" spc="176">
                <a:solidFill>
                  <a:srgbClr val="000000"/>
                </a:solidFill>
                <a:latin typeface="Klein"/>
                <a:ea typeface="Klein"/>
                <a:cs typeface="Klein"/>
                <a:sym typeface="Klein"/>
              </a:rPr>
              <a:t>Konsentrasi utama berada di Jakarta Pusat.</a:t>
            </a:r>
          </a:p>
          <a:p>
            <a:pPr algn="just" marL="453390" indent="-226695" lvl="1">
              <a:lnSpc>
                <a:spcPts val="3906"/>
              </a:lnSpc>
              <a:buAutoNum type="arabicPeriod" startAt="1"/>
            </a:pPr>
            <a:r>
              <a:rPr lang="en-US" sz="2100" spc="176">
                <a:solidFill>
                  <a:srgbClr val="000000"/>
                </a:solidFill>
                <a:latin typeface="Klein"/>
                <a:ea typeface="Klein"/>
                <a:cs typeface="Klein"/>
                <a:sym typeface="Klein"/>
              </a:rPr>
              <a:t>Kepadatan penduduk signifikan terhadap jumlah banjir</a:t>
            </a:r>
          </a:p>
          <a:p>
            <a:pPr algn="just" marL="453390" indent="-226695" lvl="1">
              <a:lnSpc>
                <a:spcPts val="3906"/>
              </a:lnSpc>
              <a:buAutoNum type="arabicPeriod" startAt="1"/>
            </a:pPr>
            <a:r>
              <a:rPr lang="en-US" sz="2100" spc="176">
                <a:solidFill>
                  <a:srgbClr val="000000"/>
                </a:solidFill>
                <a:latin typeface="Klein"/>
                <a:ea typeface="Klein"/>
                <a:cs typeface="Klein"/>
                <a:sym typeface="Klein"/>
              </a:rPr>
              <a:t> (SAR p = 0,0079; SEM p = 0,00013).</a:t>
            </a:r>
          </a:p>
          <a:p>
            <a:pPr algn="just" marL="453390" indent="-226695" lvl="1">
              <a:lnSpc>
                <a:spcPts val="3906"/>
              </a:lnSpc>
              <a:buAutoNum type="arabicPeriod" startAt="1"/>
            </a:pPr>
            <a:r>
              <a:rPr lang="en-US" sz="2100" spc="176">
                <a:solidFill>
                  <a:srgbClr val="000000"/>
                </a:solidFill>
                <a:latin typeface="Klein"/>
                <a:ea typeface="Klein"/>
                <a:cs typeface="Klein"/>
                <a:sym typeface="Klein"/>
              </a:rPr>
              <a:t>Jumlah penduduk total tidak signifikan (p &gt; 0,1).</a:t>
            </a:r>
          </a:p>
          <a:p>
            <a:pPr algn="just" marL="453390" indent="-226695" lvl="1">
              <a:lnSpc>
                <a:spcPts val="3906"/>
              </a:lnSpc>
              <a:buAutoNum type="arabicPeriod" startAt="1"/>
            </a:pPr>
            <a:r>
              <a:rPr lang="en-US" sz="2100" spc="176">
                <a:solidFill>
                  <a:srgbClr val="000000"/>
                </a:solidFill>
                <a:latin typeface="Klein"/>
                <a:ea typeface="Klein"/>
                <a:cs typeface="Klein"/>
                <a:sym typeface="Klein"/>
              </a:rPr>
              <a:t>Model OLS terbaik (AIC 40,72); SAR (42,21) dan SEM (42,68) tidak unggul.</a:t>
            </a:r>
          </a:p>
          <a:p>
            <a:pPr algn="just">
              <a:lnSpc>
                <a:spcPts val="3906"/>
              </a:lnSpc>
            </a:pPr>
            <a:r>
              <a:rPr lang="en-US" b="true" sz="2100" spc="176">
                <a:solidFill>
                  <a:srgbClr val="000000"/>
                </a:solidFill>
                <a:latin typeface="Klein Bold"/>
                <a:ea typeface="Klein Bold"/>
                <a:cs typeface="Klein Bold"/>
                <a:sym typeface="Klein Bold"/>
              </a:rPr>
              <a:t>Keterbatasan</a:t>
            </a:r>
          </a:p>
          <a:p>
            <a:pPr algn="just" marL="453390" indent="-226695" lvl="1">
              <a:lnSpc>
                <a:spcPts val="3906"/>
              </a:lnSpc>
              <a:buFont typeface="Arial"/>
              <a:buChar char="•"/>
            </a:pPr>
            <a:r>
              <a:rPr lang="en-US" sz="2100" spc="176">
                <a:solidFill>
                  <a:srgbClr val="000000"/>
                </a:solidFill>
                <a:latin typeface="Klein"/>
                <a:ea typeface="Klein"/>
                <a:cs typeface="Klein"/>
                <a:sym typeface="Klein"/>
              </a:rPr>
              <a:t>Data banjir 1 tahun (2024), tanpa dimensi waktu.</a:t>
            </a:r>
          </a:p>
          <a:p>
            <a:pPr algn="just" marL="453390" indent="-226695" lvl="1">
              <a:lnSpc>
                <a:spcPts val="3906"/>
              </a:lnSpc>
              <a:buFont typeface="Arial"/>
              <a:buChar char="•"/>
            </a:pPr>
            <a:r>
              <a:rPr lang="en-US" sz="2100" spc="176">
                <a:solidFill>
                  <a:srgbClr val="000000"/>
                </a:solidFill>
                <a:latin typeface="Klein"/>
                <a:ea typeface="Klein"/>
                <a:cs typeface="Klein"/>
                <a:sym typeface="Klein"/>
              </a:rPr>
              <a:t>Analisis regresi di level kota, bukan kelurahan.</a:t>
            </a:r>
          </a:p>
          <a:p>
            <a:pPr algn="just" marL="453390" indent="-226695" lvl="1">
              <a:lnSpc>
                <a:spcPts val="3906"/>
              </a:lnSpc>
              <a:buFont typeface="Arial"/>
              <a:buChar char="•"/>
            </a:pPr>
            <a:r>
              <a:rPr lang="en-US" sz="2100" spc="176">
                <a:solidFill>
                  <a:srgbClr val="000000"/>
                </a:solidFill>
                <a:latin typeface="Klein"/>
                <a:ea typeface="Klein"/>
                <a:cs typeface="Klein"/>
                <a:sym typeface="Klein"/>
              </a:rPr>
              <a:t>Variabel fisik (curah hujan, elevasi, drainase) belum digunakan.</a:t>
            </a:r>
          </a:p>
          <a:p>
            <a:pPr algn="just">
              <a:lnSpc>
                <a:spcPts val="3906"/>
              </a:lnSpc>
            </a:pPr>
            <a:r>
              <a:rPr lang="en-US" b="true" sz="2100" spc="176">
                <a:solidFill>
                  <a:srgbClr val="000000"/>
                </a:solidFill>
                <a:latin typeface="Klein Bold"/>
                <a:ea typeface="Klein Bold"/>
                <a:cs typeface="Klein Bold"/>
                <a:sym typeface="Klein Bold"/>
              </a:rPr>
              <a:t>Saran Penelitian Lanjutan</a:t>
            </a:r>
          </a:p>
          <a:p>
            <a:pPr algn="just" marL="453390" indent="-226695" lvl="1">
              <a:lnSpc>
                <a:spcPts val="3906"/>
              </a:lnSpc>
              <a:buFont typeface="Arial"/>
              <a:buChar char="•"/>
            </a:pPr>
            <a:r>
              <a:rPr lang="en-US" sz="2100" spc="176">
                <a:solidFill>
                  <a:srgbClr val="000000"/>
                </a:solidFill>
                <a:latin typeface="Klein"/>
                <a:ea typeface="Klein"/>
                <a:cs typeface="Klein"/>
                <a:sym typeface="Klein"/>
              </a:rPr>
              <a:t>Gunakan data time-series banjir.</a:t>
            </a:r>
          </a:p>
          <a:p>
            <a:pPr algn="just" marL="453390" indent="-226695" lvl="1">
              <a:lnSpc>
                <a:spcPts val="3906"/>
              </a:lnSpc>
              <a:buFont typeface="Arial"/>
              <a:buChar char="•"/>
            </a:pPr>
            <a:r>
              <a:rPr lang="en-US" sz="2100" spc="176">
                <a:solidFill>
                  <a:srgbClr val="000000"/>
                </a:solidFill>
                <a:latin typeface="Klein"/>
                <a:ea typeface="Klein"/>
                <a:cs typeface="Klein"/>
                <a:sym typeface="Klein"/>
              </a:rPr>
              <a:t>Analisis pada skala kelurahan atau grid kecil.</a:t>
            </a:r>
          </a:p>
          <a:p>
            <a:pPr algn="just" marL="453390" indent="-226695" lvl="1">
              <a:lnSpc>
                <a:spcPts val="3906"/>
              </a:lnSpc>
              <a:buFont typeface="Arial"/>
              <a:buChar char="•"/>
            </a:pPr>
            <a:r>
              <a:rPr lang="en-US" sz="2100" spc="176">
                <a:solidFill>
                  <a:srgbClr val="000000"/>
                </a:solidFill>
                <a:latin typeface="Klein"/>
                <a:ea typeface="Klein"/>
                <a:cs typeface="Klein"/>
                <a:sym typeface="Klein"/>
              </a:rPr>
              <a:t>Tambahkan variabel lingkungan dan hidrologi.</a:t>
            </a:r>
          </a:p>
          <a:p>
            <a:pPr algn="just">
              <a:lnSpc>
                <a:spcPts val="3906"/>
              </a:lnSpc>
            </a:pPr>
          </a:p>
        </p:txBody>
      </p:sp>
    </p:spTree>
  </p:cSld>
  <p:clrMapOvr>
    <a:masterClrMapping/>
  </p:clrMapOvr>
  <p:transition spd="fast">
    <p:fade/>
  </p:transition>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42875"/>
            <a:ext cx="9617396" cy="10572750"/>
            <a:chOff x="0" y="0"/>
            <a:chExt cx="2532977" cy="2784593"/>
          </a:xfrm>
        </p:grpSpPr>
        <p:sp>
          <p:nvSpPr>
            <p:cNvPr name="Freeform 3" id="3"/>
            <p:cNvSpPr/>
            <p:nvPr/>
          </p:nvSpPr>
          <p:spPr>
            <a:xfrm flipH="false" flipV="false" rot="0">
              <a:off x="0" y="0"/>
              <a:ext cx="2532977" cy="2784593"/>
            </a:xfrm>
            <a:custGeom>
              <a:avLst/>
              <a:gdLst/>
              <a:ahLst/>
              <a:cxnLst/>
              <a:rect r="r" b="b" t="t" l="l"/>
              <a:pathLst>
                <a:path h="2784593" w="2532977">
                  <a:moveTo>
                    <a:pt x="0" y="0"/>
                  </a:moveTo>
                  <a:lnTo>
                    <a:pt x="2532977" y="0"/>
                  </a:lnTo>
                  <a:lnTo>
                    <a:pt x="2532977" y="2784593"/>
                  </a:lnTo>
                  <a:lnTo>
                    <a:pt x="0" y="2784593"/>
                  </a:lnTo>
                  <a:close/>
                </a:path>
              </a:pathLst>
            </a:custGeom>
            <a:solidFill>
              <a:srgbClr val="97D4E8"/>
            </a:solidFill>
            <a:ln cap="sq">
              <a:noFill/>
              <a:prstDash val="solid"/>
              <a:miter/>
            </a:ln>
          </p:spPr>
        </p:sp>
        <p:sp>
          <p:nvSpPr>
            <p:cNvPr name="TextBox 4" id="4"/>
            <p:cNvSpPr txBox="true"/>
            <p:nvPr/>
          </p:nvSpPr>
          <p:spPr>
            <a:xfrm>
              <a:off x="0" y="-28575"/>
              <a:ext cx="2532977" cy="281316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0078793" y="2028448"/>
            <a:ext cx="1179619" cy="1223775"/>
          </a:xfrm>
          <a:custGeom>
            <a:avLst/>
            <a:gdLst/>
            <a:ahLst/>
            <a:cxnLst/>
            <a:rect r="r" b="b" t="t" l="l"/>
            <a:pathLst>
              <a:path h="1223775" w="1179619">
                <a:moveTo>
                  <a:pt x="0" y="0"/>
                </a:moveTo>
                <a:lnTo>
                  <a:pt x="1179620" y="0"/>
                </a:lnTo>
                <a:lnTo>
                  <a:pt x="1179620" y="1223775"/>
                </a:lnTo>
                <a:lnTo>
                  <a:pt x="0" y="1223775"/>
                </a:lnTo>
                <a:lnTo>
                  <a:pt x="0" y="0"/>
                </a:lnTo>
                <a:close/>
              </a:path>
            </a:pathLst>
          </a:custGeom>
          <a:blipFill>
            <a:blip r:embed="rId2">
              <a:extLst>
                <a:ext uri="{96DAC541-7B7A-43D3-8B79-37D633B846F1}">
                  <asvg:svgBlip xmlns:asvg="http://schemas.microsoft.com/office/drawing/2016/SVG/main" r:embed="rId3"/>
                </a:ext>
              </a:extLst>
            </a:blip>
            <a:stretch>
              <a:fillRect l="0" t="0" r="-52972" b="0"/>
            </a:stretch>
          </a:blipFill>
          <a:ln cap="sq">
            <a:noFill/>
            <a:prstDash val="solid"/>
            <a:miter/>
          </a:ln>
        </p:spPr>
      </p:sp>
      <p:sp>
        <p:nvSpPr>
          <p:cNvPr name="Freeform 6" id="6"/>
          <p:cNvSpPr/>
          <p:nvPr/>
        </p:nvSpPr>
        <p:spPr>
          <a:xfrm flipH="false" flipV="false" rot="0">
            <a:off x="10078793" y="484819"/>
            <a:ext cx="1174824" cy="1223775"/>
          </a:xfrm>
          <a:custGeom>
            <a:avLst/>
            <a:gdLst/>
            <a:ahLst/>
            <a:cxnLst/>
            <a:rect r="r" b="b" t="t" l="l"/>
            <a:pathLst>
              <a:path h="1223775" w="1174824">
                <a:moveTo>
                  <a:pt x="0" y="0"/>
                </a:moveTo>
                <a:lnTo>
                  <a:pt x="1174825" y="0"/>
                </a:lnTo>
                <a:lnTo>
                  <a:pt x="1174825" y="1223775"/>
                </a:lnTo>
                <a:lnTo>
                  <a:pt x="0" y="12237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2592141" y="3544257"/>
            <a:ext cx="1223775" cy="1223775"/>
          </a:xfrm>
          <a:custGeom>
            <a:avLst/>
            <a:gdLst/>
            <a:ahLst/>
            <a:cxnLst/>
            <a:rect r="r" b="b" t="t" l="l"/>
            <a:pathLst>
              <a:path h="1223775" w="1223775">
                <a:moveTo>
                  <a:pt x="0" y="0"/>
                </a:moveTo>
                <a:lnTo>
                  <a:pt x="1223776" y="0"/>
                </a:lnTo>
                <a:lnTo>
                  <a:pt x="1223776" y="1223775"/>
                </a:lnTo>
                <a:lnTo>
                  <a:pt x="0" y="12237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8" id="8"/>
          <p:cNvSpPr/>
          <p:nvPr/>
        </p:nvSpPr>
        <p:spPr>
          <a:xfrm flipH="false" flipV="false" rot="0">
            <a:off x="12592141" y="2088821"/>
            <a:ext cx="1223775" cy="1163402"/>
          </a:xfrm>
          <a:custGeom>
            <a:avLst/>
            <a:gdLst/>
            <a:ahLst/>
            <a:cxnLst/>
            <a:rect r="r" b="b" t="t" l="l"/>
            <a:pathLst>
              <a:path h="1163402" w="1223775">
                <a:moveTo>
                  <a:pt x="0" y="0"/>
                </a:moveTo>
                <a:lnTo>
                  <a:pt x="1223776" y="0"/>
                </a:lnTo>
                <a:lnTo>
                  <a:pt x="1223776" y="1163402"/>
                </a:lnTo>
                <a:lnTo>
                  <a:pt x="0" y="116340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true" flipV="false" rot="0">
            <a:off x="11444529" y="484819"/>
            <a:ext cx="890018" cy="1223775"/>
          </a:xfrm>
          <a:custGeom>
            <a:avLst/>
            <a:gdLst/>
            <a:ahLst/>
            <a:cxnLst/>
            <a:rect r="r" b="b" t="t" l="l"/>
            <a:pathLst>
              <a:path h="1223775" w="890018">
                <a:moveTo>
                  <a:pt x="890018" y="0"/>
                </a:moveTo>
                <a:lnTo>
                  <a:pt x="0" y="0"/>
                </a:lnTo>
                <a:lnTo>
                  <a:pt x="0" y="1223775"/>
                </a:lnTo>
                <a:lnTo>
                  <a:pt x="890018" y="1223775"/>
                </a:lnTo>
                <a:lnTo>
                  <a:pt x="890018"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10" id="10"/>
          <p:cNvSpPr/>
          <p:nvPr/>
        </p:nvSpPr>
        <p:spPr>
          <a:xfrm flipH="true" flipV="false" rot="0">
            <a:off x="11444529" y="2028448"/>
            <a:ext cx="890018" cy="1223775"/>
          </a:xfrm>
          <a:custGeom>
            <a:avLst/>
            <a:gdLst/>
            <a:ahLst/>
            <a:cxnLst/>
            <a:rect r="r" b="b" t="t" l="l"/>
            <a:pathLst>
              <a:path h="1223775" w="890018">
                <a:moveTo>
                  <a:pt x="890018" y="0"/>
                </a:moveTo>
                <a:lnTo>
                  <a:pt x="0" y="0"/>
                </a:lnTo>
                <a:lnTo>
                  <a:pt x="0" y="1223775"/>
                </a:lnTo>
                <a:lnTo>
                  <a:pt x="890018" y="1223775"/>
                </a:lnTo>
                <a:lnTo>
                  <a:pt x="890018"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1" id="11"/>
          <p:cNvSpPr/>
          <p:nvPr/>
        </p:nvSpPr>
        <p:spPr>
          <a:xfrm flipH="false" flipV="false" rot="0">
            <a:off x="11307006" y="3631451"/>
            <a:ext cx="1223775" cy="1136581"/>
          </a:xfrm>
          <a:custGeom>
            <a:avLst/>
            <a:gdLst/>
            <a:ahLst/>
            <a:cxnLst/>
            <a:rect r="r" b="b" t="t" l="l"/>
            <a:pathLst>
              <a:path h="1136581" w="1223775">
                <a:moveTo>
                  <a:pt x="0" y="0"/>
                </a:moveTo>
                <a:lnTo>
                  <a:pt x="1223775" y="0"/>
                </a:lnTo>
                <a:lnTo>
                  <a:pt x="1223775" y="1136581"/>
                </a:lnTo>
                <a:lnTo>
                  <a:pt x="0" y="113658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2" id="12"/>
          <p:cNvSpPr/>
          <p:nvPr/>
        </p:nvSpPr>
        <p:spPr>
          <a:xfrm flipH="false" flipV="false" rot="0">
            <a:off x="12592141" y="484819"/>
            <a:ext cx="1223775" cy="1203750"/>
          </a:xfrm>
          <a:custGeom>
            <a:avLst/>
            <a:gdLst/>
            <a:ahLst/>
            <a:cxnLst/>
            <a:rect r="r" b="b" t="t" l="l"/>
            <a:pathLst>
              <a:path h="1203750" w="1223775">
                <a:moveTo>
                  <a:pt x="0" y="0"/>
                </a:moveTo>
                <a:lnTo>
                  <a:pt x="1223776" y="0"/>
                </a:lnTo>
                <a:lnTo>
                  <a:pt x="1223776" y="1203749"/>
                </a:lnTo>
                <a:lnTo>
                  <a:pt x="0" y="120374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3" id="13"/>
          <p:cNvSpPr/>
          <p:nvPr/>
        </p:nvSpPr>
        <p:spPr>
          <a:xfrm flipH="false" flipV="false" rot="0">
            <a:off x="10078793" y="3837571"/>
            <a:ext cx="1174824" cy="930461"/>
          </a:xfrm>
          <a:custGeom>
            <a:avLst/>
            <a:gdLst/>
            <a:ahLst/>
            <a:cxnLst/>
            <a:rect r="r" b="b" t="t" l="l"/>
            <a:pathLst>
              <a:path h="930461" w="1174824">
                <a:moveTo>
                  <a:pt x="0" y="0"/>
                </a:moveTo>
                <a:lnTo>
                  <a:pt x="1174825" y="0"/>
                </a:lnTo>
                <a:lnTo>
                  <a:pt x="1174825" y="930461"/>
                </a:lnTo>
                <a:lnTo>
                  <a:pt x="0" y="930461"/>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nvGrpSpPr>
          <p:cNvPr name="Group 14" id="14"/>
          <p:cNvGrpSpPr/>
          <p:nvPr/>
        </p:nvGrpSpPr>
        <p:grpSpPr>
          <a:xfrm rot="0">
            <a:off x="9617396" y="5349057"/>
            <a:ext cx="9617396" cy="10572750"/>
            <a:chOff x="0" y="0"/>
            <a:chExt cx="2532977" cy="2784593"/>
          </a:xfrm>
        </p:grpSpPr>
        <p:sp>
          <p:nvSpPr>
            <p:cNvPr name="Freeform 15" id="15"/>
            <p:cNvSpPr/>
            <p:nvPr/>
          </p:nvSpPr>
          <p:spPr>
            <a:xfrm flipH="false" flipV="false" rot="0">
              <a:off x="0" y="0"/>
              <a:ext cx="2532977" cy="2784593"/>
            </a:xfrm>
            <a:custGeom>
              <a:avLst/>
              <a:gdLst/>
              <a:ahLst/>
              <a:cxnLst/>
              <a:rect r="r" b="b" t="t" l="l"/>
              <a:pathLst>
                <a:path h="2784593" w="2532977">
                  <a:moveTo>
                    <a:pt x="0" y="0"/>
                  </a:moveTo>
                  <a:lnTo>
                    <a:pt x="2532977" y="0"/>
                  </a:lnTo>
                  <a:lnTo>
                    <a:pt x="2532977" y="2784593"/>
                  </a:lnTo>
                  <a:lnTo>
                    <a:pt x="0" y="2784593"/>
                  </a:lnTo>
                  <a:close/>
                </a:path>
              </a:pathLst>
            </a:custGeom>
            <a:solidFill>
              <a:srgbClr val="97D4E8"/>
            </a:solidFill>
            <a:ln cap="sq">
              <a:noFill/>
              <a:prstDash val="solid"/>
              <a:miter/>
            </a:ln>
          </p:spPr>
        </p:sp>
        <p:sp>
          <p:nvSpPr>
            <p:cNvPr name="TextBox 16" id="16"/>
            <p:cNvSpPr txBox="true"/>
            <p:nvPr/>
          </p:nvSpPr>
          <p:spPr>
            <a:xfrm>
              <a:off x="0" y="-28575"/>
              <a:ext cx="2532977" cy="281316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7" id="17"/>
          <p:cNvSpPr txBox="true"/>
          <p:nvPr/>
        </p:nvSpPr>
        <p:spPr>
          <a:xfrm rot="0">
            <a:off x="1333500" y="2622897"/>
            <a:ext cx="4968344" cy="2594992"/>
          </a:xfrm>
          <a:prstGeom prst="rect">
            <a:avLst/>
          </a:prstGeom>
        </p:spPr>
        <p:txBody>
          <a:bodyPr anchor="t" rtlCol="false" tIns="0" lIns="0" bIns="0" rIns="0">
            <a:spAutoFit/>
          </a:bodyPr>
          <a:lstStyle/>
          <a:p>
            <a:pPr algn="l">
              <a:lnSpc>
                <a:spcPts val="10331"/>
              </a:lnSpc>
            </a:pPr>
            <a:r>
              <a:rPr lang="en-US" sz="8199" b="true">
                <a:solidFill>
                  <a:srgbClr val="000001"/>
                </a:solidFill>
                <a:latin typeface="Klein Heavy"/>
                <a:ea typeface="Klein Heavy"/>
                <a:cs typeface="Klein Heavy"/>
                <a:sym typeface="Klein Heavy"/>
              </a:rPr>
              <a:t>Daftar Pustaka</a:t>
            </a:r>
          </a:p>
        </p:txBody>
      </p:sp>
      <p:sp>
        <p:nvSpPr>
          <p:cNvPr name="TextBox 18" id="18"/>
          <p:cNvSpPr txBox="true"/>
          <p:nvPr/>
        </p:nvSpPr>
        <p:spPr>
          <a:xfrm rot="0">
            <a:off x="1333500" y="5868670"/>
            <a:ext cx="15621000" cy="3389630"/>
          </a:xfrm>
          <a:prstGeom prst="rect">
            <a:avLst/>
          </a:prstGeom>
        </p:spPr>
        <p:txBody>
          <a:bodyPr anchor="t" rtlCol="false" tIns="0" lIns="0" bIns="0" rIns="0">
            <a:spAutoFit/>
          </a:bodyPr>
          <a:lstStyle/>
          <a:p>
            <a:pPr algn="l">
              <a:lnSpc>
                <a:spcPts val="5499"/>
              </a:lnSpc>
            </a:pPr>
            <a:r>
              <a:rPr lang="en-US" sz="2199" spc="103">
                <a:solidFill>
                  <a:srgbClr val="000001"/>
                </a:solidFill>
                <a:latin typeface="Klein"/>
                <a:ea typeface="Klein"/>
                <a:cs typeface="Klein"/>
                <a:sym typeface="Klein"/>
              </a:rPr>
              <a:t>Badan Pusat Statistik Provinsi DKI Jakarta. (2024). </a:t>
            </a:r>
            <a:r>
              <a:rPr lang="en-US" sz="2199" i="true" spc="103">
                <a:solidFill>
                  <a:srgbClr val="000001"/>
                </a:solidFill>
                <a:latin typeface="Klein Italics"/>
                <a:ea typeface="Klein Italics"/>
                <a:cs typeface="Klein Italics"/>
                <a:sym typeface="Klein Italics"/>
              </a:rPr>
              <a:t>Statistik kependudukan Provinsi DKI Jakarta.</a:t>
            </a:r>
          </a:p>
          <a:p>
            <a:pPr algn="l">
              <a:lnSpc>
                <a:spcPts val="5499"/>
              </a:lnSpc>
            </a:pPr>
            <a:r>
              <a:rPr lang="en-US" sz="2199" spc="103">
                <a:solidFill>
                  <a:srgbClr val="000001"/>
                </a:solidFill>
                <a:latin typeface="Klein"/>
                <a:ea typeface="Klein"/>
                <a:cs typeface="Klein"/>
                <a:sym typeface="Klein"/>
              </a:rPr>
              <a:t>Satu Data Jakarta. (2024). </a:t>
            </a:r>
            <a:r>
              <a:rPr lang="en-US" sz="2199" i="true" spc="103">
                <a:solidFill>
                  <a:srgbClr val="000001"/>
                </a:solidFill>
                <a:latin typeface="Klein Italics"/>
                <a:ea typeface="Klein Italics"/>
                <a:cs typeface="Klein Italics"/>
                <a:sym typeface="Klein Italics"/>
              </a:rPr>
              <a:t>Data lokasi rawan banjir DKI Jakarta.</a:t>
            </a:r>
          </a:p>
          <a:p>
            <a:pPr algn="l">
              <a:lnSpc>
                <a:spcPts val="5499"/>
              </a:lnSpc>
            </a:pPr>
            <a:r>
              <a:rPr lang="en-US" sz="2199" spc="103">
                <a:solidFill>
                  <a:srgbClr val="000001"/>
                </a:solidFill>
                <a:latin typeface="Klein"/>
                <a:ea typeface="Klein"/>
                <a:cs typeface="Klein"/>
                <a:sym typeface="Klein"/>
              </a:rPr>
              <a:t>Anselin, L. (1988). </a:t>
            </a:r>
            <a:r>
              <a:rPr lang="en-US" sz="2199" i="true" spc="103">
                <a:solidFill>
                  <a:srgbClr val="000001"/>
                </a:solidFill>
                <a:latin typeface="Klein Italics"/>
                <a:ea typeface="Klein Italics"/>
                <a:cs typeface="Klein Italics"/>
                <a:sym typeface="Klein Italics"/>
              </a:rPr>
              <a:t>Spatial econometrics: Methods and models. </a:t>
            </a:r>
            <a:r>
              <a:rPr lang="en-US" sz="2199" spc="103">
                <a:solidFill>
                  <a:srgbClr val="000001"/>
                </a:solidFill>
                <a:latin typeface="Klein"/>
                <a:ea typeface="Klein"/>
                <a:cs typeface="Klein"/>
                <a:sym typeface="Klein"/>
              </a:rPr>
              <a:t>Kluwer Academic Publishers.</a:t>
            </a:r>
          </a:p>
          <a:p>
            <a:pPr algn="l">
              <a:lnSpc>
                <a:spcPts val="5499"/>
              </a:lnSpc>
            </a:pPr>
            <a:r>
              <a:rPr lang="en-US" sz="2199" spc="103">
                <a:solidFill>
                  <a:srgbClr val="000001"/>
                </a:solidFill>
                <a:latin typeface="Klein"/>
                <a:ea typeface="Klein"/>
                <a:cs typeface="Klein"/>
                <a:sym typeface="Klein"/>
              </a:rPr>
              <a:t>O’Sullivan, D., &amp; Unwin, D. J. (2010). </a:t>
            </a:r>
            <a:r>
              <a:rPr lang="en-US" sz="2199" i="true" spc="103">
                <a:solidFill>
                  <a:srgbClr val="000001"/>
                </a:solidFill>
                <a:latin typeface="Klein Italics"/>
                <a:ea typeface="Klein Italics"/>
                <a:cs typeface="Klein Italics"/>
                <a:sym typeface="Klein Italics"/>
              </a:rPr>
              <a:t>Geographic information analysis (2nd ed.).</a:t>
            </a:r>
            <a:r>
              <a:rPr lang="en-US" sz="2199" spc="103">
                <a:solidFill>
                  <a:srgbClr val="000001"/>
                </a:solidFill>
                <a:latin typeface="Klein"/>
                <a:ea typeface="Klein"/>
                <a:cs typeface="Klein"/>
                <a:sym typeface="Klein"/>
              </a:rPr>
              <a:t> Wiley.</a:t>
            </a:r>
          </a:p>
          <a:p>
            <a:pPr algn="l">
              <a:lnSpc>
                <a:spcPts val="5499"/>
              </a:lnSpc>
            </a:pPr>
            <a:r>
              <a:rPr lang="en-US" sz="2199" spc="103">
                <a:solidFill>
                  <a:srgbClr val="000001"/>
                </a:solidFill>
                <a:latin typeface="Klein"/>
                <a:ea typeface="Klein"/>
                <a:cs typeface="Klein"/>
                <a:sym typeface="Klein"/>
              </a:rPr>
              <a:t>ESRI. (2023). </a:t>
            </a:r>
            <a:r>
              <a:rPr lang="en-US" sz="2199" i="true" spc="103">
                <a:solidFill>
                  <a:srgbClr val="000001"/>
                </a:solidFill>
                <a:latin typeface="Klein Italics"/>
                <a:ea typeface="Klein Italics"/>
                <a:cs typeface="Klein Italics"/>
                <a:sym typeface="Klein Italics"/>
              </a:rPr>
              <a:t>Spatial statistics toolbox documentation.</a:t>
            </a:r>
          </a:p>
        </p:txBody>
      </p:sp>
      <p:sp>
        <p:nvSpPr>
          <p:cNvPr name="Freeform 19" id="19"/>
          <p:cNvSpPr/>
          <p:nvPr/>
        </p:nvSpPr>
        <p:spPr>
          <a:xfrm flipH="false" flipV="false" rot="0">
            <a:off x="14073092" y="2028448"/>
            <a:ext cx="1179619" cy="1223775"/>
          </a:xfrm>
          <a:custGeom>
            <a:avLst/>
            <a:gdLst/>
            <a:ahLst/>
            <a:cxnLst/>
            <a:rect r="r" b="b" t="t" l="l"/>
            <a:pathLst>
              <a:path h="1223775" w="1179619">
                <a:moveTo>
                  <a:pt x="0" y="0"/>
                </a:moveTo>
                <a:lnTo>
                  <a:pt x="1179619" y="0"/>
                </a:lnTo>
                <a:lnTo>
                  <a:pt x="1179619" y="1223775"/>
                </a:lnTo>
                <a:lnTo>
                  <a:pt x="0" y="1223775"/>
                </a:lnTo>
                <a:lnTo>
                  <a:pt x="0" y="0"/>
                </a:lnTo>
                <a:close/>
              </a:path>
            </a:pathLst>
          </a:custGeom>
          <a:blipFill>
            <a:blip r:embed="rId2">
              <a:extLst>
                <a:ext uri="{96DAC541-7B7A-43D3-8B79-37D633B846F1}">
                  <asvg:svgBlip xmlns:asvg="http://schemas.microsoft.com/office/drawing/2016/SVG/main" r:embed="rId3"/>
                </a:ext>
              </a:extLst>
            </a:blip>
            <a:stretch>
              <a:fillRect l="0" t="0" r="-52972" b="0"/>
            </a:stretch>
          </a:blipFill>
          <a:ln cap="sq">
            <a:noFill/>
            <a:prstDash val="solid"/>
            <a:miter/>
          </a:ln>
        </p:spPr>
      </p:sp>
      <p:sp>
        <p:nvSpPr>
          <p:cNvPr name="Freeform 20" id="20"/>
          <p:cNvSpPr/>
          <p:nvPr/>
        </p:nvSpPr>
        <p:spPr>
          <a:xfrm flipH="false" flipV="false" rot="0">
            <a:off x="14073092" y="484819"/>
            <a:ext cx="1174824" cy="1223775"/>
          </a:xfrm>
          <a:custGeom>
            <a:avLst/>
            <a:gdLst/>
            <a:ahLst/>
            <a:cxnLst/>
            <a:rect r="r" b="b" t="t" l="l"/>
            <a:pathLst>
              <a:path h="1223775" w="1174824">
                <a:moveTo>
                  <a:pt x="0" y="0"/>
                </a:moveTo>
                <a:lnTo>
                  <a:pt x="1174824" y="0"/>
                </a:lnTo>
                <a:lnTo>
                  <a:pt x="1174824" y="1223775"/>
                </a:lnTo>
                <a:lnTo>
                  <a:pt x="0" y="12237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false" flipV="false" rot="0">
            <a:off x="16586439" y="3544257"/>
            <a:ext cx="1223775" cy="1223775"/>
          </a:xfrm>
          <a:custGeom>
            <a:avLst/>
            <a:gdLst/>
            <a:ahLst/>
            <a:cxnLst/>
            <a:rect r="r" b="b" t="t" l="l"/>
            <a:pathLst>
              <a:path h="1223775" w="1223775">
                <a:moveTo>
                  <a:pt x="0" y="0"/>
                </a:moveTo>
                <a:lnTo>
                  <a:pt x="1223776" y="0"/>
                </a:lnTo>
                <a:lnTo>
                  <a:pt x="1223776" y="1223775"/>
                </a:lnTo>
                <a:lnTo>
                  <a:pt x="0" y="12237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22" id="22"/>
          <p:cNvSpPr/>
          <p:nvPr/>
        </p:nvSpPr>
        <p:spPr>
          <a:xfrm flipH="false" flipV="false" rot="0">
            <a:off x="16586439" y="2088821"/>
            <a:ext cx="1223775" cy="1163402"/>
          </a:xfrm>
          <a:custGeom>
            <a:avLst/>
            <a:gdLst/>
            <a:ahLst/>
            <a:cxnLst/>
            <a:rect r="r" b="b" t="t" l="l"/>
            <a:pathLst>
              <a:path h="1163402" w="1223775">
                <a:moveTo>
                  <a:pt x="0" y="0"/>
                </a:moveTo>
                <a:lnTo>
                  <a:pt x="1223776" y="0"/>
                </a:lnTo>
                <a:lnTo>
                  <a:pt x="1223776" y="1163402"/>
                </a:lnTo>
                <a:lnTo>
                  <a:pt x="0" y="116340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3" id="23"/>
          <p:cNvSpPr/>
          <p:nvPr/>
        </p:nvSpPr>
        <p:spPr>
          <a:xfrm flipH="true" flipV="false" rot="0">
            <a:off x="15438827" y="484819"/>
            <a:ext cx="890018" cy="1223775"/>
          </a:xfrm>
          <a:custGeom>
            <a:avLst/>
            <a:gdLst/>
            <a:ahLst/>
            <a:cxnLst/>
            <a:rect r="r" b="b" t="t" l="l"/>
            <a:pathLst>
              <a:path h="1223775" w="890018">
                <a:moveTo>
                  <a:pt x="890018" y="0"/>
                </a:moveTo>
                <a:lnTo>
                  <a:pt x="0" y="0"/>
                </a:lnTo>
                <a:lnTo>
                  <a:pt x="0" y="1223775"/>
                </a:lnTo>
                <a:lnTo>
                  <a:pt x="890018" y="1223775"/>
                </a:lnTo>
                <a:lnTo>
                  <a:pt x="890018"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24" id="24"/>
          <p:cNvSpPr/>
          <p:nvPr/>
        </p:nvSpPr>
        <p:spPr>
          <a:xfrm flipH="true" flipV="false" rot="0">
            <a:off x="15438827" y="2028448"/>
            <a:ext cx="890018" cy="1223775"/>
          </a:xfrm>
          <a:custGeom>
            <a:avLst/>
            <a:gdLst/>
            <a:ahLst/>
            <a:cxnLst/>
            <a:rect r="r" b="b" t="t" l="l"/>
            <a:pathLst>
              <a:path h="1223775" w="890018">
                <a:moveTo>
                  <a:pt x="890018" y="0"/>
                </a:moveTo>
                <a:lnTo>
                  <a:pt x="0" y="0"/>
                </a:lnTo>
                <a:lnTo>
                  <a:pt x="0" y="1223775"/>
                </a:lnTo>
                <a:lnTo>
                  <a:pt x="890018" y="1223775"/>
                </a:lnTo>
                <a:lnTo>
                  <a:pt x="890018"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25" id="25"/>
          <p:cNvSpPr/>
          <p:nvPr/>
        </p:nvSpPr>
        <p:spPr>
          <a:xfrm flipH="false" flipV="false" rot="0">
            <a:off x="15301304" y="3631451"/>
            <a:ext cx="1223775" cy="1136581"/>
          </a:xfrm>
          <a:custGeom>
            <a:avLst/>
            <a:gdLst/>
            <a:ahLst/>
            <a:cxnLst/>
            <a:rect r="r" b="b" t="t" l="l"/>
            <a:pathLst>
              <a:path h="1136581" w="1223775">
                <a:moveTo>
                  <a:pt x="0" y="0"/>
                </a:moveTo>
                <a:lnTo>
                  <a:pt x="1223775" y="0"/>
                </a:lnTo>
                <a:lnTo>
                  <a:pt x="1223775" y="1136581"/>
                </a:lnTo>
                <a:lnTo>
                  <a:pt x="0" y="113658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6" id="26"/>
          <p:cNvSpPr/>
          <p:nvPr/>
        </p:nvSpPr>
        <p:spPr>
          <a:xfrm flipH="false" flipV="false" rot="0">
            <a:off x="16586439" y="484819"/>
            <a:ext cx="1223775" cy="1203750"/>
          </a:xfrm>
          <a:custGeom>
            <a:avLst/>
            <a:gdLst/>
            <a:ahLst/>
            <a:cxnLst/>
            <a:rect r="r" b="b" t="t" l="l"/>
            <a:pathLst>
              <a:path h="1203750" w="1223775">
                <a:moveTo>
                  <a:pt x="0" y="0"/>
                </a:moveTo>
                <a:lnTo>
                  <a:pt x="1223776" y="0"/>
                </a:lnTo>
                <a:lnTo>
                  <a:pt x="1223776" y="1203749"/>
                </a:lnTo>
                <a:lnTo>
                  <a:pt x="0" y="120374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27" id="27"/>
          <p:cNvSpPr/>
          <p:nvPr/>
        </p:nvSpPr>
        <p:spPr>
          <a:xfrm flipH="false" flipV="false" rot="0">
            <a:off x="14073092" y="3837571"/>
            <a:ext cx="1174824" cy="930461"/>
          </a:xfrm>
          <a:custGeom>
            <a:avLst/>
            <a:gdLst/>
            <a:ahLst/>
            <a:cxnLst/>
            <a:rect r="r" b="b" t="t" l="l"/>
            <a:pathLst>
              <a:path h="930461" w="1174824">
                <a:moveTo>
                  <a:pt x="0" y="0"/>
                </a:moveTo>
                <a:lnTo>
                  <a:pt x="1174824" y="0"/>
                </a:lnTo>
                <a:lnTo>
                  <a:pt x="1174824" y="930461"/>
                </a:lnTo>
                <a:lnTo>
                  <a:pt x="0" y="930461"/>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Tree>
  </p:cSld>
  <p:clrMapOvr>
    <a:masterClrMapping/>
  </p:clrMapOvr>
  <p:transition spd="fast">
    <p:fade/>
  </p:transition>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38ABD1"/>
        </a:solidFill>
      </p:bgPr>
    </p:bg>
    <p:spTree>
      <p:nvGrpSpPr>
        <p:cNvPr id="1" name=""/>
        <p:cNvGrpSpPr/>
        <p:nvPr/>
      </p:nvGrpSpPr>
      <p:grpSpPr>
        <a:xfrm>
          <a:off x="0" y="0"/>
          <a:ext cx="0" cy="0"/>
          <a:chOff x="0" y="0"/>
          <a:chExt cx="0" cy="0"/>
        </a:xfrm>
      </p:grpSpPr>
      <p:grpSp>
        <p:nvGrpSpPr>
          <p:cNvPr name="Group 2" id="2"/>
          <p:cNvGrpSpPr/>
          <p:nvPr/>
        </p:nvGrpSpPr>
        <p:grpSpPr>
          <a:xfrm rot="0">
            <a:off x="-273661" y="0"/>
            <a:ext cx="4202757" cy="1207098"/>
            <a:chOff x="0" y="0"/>
            <a:chExt cx="1106899" cy="317919"/>
          </a:xfrm>
        </p:grpSpPr>
        <p:sp>
          <p:nvSpPr>
            <p:cNvPr name="Freeform 3" id="3"/>
            <p:cNvSpPr/>
            <p:nvPr/>
          </p:nvSpPr>
          <p:spPr>
            <a:xfrm flipH="false" flipV="false" rot="0">
              <a:off x="0" y="0"/>
              <a:ext cx="1106899" cy="317919"/>
            </a:xfrm>
            <a:custGeom>
              <a:avLst/>
              <a:gdLst/>
              <a:ahLst/>
              <a:cxnLst/>
              <a:rect r="r" b="b" t="t" l="l"/>
              <a:pathLst>
                <a:path h="317919" w="1106899">
                  <a:moveTo>
                    <a:pt x="93947" y="0"/>
                  </a:moveTo>
                  <a:lnTo>
                    <a:pt x="1012952" y="0"/>
                  </a:lnTo>
                  <a:cubicBezTo>
                    <a:pt x="1064837" y="0"/>
                    <a:pt x="1106899" y="42062"/>
                    <a:pt x="1106899" y="93947"/>
                  </a:cubicBezTo>
                  <a:lnTo>
                    <a:pt x="1106899" y="223971"/>
                  </a:lnTo>
                  <a:cubicBezTo>
                    <a:pt x="1106899" y="275857"/>
                    <a:pt x="1064837" y="317919"/>
                    <a:pt x="1012952" y="317919"/>
                  </a:cubicBezTo>
                  <a:lnTo>
                    <a:pt x="93947" y="317919"/>
                  </a:lnTo>
                  <a:cubicBezTo>
                    <a:pt x="69031" y="317919"/>
                    <a:pt x="45135" y="308021"/>
                    <a:pt x="27517" y="290402"/>
                  </a:cubicBezTo>
                  <a:cubicBezTo>
                    <a:pt x="9898" y="272784"/>
                    <a:pt x="0" y="248888"/>
                    <a:pt x="0" y="223971"/>
                  </a:cubicBezTo>
                  <a:lnTo>
                    <a:pt x="0" y="93947"/>
                  </a:lnTo>
                  <a:cubicBezTo>
                    <a:pt x="0" y="42062"/>
                    <a:pt x="42062" y="0"/>
                    <a:pt x="93947" y="0"/>
                  </a:cubicBezTo>
                  <a:close/>
                </a:path>
              </a:pathLst>
            </a:custGeom>
            <a:solidFill>
              <a:srgbClr val="EFB59C"/>
            </a:solidFill>
            <a:ln cap="rnd">
              <a:noFill/>
              <a:prstDash val="solid"/>
              <a:round/>
            </a:ln>
          </p:spPr>
        </p:sp>
        <p:sp>
          <p:nvSpPr>
            <p:cNvPr name="TextBox 4" id="4"/>
            <p:cNvSpPr txBox="true"/>
            <p:nvPr/>
          </p:nvSpPr>
          <p:spPr>
            <a:xfrm>
              <a:off x="0" y="38100"/>
              <a:ext cx="1106899" cy="279819"/>
            </a:xfrm>
            <a:prstGeom prst="rect">
              <a:avLst/>
            </a:prstGeom>
          </p:spPr>
          <p:txBody>
            <a:bodyPr anchor="ctr" rtlCol="false" tIns="50800" lIns="50800" bIns="50800" rIns="50800"/>
            <a:lstStyle/>
            <a:p>
              <a:pPr algn="ctr" marL="0" indent="0" lvl="0">
                <a:lnSpc>
                  <a:spcPts val="4399"/>
                </a:lnSpc>
              </a:pPr>
              <a:r>
                <a:rPr lang="en-US" b="true" sz="3999" spc="79">
                  <a:solidFill>
                    <a:srgbClr val="000001"/>
                  </a:solidFill>
                  <a:latin typeface="Klein Heavy"/>
                  <a:ea typeface="Klein Heavy"/>
                  <a:cs typeface="Klein Heavy"/>
                  <a:sym typeface="Klein Heavy"/>
                </a:rPr>
                <a:t>LAMPIRAN</a:t>
              </a:r>
            </a:p>
          </p:txBody>
        </p:sp>
      </p:grpSp>
      <p:sp>
        <p:nvSpPr>
          <p:cNvPr name="Freeform 5" id="5"/>
          <p:cNvSpPr/>
          <p:nvPr/>
        </p:nvSpPr>
        <p:spPr>
          <a:xfrm flipH="false" flipV="false" rot="0">
            <a:off x="1028700" y="1884086"/>
            <a:ext cx="10439209" cy="7133512"/>
          </a:xfrm>
          <a:custGeom>
            <a:avLst/>
            <a:gdLst/>
            <a:ahLst/>
            <a:cxnLst/>
            <a:rect r="r" b="b" t="t" l="l"/>
            <a:pathLst>
              <a:path h="7133512" w="10439209">
                <a:moveTo>
                  <a:pt x="0" y="0"/>
                </a:moveTo>
                <a:lnTo>
                  <a:pt x="10439209" y="0"/>
                </a:lnTo>
                <a:lnTo>
                  <a:pt x="10439209" y="7133512"/>
                </a:lnTo>
                <a:lnTo>
                  <a:pt x="0" y="7133512"/>
                </a:lnTo>
                <a:lnTo>
                  <a:pt x="0" y="0"/>
                </a:lnTo>
                <a:close/>
              </a:path>
            </a:pathLst>
          </a:custGeom>
          <a:blipFill>
            <a:blip r:embed="rId2"/>
            <a:stretch>
              <a:fillRect l="0" t="-1767" r="0" b="-1767"/>
            </a:stretch>
          </a:blipFill>
        </p:spPr>
      </p:sp>
      <p:sp>
        <p:nvSpPr>
          <p:cNvPr name="TextBox 6" id="6"/>
          <p:cNvSpPr txBox="true"/>
          <p:nvPr/>
        </p:nvSpPr>
        <p:spPr>
          <a:xfrm rot="0">
            <a:off x="11814083" y="4224880"/>
            <a:ext cx="6473917" cy="2309050"/>
          </a:xfrm>
          <a:prstGeom prst="rect">
            <a:avLst/>
          </a:prstGeom>
        </p:spPr>
        <p:txBody>
          <a:bodyPr anchor="t" rtlCol="false" tIns="0" lIns="0" bIns="0" rIns="0">
            <a:spAutoFit/>
          </a:bodyPr>
          <a:lstStyle/>
          <a:p>
            <a:pPr algn="just">
              <a:lnSpc>
                <a:spcPts val="3715"/>
              </a:lnSpc>
            </a:pPr>
            <a:r>
              <a:rPr lang="en-US" b="true" sz="1997" spc="167">
                <a:solidFill>
                  <a:srgbClr val="000000"/>
                </a:solidFill>
                <a:latin typeface="Klein Bold"/>
                <a:ea typeface="Klein Bold"/>
                <a:cs typeface="Klein Bold"/>
                <a:sym typeface="Klein Bold"/>
              </a:rPr>
              <a:t>Link GitHub:</a:t>
            </a:r>
          </a:p>
          <a:p>
            <a:pPr algn="just">
              <a:lnSpc>
                <a:spcPts val="3715"/>
              </a:lnSpc>
            </a:pPr>
          </a:p>
          <a:p>
            <a:pPr algn="just">
              <a:lnSpc>
                <a:spcPts val="3715"/>
              </a:lnSpc>
            </a:pPr>
            <a:r>
              <a:rPr lang="en-US" sz="1997" spc="167" u="sng">
                <a:solidFill>
                  <a:srgbClr val="000000"/>
                </a:solidFill>
                <a:latin typeface="Klein"/>
                <a:ea typeface="Klein"/>
                <a:cs typeface="Klein"/>
                <a:sym typeface="Klein"/>
                <a:hlinkClick r:id="rId3" tooltip="https://github.com/meikhasa/Spatial-Analysis-of-Flood-Incidents-in-Jakarta-2024-/tree/main"/>
              </a:rPr>
              <a:t>https://github.com/meikhasa/Spatial-Analysis-of-Flood-Incidents-in-Jakarta-2024-/tree/main</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DAG7q6A-g-Y</dc:identifier>
  <dcterms:modified xsi:type="dcterms:W3CDTF">2011-08-01T06:04:30Z</dcterms:modified>
  <cp:revision>1</cp:revision>
  <dc:title>Spatial Analysis of Flood Incidents in Jakarta 2024</dc:title>
</cp:coreProperties>
</file>